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dc49a5c-2915-9e96-879b-c405f6ec3a8c}">
          <p14:sldIdLst>
            <p14:sldId id="256"/>
            <p14:sldId id="257"/>
          </p14:sldIdLst>
        </p14:section>
        <p14:section name="Parts" id="{50a4afaa-4163-dca8-b383-bbd33d943dd1}">
          <p14:sldIdLst>
            <p14:sldId id="258"/>
          </p14:sldIdLst>
        </p14:section>
        <p14:section name="Assembly steps" id="{60834e9b-f540-17e2-cc4b-93ad6c135386}">
          <p14:sldIdLst>
            <p14:sldId id="259"/>
            <p14:sldId id="260"/>
            <p14:sldId id="261"/>
            <p14:sldId id="262"/>
            <p14:sldId id="263"/>
            <p14:sldId id="264"/>
            <p14:sldId id="265"/>
            <p14:sldId id="266"/>
            <p14:sldId id="267"/>
          </p14:sldIdLst>
        </p14:section>
        <p14:section name="Re-assembly" id="{d8029e4a-5c23-66cb-9106-d2d241ab316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building a desktop PC from parts, and taking it apart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Install the CPU. Place motherboard on its box, not on bare surfaces. Lift the socket retention lever. Match the gold triangle on CPU to the socket mark. Lower CPU flat, close the lever; never press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Mount the CPU Cooler. Apply a pea-sized dot of paste on the CPU (skip if pre-applied). Align cooler with the mounting holes. Tighten screws in a diagonal (X) pattern. Plug the fan cable into CPU_FAN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Insert the RAM. Open the clips at both ends of the slot. Match the notch on RAM to the slot key. Use slots A2 and B2 for two sticks (see manual). Press firmly on both ends until the clips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Install the M.2 SSD. Remove the M.2 heatsink cover if present. Insert SSD at a 30 degree angle into the slot. Press down flat and fix with the small screw. Refit the heatsink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Fit the Power Supply. Place the PSU with its fan facing the vent. Align the four screw holes with the rear panel. Secure with four screws. Route the 24-pin, CPU and PCIe cables through the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Mount Motherboard in Case. Fit the I/O shield into the rear cutout. Check the standoffs match the board holes. Lower the board and align the rear ports. Fasten all screws, finger tight then snug.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Install the Graphics Card. Remove the matching rear slot covers. Open the PCIe slot latch. Press the card in until the latch clicks. Screw the bracket and plug in PCIe power 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Connect Storage &amp; Cables. Mount SATA drives in bays; connect SATA data and power. Plug in 24-pin ATX and 8-pin CPU power. Connect front USB, audio and fan cables. Tidy cables behind the tray with 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Front Panel &amp; First Boot. Connect Power SW, Reset SW and LED pins per manual. Close the side panels, connect monitor to the GPU port. Switch on PSU, press power button. Enter BIOS, check parts, then install the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chemeClr val="tx1"/>
          </a:solidFill>
          <a:ln/>
        </p:spPr>
      </p:sp>
      <p:sp>
        <p:nvSpPr>
          <p:cNvPr id="3" name="Shape 1"/>
          <p:cNvSpPr/>
          <p:nvPr/>
        </p:nvSpPr>
        <p:spPr>
          <a:xfrm>
            <a:off x="0" y="868680"/>
            <a:ext cx="9144000" cy="54864"/>
          </a:xfrm>
          <a:prstGeom prst="rect">
            <a:avLst/>
          </a:prstGeom>
          <a:solidFill>
            <a:schemeClr val="accent1"/>
          </a:solidFill>
          <a:ln/>
        </p:spPr>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yph"/>
          <p:cNvSpPr/>
          <p:nvPr/>
        </p:nvSpPr>
        <p:spPr>
          <a:xfrm>
            <a:off x="6309360" y="1005840"/>
            <a:ext cx="548640" cy="548640"/>
          </a:xfrm>
          <a:prstGeom prst="rect">
            <a:avLst/>
          </a:prstGeom>
          <a:solidFill>
            <a:schemeClr val="tx2"/>
          </a:solidFill>
          <a:ln w="9525">
            <a:solidFill>
              <a:schemeClr val="tx2"/>
            </a:solidFill>
            <a:prstDash val="solid"/>
          </a:ln>
        </p:spPr>
      </p:sp>
      <p:sp>
        <p:nvSpPr>
          <p:cNvPr id="3" name="glyph"/>
          <p:cNvSpPr/>
          <p:nvPr/>
        </p:nvSpPr>
        <p:spPr>
          <a:xfrm>
            <a:off x="6400800" y="1097280"/>
            <a:ext cx="365760" cy="365760"/>
          </a:xfrm>
          <a:prstGeom prst="rect">
            <a:avLst/>
          </a:prstGeom>
          <a:solidFill>
            <a:schemeClr val="accent2"/>
          </a:solidFill>
          <a:ln w="9525">
            <a:solidFill>
              <a:schemeClr val="accent2"/>
            </a:solidFill>
            <a:prstDash val="solid"/>
          </a:ln>
        </p:spPr>
      </p:sp>
      <p:sp>
        <p:nvSpPr>
          <p:cNvPr id="4" name="glyph"/>
          <p:cNvSpPr/>
          <p:nvPr/>
        </p:nvSpPr>
        <p:spPr>
          <a:xfrm>
            <a:off x="7589520" y="1143000"/>
            <a:ext cx="914400" cy="274320"/>
          </a:xfrm>
          <a:prstGeom prst="rect">
            <a:avLst/>
          </a:prstGeom>
          <a:solidFill>
            <a:schemeClr val="accent1"/>
          </a:solidFill>
          <a:ln w="9525">
            <a:solidFill>
              <a:schemeClr val="accent1"/>
            </a:solidFill>
            <a:prstDash val="solid"/>
          </a:ln>
        </p:spPr>
      </p:sp>
      <p:sp>
        <p:nvSpPr>
          <p:cNvPr id="5" name="glyph"/>
          <p:cNvSpPr/>
          <p:nvPr/>
        </p:nvSpPr>
        <p:spPr>
          <a:xfrm>
            <a:off x="7680960" y="1188720"/>
            <a:ext cx="137160" cy="182880"/>
          </a:xfrm>
          <a:prstGeom prst="rect">
            <a:avLst/>
          </a:prstGeom>
          <a:solidFill>
            <a:schemeClr val="tx2"/>
          </a:solidFill>
          <a:ln w="9525">
            <a:solidFill>
              <a:schemeClr val="tx2"/>
            </a:solidFill>
            <a:prstDash val="solid"/>
          </a:ln>
        </p:spPr>
      </p:sp>
      <p:sp>
        <p:nvSpPr>
          <p:cNvPr id="6" name="glyph"/>
          <p:cNvSpPr/>
          <p:nvPr/>
        </p:nvSpPr>
        <p:spPr>
          <a:xfrm>
            <a:off x="7882128" y="1188720"/>
            <a:ext cx="137160" cy="182880"/>
          </a:xfrm>
          <a:prstGeom prst="rect">
            <a:avLst/>
          </a:prstGeom>
          <a:solidFill>
            <a:schemeClr val="tx2"/>
          </a:solidFill>
          <a:ln w="9525">
            <a:solidFill>
              <a:schemeClr val="tx2"/>
            </a:solidFill>
            <a:prstDash val="solid"/>
          </a:ln>
        </p:spPr>
      </p:sp>
      <p:sp>
        <p:nvSpPr>
          <p:cNvPr id="7" name="glyph"/>
          <p:cNvSpPr/>
          <p:nvPr/>
        </p:nvSpPr>
        <p:spPr>
          <a:xfrm>
            <a:off x="8083296" y="1188720"/>
            <a:ext cx="137160" cy="182880"/>
          </a:xfrm>
          <a:prstGeom prst="rect">
            <a:avLst/>
          </a:prstGeom>
          <a:solidFill>
            <a:schemeClr val="tx2"/>
          </a:solidFill>
          <a:ln w="9525">
            <a:solidFill>
              <a:schemeClr val="tx2"/>
            </a:solidFill>
            <a:prstDash val="solid"/>
          </a:ln>
        </p:spPr>
      </p:sp>
      <p:sp>
        <p:nvSpPr>
          <p:cNvPr id="8" name="glyph"/>
          <p:cNvSpPr/>
          <p:nvPr/>
        </p:nvSpPr>
        <p:spPr>
          <a:xfrm>
            <a:off x="8284464" y="1188720"/>
            <a:ext cx="137160" cy="182880"/>
          </a:xfrm>
          <a:prstGeom prst="rect">
            <a:avLst/>
          </a:prstGeom>
          <a:solidFill>
            <a:schemeClr val="tx2"/>
          </a:solidFill>
          <a:ln w="9525">
            <a:solidFill>
              <a:schemeClr val="tx2"/>
            </a:solidFill>
            <a:prstDash val="solid"/>
          </a:ln>
        </p:spPr>
      </p:sp>
      <p:sp>
        <p:nvSpPr>
          <p:cNvPr id="9" name="glyph"/>
          <p:cNvSpPr/>
          <p:nvPr/>
        </p:nvSpPr>
        <p:spPr>
          <a:xfrm>
            <a:off x="6126480" y="2148840"/>
            <a:ext cx="914400" cy="457200"/>
          </a:xfrm>
          <a:prstGeom prst="rect">
            <a:avLst/>
          </a:prstGeom>
          <a:solidFill>
            <a:schemeClr val="tx2"/>
          </a:solidFill>
          <a:ln w="9525">
            <a:solidFill>
              <a:schemeClr val="tx2"/>
            </a:solidFill>
            <a:prstDash val="solid"/>
          </a:ln>
        </p:spPr>
      </p:sp>
      <p:sp>
        <p:nvSpPr>
          <p:cNvPr id="10" name="glyph"/>
          <p:cNvSpPr/>
          <p:nvPr/>
        </p:nvSpPr>
        <p:spPr>
          <a:xfrm>
            <a:off x="6217920" y="2212848"/>
            <a:ext cx="320040" cy="320040"/>
          </a:xfrm>
          <a:prstGeom prst="ellipse">
            <a:avLst/>
          </a:prstGeom>
          <a:solidFill>
            <a:schemeClr val="accent1"/>
          </a:solidFill>
          <a:ln w="9525">
            <a:solidFill>
              <a:schemeClr val="accent1"/>
            </a:solidFill>
            <a:prstDash val="solid"/>
          </a:ln>
        </p:spPr>
      </p:sp>
      <p:sp>
        <p:nvSpPr>
          <p:cNvPr id="11" name="glyph"/>
          <p:cNvSpPr/>
          <p:nvPr/>
        </p:nvSpPr>
        <p:spPr>
          <a:xfrm>
            <a:off x="6629400" y="2212848"/>
            <a:ext cx="320040" cy="320040"/>
          </a:xfrm>
          <a:prstGeom prst="ellipse">
            <a:avLst/>
          </a:prstGeom>
          <a:solidFill>
            <a:schemeClr val="accent1"/>
          </a:solidFill>
          <a:ln w="9525">
            <a:solidFill>
              <a:schemeClr val="accent1"/>
            </a:solidFill>
            <a:prstDash val="solid"/>
          </a:ln>
        </p:spPr>
      </p:sp>
      <p:sp>
        <p:nvSpPr>
          <p:cNvPr id="12" name="glyph"/>
          <p:cNvSpPr/>
          <p:nvPr/>
        </p:nvSpPr>
        <p:spPr>
          <a:xfrm>
            <a:off x="7680960" y="2148840"/>
            <a:ext cx="731520" cy="457200"/>
          </a:xfrm>
          <a:prstGeom prst="rect">
            <a:avLst/>
          </a:prstGeom>
          <a:solidFill>
            <a:schemeClr val="tx2"/>
          </a:solidFill>
          <a:ln w="9525">
            <a:solidFill>
              <a:schemeClr val="tx2"/>
            </a:solidFill>
            <a:prstDash val="solid"/>
          </a:ln>
        </p:spPr>
      </p:sp>
      <p:sp>
        <p:nvSpPr>
          <p:cNvPr id="13" name="glyph"/>
          <p:cNvSpPr/>
          <p:nvPr/>
        </p:nvSpPr>
        <p:spPr>
          <a:xfrm>
            <a:off x="7726680" y="2194560"/>
            <a:ext cx="274320" cy="365760"/>
          </a:xfrm>
          <a:prstGeom prst="rect">
            <a:avLst/>
          </a:prstGeom>
          <a:solidFill>
            <a:schemeClr val="accent2"/>
          </a:solidFill>
          <a:ln w="9525">
            <a:solidFill>
              <a:schemeClr val="accent2"/>
            </a:solidFill>
            <a:prstDash val="solid"/>
          </a:ln>
        </p:spPr>
      </p:sp>
      <p:sp>
        <p:nvSpPr>
          <p:cNvPr id="14" name="Text 12"/>
          <p:cNvSpPr txBox="1"/>
          <p:nvPr/>
        </p:nvSpPr>
        <p:spPr>
          <a:xfrm>
            <a:off x="457200" y="1188720"/>
            <a:ext cx="5486400" cy="1371600"/>
          </a:xfrm>
          <a:prstGeom prst="rect">
            <a:avLst/>
          </a:prstGeom>
          <a:noFill/>
          <a:ln/>
        </p:spPr>
        <p:txBody>
          <a:bodyPr wrap="square" lIns="0" tIns="0" rIns="0" bIns="0" rtlCol="0" anchor="t"/>
          <a:lstStyle/>
          <a:p>
            <a:pPr indent="0" marL="0">
              <a:buNone/>
            </a:pPr>
            <a:r>
              <a:rPr lang="en-US" sz="3000" b="1" dirty="0">
                <a:solidFill>
                  <a:schemeClr val="bg1"/>
                </a:solidFill>
              </a:rPr>
              <a:t>Assembling and Re-Assembling a PC</a:t>
            </a:r>
            <a:endParaRPr lang="en-US" sz="3000" dirty="0"/>
          </a:p>
        </p:txBody>
      </p:sp>
      <p:sp>
        <p:nvSpPr>
          <p:cNvPr id="15" name="Text 13"/>
          <p:cNvSpPr txBox="1"/>
          <p:nvPr/>
        </p:nvSpPr>
        <p:spPr>
          <a:xfrm>
            <a:off x="457200" y="2651760"/>
            <a:ext cx="5120640" cy="640080"/>
          </a:xfrm>
          <a:prstGeom prst="rect">
            <a:avLst/>
          </a:prstGeom>
          <a:noFill/>
          <a:ln/>
        </p:spPr>
        <p:txBody>
          <a:bodyPr wrap="square" lIns="0" tIns="0" rIns="0" bIns="0" rtlCol="0" anchor="ctr"/>
          <a:lstStyle/>
          <a:p>
            <a:pPr indent="0" marL="0">
              <a:buNone/>
            </a:pPr>
            <a:r>
              <a:rPr lang="en-US" sz="1600" dirty="0">
                <a:solidFill>
                  <a:schemeClr val="accent1"/>
                </a:solidFill>
              </a:rPr>
              <a:t>Parts, how they attach, and step-by-step procedure</a:t>
            </a:r>
            <a:endParaRPr lang="en-US" sz="1600" dirty="0"/>
          </a:p>
        </p:txBody>
      </p:sp>
      <p:sp>
        <p:nvSpPr>
          <p:cNvPr id="16" name="rule"/>
          <p:cNvSpPr/>
          <p:nvPr/>
        </p:nvSpPr>
        <p:spPr>
          <a:xfrm>
            <a:off x="457200" y="3474720"/>
            <a:ext cx="1097280" cy="54864"/>
          </a:xfrm>
          <a:prstGeom prst="rect">
            <a:avLst/>
          </a:prstGeom>
          <a:solidFill>
            <a:schemeClr val="accent2"/>
          </a:solidFill>
          <a:ln w="9525">
            <a:solidFill>
              <a:schemeClr val="accent2"/>
            </a:solidFill>
            <a:prstDash val="solid"/>
          </a:ln>
        </p:spPr>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Before You Start: Tools &amp; Safety</a:t>
            </a:r>
            <a:endParaRPr lang="en-US" sz="2600" dirty="0"/>
          </a:p>
        </p:txBody>
      </p:sp>
      <p:sp>
        <p:nvSpPr>
          <p:cNvPr id="3" name="card"/>
          <p:cNvSpPr/>
          <p:nvPr/>
        </p:nvSpPr>
        <p:spPr>
          <a:xfrm>
            <a:off x="457200" y="1234440"/>
            <a:ext cx="4023360" cy="3108960"/>
          </a:xfrm>
          <a:prstGeom prst="rect">
            <a:avLst/>
          </a:prstGeom>
          <a:solidFill>
            <a:schemeClr val="bg1"/>
          </a:solidFill>
          <a:ln w="9525">
            <a:solidFill>
              <a:schemeClr val="accent6"/>
            </a:solidFill>
            <a:prstDash val="solid"/>
          </a:ln>
        </p:spPr>
      </p:sp>
      <p:sp>
        <p:nvSpPr>
          <p:cNvPr id="4" name="glyph"/>
          <p:cNvSpPr/>
          <p:nvPr/>
        </p:nvSpPr>
        <p:spPr>
          <a:xfrm>
            <a:off x="1097280" y="1508760"/>
            <a:ext cx="182880" cy="548640"/>
          </a:xfrm>
          <a:prstGeom prst="rect">
            <a:avLst/>
          </a:prstGeom>
          <a:solidFill>
            <a:schemeClr val="accent6"/>
          </a:solidFill>
          <a:ln w="9525">
            <a:solidFill>
              <a:schemeClr val="accent6"/>
            </a:solidFill>
            <a:prstDash val="solid"/>
          </a:ln>
        </p:spPr>
      </p:sp>
      <p:sp>
        <p:nvSpPr>
          <p:cNvPr id="5" name="glyph"/>
          <p:cNvSpPr/>
          <p:nvPr/>
        </p:nvSpPr>
        <p:spPr>
          <a:xfrm>
            <a:off x="1005840" y="1508760"/>
            <a:ext cx="365760" cy="137160"/>
          </a:xfrm>
          <a:prstGeom prst="rect">
            <a:avLst/>
          </a:prstGeom>
          <a:solidFill>
            <a:schemeClr val="accent2"/>
          </a:solidFill>
          <a:ln w="9525">
            <a:solidFill>
              <a:schemeClr val="accent2"/>
            </a:solidFill>
            <a:prstDash val="solid"/>
          </a:ln>
        </p:spPr>
      </p:sp>
      <p:sp>
        <p:nvSpPr>
          <p:cNvPr id="6" name="Text 4"/>
          <p:cNvSpPr txBox="1"/>
          <p:nvPr/>
        </p:nvSpPr>
        <p:spPr>
          <a:xfrm>
            <a:off x="1828800" y="1463040"/>
            <a:ext cx="2377440" cy="640080"/>
          </a:xfrm>
          <a:prstGeom prst="rect">
            <a:avLst/>
          </a:prstGeom>
          <a:noFill/>
          <a:ln/>
        </p:spPr>
        <p:txBody>
          <a:bodyPr wrap="square" lIns="0" tIns="0" rIns="0" bIns="0" rtlCol="0" anchor="ctr"/>
          <a:lstStyle/>
          <a:p>
            <a:pPr indent="0" marL="0">
              <a:buNone/>
            </a:pPr>
            <a:r>
              <a:rPr lang="en-US" sz="2200" b="1" dirty="0">
                <a:solidFill>
                  <a:schemeClr val="tx1"/>
                </a:solidFill>
              </a:rPr>
              <a:t>Tools</a:t>
            </a:r>
            <a:endParaRPr lang="en-US" sz="2200" dirty="0"/>
          </a:p>
        </p:txBody>
      </p:sp>
      <p:sp>
        <p:nvSpPr>
          <p:cNvPr id="7" name="Text 5"/>
          <p:cNvSpPr txBox="1"/>
          <p:nvPr/>
        </p:nvSpPr>
        <p:spPr>
          <a:xfrm>
            <a:off x="731520" y="2331720"/>
            <a:ext cx="3566160" cy="1828800"/>
          </a:xfrm>
          <a:prstGeom prst="rect">
            <a:avLst/>
          </a:prstGeom>
          <a:noFill/>
          <a:ln/>
        </p:spPr>
        <p:txBody>
          <a:bodyPr wrap="square" rtlCol="0" anchor="t"/>
          <a:lstStyle/>
          <a:p>
            <a:pPr marL="342900" indent="-342900">
              <a:spcAft>
                <a:spcPts val="800"/>
              </a:spcAft>
              <a:buSzPct val="100000"/>
              <a:buChar char="•"/>
            </a:pPr>
            <a:r>
              <a:rPr lang="en-US" sz="1400" dirty="0">
                <a:solidFill>
                  <a:schemeClr val="tx2"/>
                </a:solidFill>
              </a:rPr>
              <a:t>Phillips #2 screwdriver (magnetic)</a:t>
            </a:r>
            <a:endParaRPr lang="en-US" sz="1400" dirty="0"/>
          </a:p>
          <a:p>
            <a:pPr marL="342900" indent="-342900">
              <a:spcAft>
                <a:spcPts val="800"/>
              </a:spcAft>
              <a:buSzPct val="100000"/>
              <a:buChar char="•"/>
            </a:pPr>
            <a:r>
              <a:rPr lang="en-US" sz="1400" dirty="0">
                <a:solidFill>
                  <a:schemeClr val="tx2"/>
                </a:solidFill>
              </a:rPr>
              <a:t>Anti-static wrist strap</a:t>
            </a:r>
            <a:endParaRPr lang="en-US" sz="1400" dirty="0"/>
          </a:p>
          <a:p>
            <a:pPr marL="342900" indent="-342900">
              <a:spcAft>
                <a:spcPts val="800"/>
              </a:spcAft>
              <a:buSzPct val="100000"/>
              <a:buChar char="•"/>
            </a:pPr>
            <a:r>
              <a:rPr lang="en-US" sz="1400" dirty="0">
                <a:solidFill>
                  <a:schemeClr val="tx2"/>
                </a:solidFill>
              </a:rPr>
              <a:t>Cable ties, small bowl for screws</a:t>
            </a:r>
            <a:endParaRPr lang="en-US" sz="1400" dirty="0"/>
          </a:p>
          <a:p>
            <a:pPr marL="342900" indent="-342900">
              <a:spcAft>
                <a:spcPts val="800"/>
              </a:spcAft>
              <a:buSzPct val="100000"/>
              <a:buChar char="•"/>
            </a:pPr>
            <a:r>
              <a:rPr lang="en-US" sz="1400" dirty="0">
                <a:solidFill>
                  <a:schemeClr val="tx2"/>
                </a:solidFill>
              </a:rPr>
              <a:t>Thermal paste (if cooler has none)</a:t>
            </a:r>
            <a:endParaRPr lang="en-US" sz="1400" dirty="0"/>
          </a:p>
        </p:txBody>
      </p:sp>
      <p:sp>
        <p:nvSpPr>
          <p:cNvPr id="8" name="card"/>
          <p:cNvSpPr/>
          <p:nvPr/>
        </p:nvSpPr>
        <p:spPr>
          <a:xfrm>
            <a:off x="4663440" y="1234440"/>
            <a:ext cx="4023360" cy="3108960"/>
          </a:xfrm>
          <a:prstGeom prst="rect">
            <a:avLst/>
          </a:prstGeom>
          <a:solidFill>
            <a:schemeClr val="bg1"/>
          </a:solidFill>
          <a:ln w="9525">
            <a:solidFill>
              <a:schemeClr val="accent6"/>
            </a:solidFill>
            <a:prstDash val="solid"/>
          </a:ln>
        </p:spPr>
      </p:sp>
      <p:sp>
        <p:nvSpPr>
          <p:cNvPr id="9" name="glyph"/>
          <p:cNvSpPr/>
          <p:nvPr/>
        </p:nvSpPr>
        <p:spPr>
          <a:xfrm>
            <a:off x="5029200" y="1508760"/>
            <a:ext cx="731520" cy="548640"/>
          </a:xfrm>
          <a:prstGeom prst="rect">
            <a:avLst/>
          </a:prstGeom>
          <a:solidFill>
            <a:schemeClr val="accent6"/>
          </a:solidFill>
          <a:ln w="9525">
            <a:solidFill>
              <a:schemeClr val="accent6"/>
            </a:solidFill>
            <a:prstDash val="solid"/>
          </a:ln>
        </p:spPr>
      </p:sp>
      <p:sp>
        <p:nvSpPr>
          <p:cNvPr id="10" name="glyph"/>
          <p:cNvSpPr/>
          <p:nvPr/>
        </p:nvSpPr>
        <p:spPr>
          <a:xfrm>
            <a:off x="5212080" y="1554480"/>
            <a:ext cx="457200" cy="457200"/>
          </a:xfrm>
          <a:prstGeom prst="ellipse">
            <a:avLst/>
          </a:prstGeom>
          <a:solidFill>
            <a:schemeClr val="tx2"/>
          </a:solidFill>
          <a:ln w="9525">
            <a:solidFill>
              <a:schemeClr val="tx2"/>
            </a:solidFill>
            <a:prstDash val="solid"/>
          </a:ln>
        </p:spPr>
      </p:sp>
      <p:sp>
        <p:nvSpPr>
          <p:cNvPr id="11" name="glyph"/>
          <p:cNvSpPr/>
          <p:nvPr/>
        </p:nvSpPr>
        <p:spPr>
          <a:xfrm>
            <a:off x="5349240" y="1691640"/>
            <a:ext cx="182880" cy="182880"/>
          </a:xfrm>
          <a:prstGeom prst="ellipse">
            <a:avLst/>
          </a:prstGeom>
          <a:solidFill>
            <a:schemeClr val="accent2"/>
          </a:solidFill>
          <a:ln w="9525">
            <a:solidFill>
              <a:schemeClr val="accent2"/>
            </a:solidFill>
            <a:prstDash val="solid"/>
          </a:ln>
        </p:spPr>
      </p:sp>
      <p:sp>
        <p:nvSpPr>
          <p:cNvPr id="12" name="Text 10"/>
          <p:cNvSpPr txBox="1"/>
          <p:nvPr/>
        </p:nvSpPr>
        <p:spPr>
          <a:xfrm>
            <a:off x="6035040" y="1463040"/>
            <a:ext cx="2377440" cy="640080"/>
          </a:xfrm>
          <a:prstGeom prst="rect">
            <a:avLst/>
          </a:prstGeom>
          <a:noFill/>
          <a:ln/>
        </p:spPr>
        <p:txBody>
          <a:bodyPr wrap="square" lIns="0" tIns="0" rIns="0" bIns="0" rtlCol="0" anchor="ctr"/>
          <a:lstStyle/>
          <a:p>
            <a:pPr indent="0" marL="0">
              <a:buNone/>
            </a:pPr>
            <a:r>
              <a:rPr lang="en-US" sz="2200" b="1" dirty="0">
                <a:solidFill>
                  <a:schemeClr val="tx1"/>
                </a:solidFill>
              </a:rPr>
              <a:t>Safety</a:t>
            </a:r>
            <a:endParaRPr lang="en-US" sz="2200" dirty="0"/>
          </a:p>
        </p:txBody>
      </p:sp>
      <p:sp>
        <p:nvSpPr>
          <p:cNvPr id="13" name="Text 11"/>
          <p:cNvSpPr txBox="1"/>
          <p:nvPr/>
        </p:nvSpPr>
        <p:spPr>
          <a:xfrm>
            <a:off x="4937760" y="2331720"/>
            <a:ext cx="3566160" cy="1828800"/>
          </a:xfrm>
          <a:prstGeom prst="rect">
            <a:avLst/>
          </a:prstGeom>
          <a:noFill/>
          <a:ln/>
        </p:spPr>
        <p:txBody>
          <a:bodyPr wrap="square" rtlCol="0" anchor="t"/>
          <a:lstStyle/>
          <a:p>
            <a:pPr marL="342900" indent="-342900">
              <a:spcAft>
                <a:spcPts val="800"/>
              </a:spcAft>
              <a:buSzPct val="100000"/>
              <a:buChar char="•"/>
            </a:pPr>
            <a:r>
              <a:rPr lang="en-US" sz="1400" dirty="0">
                <a:solidFill>
                  <a:schemeClr val="tx2"/>
                </a:solidFill>
              </a:rPr>
              <a:t>Unplug the PSU and switch it off</a:t>
            </a:r>
            <a:endParaRPr lang="en-US" sz="1400" dirty="0"/>
          </a:p>
          <a:p>
            <a:pPr marL="342900" indent="-342900">
              <a:spcAft>
                <a:spcPts val="800"/>
              </a:spcAft>
              <a:buSzPct val="100000"/>
              <a:buChar char="•"/>
            </a:pPr>
            <a:r>
              <a:rPr lang="en-US" sz="1400" dirty="0">
                <a:solidFill>
                  <a:schemeClr val="tx2"/>
                </a:solidFill>
              </a:rPr>
              <a:t>Work on a hard, non-carpet surface</a:t>
            </a:r>
            <a:endParaRPr lang="en-US" sz="1400" dirty="0"/>
          </a:p>
          <a:p>
            <a:pPr marL="342900" indent="-342900">
              <a:spcAft>
                <a:spcPts val="800"/>
              </a:spcAft>
              <a:buSzPct val="100000"/>
              <a:buChar char="•"/>
            </a:pPr>
            <a:r>
              <a:rPr lang="en-US" sz="1400" dirty="0">
                <a:solidFill>
                  <a:schemeClr val="tx2"/>
                </a:solidFill>
              </a:rPr>
              <a:t>Touch bare metal case to discharge static</a:t>
            </a:r>
            <a:endParaRPr lang="en-US" sz="1400" dirty="0"/>
          </a:p>
          <a:p>
            <a:pPr marL="342900" indent="-342900">
              <a:spcAft>
                <a:spcPts val="800"/>
              </a:spcAft>
              <a:buSzPct val="100000"/>
              <a:buChar char="•"/>
            </a:pPr>
            <a:r>
              <a:rPr lang="en-US" sz="1400" dirty="0">
                <a:solidFill>
                  <a:schemeClr val="tx2"/>
                </a:solidFill>
              </a:rPr>
              <a:t>Hold boards by the edges; never force parts</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The 8 Main Parts</a:t>
            </a:r>
            <a:endParaRPr lang="en-US" sz="2600" dirty="0"/>
          </a:p>
        </p:txBody>
      </p:sp>
      <p:sp>
        <p:nvSpPr>
          <p:cNvPr id="3" name="card"/>
          <p:cNvSpPr/>
          <p:nvPr/>
        </p:nvSpPr>
        <p:spPr>
          <a:xfrm>
            <a:off x="457200" y="1188720"/>
            <a:ext cx="1920240" cy="1508760"/>
          </a:xfrm>
          <a:prstGeom prst="rect">
            <a:avLst/>
          </a:prstGeom>
          <a:solidFill>
            <a:schemeClr val="bg1"/>
          </a:solidFill>
          <a:ln w="9525">
            <a:solidFill>
              <a:schemeClr val="accent6"/>
            </a:solidFill>
            <a:prstDash val="solid"/>
          </a:ln>
        </p:spPr>
      </p:sp>
      <p:sp>
        <p:nvSpPr>
          <p:cNvPr id="4" name="glyph"/>
          <p:cNvSpPr/>
          <p:nvPr/>
        </p:nvSpPr>
        <p:spPr>
          <a:xfrm>
            <a:off x="1188720" y="1325880"/>
            <a:ext cx="457200" cy="548640"/>
          </a:xfrm>
          <a:prstGeom prst="rect">
            <a:avLst/>
          </a:prstGeom>
          <a:solidFill>
            <a:schemeClr val="tx2"/>
          </a:solidFill>
          <a:ln w="9525">
            <a:solidFill>
              <a:schemeClr val="tx2"/>
            </a:solidFill>
            <a:prstDash val="solid"/>
          </a:ln>
        </p:spPr>
      </p:sp>
      <p:sp>
        <p:nvSpPr>
          <p:cNvPr id="5" name="glyph"/>
          <p:cNvSpPr/>
          <p:nvPr/>
        </p:nvSpPr>
        <p:spPr>
          <a:xfrm>
            <a:off x="1252728" y="1399032"/>
            <a:ext cx="329184" cy="274320"/>
          </a:xfrm>
          <a:prstGeom prst="rect">
            <a:avLst/>
          </a:prstGeom>
          <a:solidFill>
            <a:schemeClr val="accent1"/>
          </a:solidFill>
          <a:ln w="9525">
            <a:solidFill>
              <a:schemeClr val="accent1"/>
            </a:solidFill>
            <a:prstDash val="solid"/>
          </a:ln>
        </p:spPr>
      </p:sp>
      <p:sp>
        <p:nvSpPr>
          <p:cNvPr id="6" name="glyph"/>
          <p:cNvSpPr/>
          <p:nvPr/>
        </p:nvSpPr>
        <p:spPr>
          <a:xfrm>
            <a:off x="1380744" y="1737360"/>
            <a:ext cx="73152" cy="73152"/>
          </a:xfrm>
          <a:prstGeom prst="ellipse">
            <a:avLst/>
          </a:prstGeom>
          <a:solidFill>
            <a:schemeClr val="accent2"/>
          </a:solidFill>
          <a:ln w="9525">
            <a:solidFill>
              <a:schemeClr val="accent2"/>
            </a:solidFill>
            <a:prstDash val="solid"/>
          </a:ln>
        </p:spPr>
      </p:sp>
      <p:sp>
        <p:nvSpPr>
          <p:cNvPr id="7" name="Text 5"/>
          <p:cNvSpPr txBox="1"/>
          <p:nvPr/>
        </p:nvSpPr>
        <p:spPr>
          <a:xfrm>
            <a:off x="548640" y="1965960"/>
            <a:ext cx="1737360" cy="274320"/>
          </a:xfrm>
          <a:prstGeom prst="rect">
            <a:avLst/>
          </a:prstGeom>
          <a:noFill/>
          <a:ln/>
        </p:spPr>
        <p:txBody>
          <a:bodyPr wrap="square" lIns="0" tIns="0" rIns="0" bIns="0" rtlCol="0" anchor="ctr"/>
          <a:lstStyle/>
          <a:p>
            <a:pPr algn="ctr" indent="0" marL="0">
              <a:buNone/>
            </a:pPr>
            <a:r>
              <a:rPr lang="en-US" sz="1300" b="1" dirty="0">
                <a:solidFill>
                  <a:schemeClr val="accent1"/>
                </a:solidFill>
              </a:rPr>
              <a:t>Case</a:t>
            </a:r>
            <a:endParaRPr lang="en-US" sz="1300" dirty="0"/>
          </a:p>
        </p:txBody>
      </p:sp>
      <p:sp>
        <p:nvSpPr>
          <p:cNvPr id="8" name="Text 6"/>
          <p:cNvSpPr txBox="1"/>
          <p:nvPr/>
        </p:nvSpPr>
        <p:spPr>
          <a:xfrm>
            <a:off x="548640" y="2240280"/>
            <a:ext cx="1737360" cy="411480"/>
          </a:xfrm>
          <a:prstGeom prst="rect">
            <a:avLst/>
          </a:prstGeom>
          <a:noFill/>
          <a:ln/>
        </p:spPr>
        <p:txBody>
          <a:bodyPr wrap="square" lIns="0" tIns="0" rIns="0" bIns="0" rtlCol="0" anchor="t"/>
          <a:lstStyle/>
          <a:p>
            <a:pPr algn="ctr" indent="0" marL="0">
              <a:buNone/>
            </a:pPr>
            <a:r>
              <a:rPr lang="en-US" sz="1000" dirty="0">
                <a:solidFill>
                  <a:schemeClr val="tx2"/>
                </a:solidFill>
              </a:rPr>
              <a:t>Housing that holds and cools everything</a:t>
            </a:r>
            <a:endParaRPr lang="en-US" sz="1000" dirty="0"/>
          </a:p>
        </p:txBody>
      </p:sp>
      <p:sp>
        <p:nvSpPr>
          <p:cNvPr id="9" name="card"/>
          <p:cNvSpPr/>
          <p:nvPr/>
        </p:nvSpPr>
        <p:spPr>
          <a:xfrm>
            <a:off x="2560320" y="1188720"/>
            <a:ext cx="1920240" cy="1508760"/>
          </a:xfrm>
          <a:prstGeom prst="rect">
            <a:avLst/>
          </a:prstGeom>
          <a:solidFill>
            <a:schemeClr val="bg1"/>
          </a:solidFill>
          <a:ln w="9525">
            <a:solidFill>
              <a:schemeClr val="accent6"/>
            </a:solidFill>
            <a:prstDash val="solid"/>
          </a:ln>
        </p:spPr>
      </p:sp>
      <p:sp>
        <p:nvSpPr>
          <p:cNvPr id="10" name="glyph"/>
          <p:cNvSpPr/>
          <p:nvPr/>
        </p:nvSpPr>
        <p:spPr>
          <a:xfrm>
            <a:off x="3200400" y="1325880"/>
            <a:ext cx="640080" cy="548640"/>
          </a:xfrm>
          <a:prstGeom prst="rect">
            <a:avLst/>
          </a:prstGeom>
          <a:solidFill>
            <a:schemeClr val="accent1"/>
          </a:solidFill>
          <a:ln w="9525">
            <a:solidFill>
              <a:schemeClr val="accent1"/>
            </a:solidFill>
            <a:prstDash val="solid"/>
          </a:ln>
        </p:spPr>
      </p:sp>
      <p:sp>
        <p:nvSpPr>
          <p:cNvPr id="11" name="glyph"/>
          <p:cNvSpPr/>
          <p:nvPr/>
        </p:nvSpPr>
        <p:spPr>
          <a:xfrm>
            <a:off x="3291840" y="1399032"/>
            <a:ext cx="182880" cy="182880"/>
          </a:xfrm>
          <a:prstGeom prst="rect">
            <a:avLst/>
          </a:prstGeom>
          <a:solidFill>
            <a:schemeClr val="tx2"/>
          </a:solidFill>
          <a:ln w="9525">
            <a:solidFill>
              <a:schemeClr val="tx2"/>
            </a:solidFill>
            <a:prstDash val="solid"/>
          </a:ln>
        </p:spPr>
      </p:sp>
      <p:sp>
        <p:nvSpPr>
          <p:cNvPr id="12" name="glyph"/>
          <p:cNvSpPr/>
          <p:nvPr/>
        </p:nvSpPr>
        <p:spPr>
          <a:xfrm>
            <a:off x="3566160" y="1399032"/>
            <a:ext cx="54864" cy="365760"/>
          </a:xfrm>
          <a:prstGeom prst="rect">
            <a:avLst/>
          </a:prstGeom>
          <a:solidFill>
            <a:schemeClr val="accent2"/>
          </a:solidFill>
          <a:ln w="9525">
            <a:solidFill>
              <a:schemeClr val="accent2"/>
            </a:solidFill>
            <a:prstDash val="solid"/>
          </a:ln>
        </p:spPr>
      </p:sp>
      <p:sp>
        <p:nvSpPr>
          <p:cNvPr id="13" name="glyph"/>
          <p:cNvSpPr/>
          <p:nvPr/>
        </p:nvSpPr>
        <p:spPr>
          <a:xfrm>
            <a:off x="3685032" y="1399032"/>
            <a:ext cx="54864" cy="365760"/>
          </a:xfrm>
          <a:prstGeom prst="rect">
            <a:avLst/>
          </a:prstGeom>
          <a:solidFill>
            <a:schemeClr val="accent2"/>
          </a:solidFill>
          <a:ln w="9525">
            <a:solidFill>
              <a:schemeClr val="accent2"/>
            </a:solidFill>
            <a:prstDash val="solid"/>
          </a:ln>
        </p:spPr>
      </p:sp>
      <p:sp>
        <p:nvSpPr>
          <p:cNvPr id="14" name="glyph"/>
          <p:cNvSpPr/>
          <p:nvPr/>
        </p:nvSpPr>
        <p:spPr>
          <a:xfrm>
            <a:off x="3291840" y="1673352"/>
            <a:ext cx="274320" cy="91440"/>
          </a:xfrm>
          <a:prstGeom prst="rect">
            <a:avLst/>
          </a:prstGeom>
          <a:solidFill>
            <a:schemeClr val="tx2"/>
          </a:solidFill>
          <a:ln w="9525">
            <a:solidFill>
              <a:schemeClr val="tx2"/>
            </a:solidFill>
            <a:prstDash val="solid"/>
          </a:ln>
        </p:spPr>
      </p:sp>
      <p:sp>
        <p:nvSpPr>
          <p:cNvPr id="15" name="Text 13"/>
          <p:cNvSpPr txBox="1"/>
          <p:nvPr/>
        </p:nvSpPr>
        <p:spPr>
          <a:xfrm>
            <a:off x="2651760" y="1965960"/>
            <a:ext cx="1737360" cy="274320"/>
          </a:xfrm>
          <a:prstGeom prst="rect">
            <a:avLst/>
          </a:prstGeom>
          <a:noFill/>
          <a:ln/>
        </p:spPr>
        <p:txBody>
          <a:bodyPr wrap="square" lIns="0" tIns="0" rIns="0" bIns="0" rtlCol="0" anchor="ctr"/>
          <a:lstStyle/>
          <a:p>
            <a:pPr algn="ctr" indent="0" marL="0">
              <a:buNone/>
            </a:pPr>
            <a:r>
              <a:rPr lang="en-US" sz="1300" b="1" dirty="0">
                <a:solidFill>
                  <a:schemeClr val="accent1"/>
                </a:solidFill>
              </a:rPr>
              <a:t>Motherboard</a:t>
            </a:r>
            <a:endParaRPr lang="en-US" sz="1300" dirty="0"/>
          </a:p>
        </p:txBody>
      </p:sp>
      <p:sp>
        <p:nvSpPr>
          <p:cNvPr id="16" name="Text 14"/>
          <p:cNvSpPr txBox="1"/>
          <p:nvPr/>
        </p:nvSpPr>
        <p:spPr>
          <a:xfrm>
            <a:off x="2651760" y="2240280"/>
            <a:ext cx="1737360" cy="411480"/>
          </a:xfrm>
          <a:prstGeom prst="rect">
            <a:avLst/>
          </a:prstGeom>
          <a:noFill/>
          <a:ln/>
        </p:spPr>
        <p:txBody>
          <a:bodyPr wrap="square" lIns="0" tIns="0" rIns="0" bIns="0" rtlCol="0" anchor="t"/>
          <a:lstStyle/>
          <a:p>
            <a:pPr algn="ctr" indent="0" marL="0">
              <a:buNone/>
            </a:pPr>
            <a:r>
              <a:rPr lang="en-US" sz="1000" dirty="0">
                <a:solidFill>
                  <a:schemeClr val="tx2"/>
                </a:solidFill>
              </a:rPr>
              <a:t>Main board; connects all parts</a:t>
            </a:r>
            <a:endParaRPr lang="en-US" sz="1000" dirty="0"/>
          </a:p>
        </p:txBody>
      </p:sp>
      <p:sp>
        <p:nvSpPr>
          <p:cNvPr id="17" name="card"/>
          <p:cNvSpPr/>
          <p:nvPr/>
        </p:nvSpPr>
        <p:spPr>
          <a:xfrm>
            <a:off x="4663440" y="1188720"/>
            <a:ext cx="1920240" cy="1508760"/>
          </a:xfrm>
          <a:prstGeom prst="rect">
            <a:avLst/>
          </a:prstGeom>
          <a:solidFill>
            <a:schemeClr val="bg1"/>
          </a:solidFill>
          <a:ln w="9525">
            <a:solidFill>
              <a:schemeClr val="accent6"/>
            </a:solidFill>
            <a:prstDash val="solid"/>
          </a:ln>
        </p:spPr>
      </p:sp>
      <p:sp>
        <p:nvSpPr>
          <p:cNvPr id="18" name="glyph"/>
          <p:cNvSpPr/>
          <p:nvPr/>
        </p:nvSpPr>
        <p:spPr>
          <a:xfrm>
            <a:off x="5349240" y="1325880"/>
            <a:ext cx="548640" cy="548640"/>
          </a:xfrm>
          <a:prstGeom prst="rect">
            <a:avLst/>
          </a:prstGeom>
          <a:solidFill>
            <a:schemeClr val="tx2"/>
          </a:solidFill>
          <a:ln w="9525">
            <a:solidFill>
              <a:schemeClr val="tx2"/>
            </a:solidFill>
            <a:prstDash val="solid"/>
          </a:ln>
        </p:spPr>
      </p:sp>
      <p:sp>
        <p:nvSpPr>
          <p:cNvPr id="19" name="glyph"/>
          <p:cNvSpPr/>
          <p:nvPr/>
        </p:nvSpPr>
        <p:spPr>
          <a:xfrm>
            <a:off x="5440680" y="1417320"/>
            <a:ext cx="365760" cy="365760"/>
          </a:xfrm>
          <a:prstGeom prst="rect">
            <a:avLst/>
          </a:prstGeom>
          <a:solidFill>
            <a:schemeClr val="accent2"/>
          </a:solidFill>
          <a:ln w="9525">
            <a:solidFill>
              <a:schemeClr val="accent2"/>
            </a:solidFill>
            <a:prstDash val="solid"/>
          </a:ln>
        </p:spPr>
      </p:sp>
      <p:sp>
        <p:nvSpPr>
          <p:cNvPr id="20" name="Text 18"/>
          <p:cNvSpPr txBox="1"/>
          <p:nvPr/>
        </p:nvSpPr>
        <p:spPr>
          <a:xfrm>
            <a:off x="4754880" y="1965960"/>
            <a:ext cx="1737360" cy="274320"/>
          </a:xfrm>
          <a:prstGeom prst="rect">
            <a:avLst/>
          </a:prstGeom>
          <a:noFill/>
          <a:ln/>
        </p:spPr>
        <p:txBody>
          <a:bodyPr wrap="square" lIns="0" tIns="0" rIns="0" bIns="0" rtlCol="0" anchor="ctr"/>
          <a:lstStyle/>
          <a:p>
            <a:pPr algn="ctr" indent="0" marL="0">
              <a:buNone/>
            </a:pPr>
            <a:r>
              <a:rPr lang="en-US" sz="1300" b="1" dirty="0">
                <a:solidFill>
                  <a:schemeClr val="accent1"/>
                </a:solidFill>
              </a:rPr>
              <a:t>CPU</a:t>
            </a:r>
            <a:endParaRPr lang="en-US" sz="1300" dirty="0"/>
          </a:p>
        </p:txBody>
      </p:sp>
      <p:sp>
        <p:nvSpPr>
          <p:cNvPr id="21" name="Text 19"/>
          <p:cNvSpPr txBox="1"/>
          <p:nvPr/>
        </p:nvSpPr>
        <p:spPr>
          <a:xfrm>
            <a:off x="4754880" y="2240280"/>
            <a:ext cx="1737360" cy="411480"/>
          </a:xfrm>
          <a:prstGeom prst="rect">
            <a:avLst/>
          </a:prstGeom>
          <a:noFill/>
          <a:ln/>
        </p:spPr>
        <p:txBody>
          <a:bodyPr wrap="square" lIns="0" tIns="0" rIns="0" bIns="0" rtlCol="0" anchor="t"/>
          <a:lstStyle/>
          <a:p>
            <a:pPr algn="ctr" indent="0" marL="0">
              <a:buNone/>
            </a:pPr>
            <a:r>
              <a:rPr lang="en-US" sz="1000" dirty="0">
                <a:solidFill>
                  <a:schemeClr val="tx2"/>
                </a:solidFill>
              </a:rPr>
              <a:t>The processor, brain of the PC</a:t>
            </a:r>
            <a:endParaRPr lang="en-US" sz="1000" dirty="0"/>
          </a:p>
        </p:txBody>
      </p:sp>
      <p:sp>
        <p:nvSpPr>
          <p:cNvPr id="22" name="card"/>
          <p:cNvSpPr/>
          <p:nvPr/>
        </p:nvSpPr>
        <p:spPr>
          <a:xfrm>
            <a:off x="6766560" y="1188720"/>
            <a:ext cx="1920240" cy="1508760"/>
          </a:xfrm>
          <a:prstGeom prst="rect">
            <a:avLst/>
          </a:prstGeom>
          <a:solidFill>
            <a:schemeClr val="bg1"/>
          </a:solidFill>
          <a:ln w="9525">
            <a:solidFill>
              <a:schemeClr val="accent6"/>
            </a:solidFill>
            <a:prstDash val="solid"/>
          </a:ln>
        </p:spPr>
      </p:sp>
      <p:sp>
        <p:nvSpPr>
          <p:cNvPr id="23" name="glyph"/>
          <p:cNvSpPr/>
          <p:nvPr/>
        </p:nvSpPr>
        <p:spPr>
          <a:xfrm>
            <a:off x="7452360" y="1325880"/>
            <a:ext cx="548640" cy="548640"/>
          </a:xfrm>
          <a:prstGeom prst="rect">
            <a:avLst/>
          </a:prstGeom>
          <a:solidFill>
            <a:schemeClr val="accent6"/>
          </a:solidFill>
          <a:ln w="9525">
            <a:solidFill>
              <a:schemeClr val="accent6"/>
            </a:solidFill>
            <a:prstDash val="solid"/>
          </a:ln>
        </p:spPr>
      </p:sp>
      <p:sp>
        <p:nvSpPr>
          <p:cNvPr id="24" name="glyph"/>
          <p:cNvSpPr/>
          <p:nvPr/>
        </p:nvSpPr>
        <p:spPr>
          <a:xfrm>
            <a:off x="7525512" y="1399032"/>
            <a:ext cx="402336" cy="402336"/>
          </a:xfrm>
          <a:prstGeom prst="ellipse">
            <a:avLst/>
          </a:prstGeom>
          <a:solidFill>
            <a:schemeClr val="accent1"/>
          </a:solidFill>
          <a:ln w="9525">
            <a:solidFill>
              <a:schemeClr val="accent1"/>
            </a:solidFill>
            <a:prstDash val="solid"/>
          </a:ln>
        </p:spPr>
      </p:sp>
      <p:sp>
        <p:nvSpPr>
          <p:cNvPr id="25" name="glyph"/>
          <p:cNvSpPr/>
          <p:nvPr/>
        </p:nvSpPr>
        <p:spPr>
          <a:xfrm>
            <a:off x="7662672" y="1536192"/>
            <a:ext cx="128016" cy="128016"/>
          </a:xfrm>
          <a:prstGeom prst="ellipse">
            <a:avLst/>
          </a:prstGeom>
          <a:solidFill>
            <a:schemeClr val="tx2"/>
          </a:solidFill>
          <a:ln w="9525">
            <a:solidFill>
              <a:schemeClr val="tx2"/>
            </a:solidFill>
            <a:prstDash val="solid"/>
          </a:ln>
        </p:spPr>
      </p:sp>
      <p:sp>
        <p:nvSpPr>
          <p:cNvPr id="26" name="Text 24"/>
          <p:cNvSpPr txBox="1"/>
          <p:nvPr/>
        </p:nvSpPr>
        <p:spPr>
          <a:xfrm>
            <a:off x="6858000" y="1965960"/>
            <a:ext cx="1737360" cy="274320"/>
          </a:xfrm>
          <a:prstGeom prst="rect">
            <a:avLst/>
          </a:prstGeom>
          <a:noFill/>
          <a:ln/>
        </p:spPr>
        <p:txBody>
          <a:bodyPr wrap="square" lIns="0" tIns="0" rIns="0" bIns="0" rtlCol="0" anchor="ctr"/>
          <a:lstStyle/>
          <a:p>
            <a:pPr algn="ctr" indent="0" marL="0">
              <a:buNone/>
            </a:pPr>
            <a:r>
              <a:rPr lang="en-US" sz="1300" b="1" dirty="0">
                <a:solidFill>
                  <a:schemeClr val="accent1"/>
                </a:solidFill>
              </a:rPr>
              <a:t>CPU Cooler</a:t>
            </a:r>
            <a:endParaRPr lang="en-US" sz="1300" dirty="0"/>
          </a:p>
        </p:txBody>
      </p:sp>
      <p:sp>
        <p:nvSpPr>
          <p:cNvPr id="27" name="Text 25"/>
          <p:cNvSpPr txBox="1"/>
          <p:nvPr/>
        </p:nvSpPr>
        <p:spPr>
          <a:xfrm>
            <a:off x="6858000" y="2240280"/>
            <a:ext cx="1737360" cy="411480"/>
          </a:xfrm>
          <a:prstGeom prst="rect">
            <a:avLst/>
          </a:prstGeom>
          <a:noFill/>
          <a:ln/>
        </p:spPr>
        <p:txBody>
          <a:bodyPr wrap="square" lIns="0" tIns="0" rIns="0" bIns="0" rtlCol="0" anchor="t"/>
          <a:lstStyle/>
          <a:p>
            <a:pPr algn="ctr" indent="0" marL="0">
              <a:buNone/>
            </a:pPr>
            <a:r>
              <a:rPr lang="en-US" sz="1000" dirty="0">
                <a:solidFill>
                  <a:schemeClr val="tx2"/>
                </a:solidFill>
              </a:rPr>
              <a:t>Removes heat from the CPU</a:t>
            </a:r>
            <a:endParaRPr lang="en-US" sz="1000" dirty="0"/>
          </a:p>
        </p:txBody>
      </p:sp>
      <p:sp>
        <p:nvSpPr>
          <p:cNvPr id="28" name="card"/>
          <p:cNvSpPr/>
          <p:nvPr/>
        </p:nvSpPr>
        <p:spPr>
          <a:xfrm>
            <a:off x="457200" y="2880360"/>
            <a:ext cx="1920240" cy="1508760"/>
          </a:xfrm>
          <a:prstGeom prst="rect">
            <a:avLst/>
          </a:prstGeom>
          <a:solidFill>
            <a:schemeClr val="bg1"/>
          </a:solidFill>
          <a:ln w="9525">
            <a:solidFill>
              <a:schemeClr val="accent6"/>
            </a:solidFill>
            <a:prstDash val="solid"/>
          </a:ln>
        </p:spPr>
      </p:sp>
      <p:sp>
        <p:nvSpPr>
          <p:cNvPr id="29" name="glyph"/>
          <p:cNvSpPr/>
          <p:nvPr/>
        </p:nvSpPr>
        <p:spPr>
          <a:xfrm>
            <a:off x="960120" y="3154680"/>
            <a:ext cx="914400" cy="274320"/>
          </a:xfrm>
          <a:prstGeom prst="rect">
            <a:avLst/>
          </a:prstGeom>
          <a:solidFill>
            <a:schemeClr val="accent1"/>
          </a:solidFill>
          <a:ln w="9525">
            <a:solidFill>
              <a:schemeClr val="accent1"/>
            </a:solidFill>
            <a:prstDash val="solid"/>
          </a:ln>
        </p:spPr>
      </p:sp>
      <p:sp>
        <p:nvSpPr>
          <p:cNvPr id="30" name="glyph"/>
          <p:cNvSpPr/>
          <p:nvPr/>
        </p:nvSpPr>
        <p:spPr>
          <a:xfrm>
            <a:off x="1051560" y="3200400"/>
            <a:ext cx="137160" cy="182880"/>
          </a:xfrm>
          <a:prstGeom prst="rect">
            <a:avLst/>
          </a:prstGeom>
          <a:solidFill>
            <a:schemeClr val="tx2"/>
          </a:solidFill>
          <a:ln w="9525">
            <a:solidFill>
              <a:schemeClr val="tx2"/>
            </a:solidFill>
            <a:prstDash val="solid"/>
          </a:ln>
        </p:spPr>
      </p:sp>
      <p:sp>
        <p:nvSpPr>
          <p:cNvPr id="31" name="glyph"/>
          <p:cNvSpPr/>
          <p:nvPr/>
        </p:nvSpPr>
        <p:spPr>
          <a:xfrm>
            <a:off x="1252728" y="3200400"/>
            <a:ext cx="137160" cy="182880"/>
          </a:xfrm>
          <a:prstGeom prst="rect">
            <a:avLst/>
          </a:prstGeom>
          <a:solidFill>
            <a:schemeClr val="tx2"/>
          </a:solidFill>
          <a:ln w="9525">
            <a:solidFill>
              <a:schemeClr val="tx2"/>
            </a:solidFill>
            <a:prstDash val="solid"/>
          </a:ln>
        </p:spPr>
      </p:sp>
      <p:sp>
        <p:nvSpPr>
          <p:cNvPr id="32" name="glyph"/>
          <p:cNvSpPr/>
          <p:nvPr/>
        </p:nvSpPr>
        <p:spPr>
          <a:xfrm>
            <a:off x="1453896" y="3200400"/>
            <a:ext cx="137160" cy="182880"/>
          </a:xfrm>
          <a:prstGeom prst="rect">
            <a:avLst/>
          </a:prstGeom>
          <a:solidFill>
            <a:schemeClr val="tx2"/>
          </a:solidFill>
          <a:ln w="9525">
            <a:solidFill>
              <a:schemeClr val="tx2"/>
            </a:solidFill>
            <a:prstDash val="solid"/>
          </a:ln>
        </p:spPr>
      </p:sp>
      <p:sp>
        <p:nvSpPr>
          <p:cNvPr id="33" name="glyph"/>
          <p:cNvSpPr/>
          <p:nvPr/>
        </p:nvSpPr>
        <p:spPr>
          <a:xfrm>
            <a:off x="1655064" y="3200400"/>
            <a:ext cx="137160" cy="182880"/>
          </a:xfrm>
          <a:prstGeom prst="rect">
            <a:avLst/>
          </a:prstGeom>
          <a:solidFill>
            <a:schemeClr val="tx2"/>
          </a:solidFill>
          <a:ln w="9525">
            <a:solidFill>
              <a:schemeClr val="tx2"/>
            </a:solidFill>
            <a:prstDash val="solid"/>
          </a:ln>
        </p:spPr>
      </p:sp>
      <p:sp>
        <p:nvSpPr>
          <p:cNvPr id="34" name="Text 32"/>
          <p:cNvSpPr txBox="1"/>
          <p:nvPr/>
        </p:nvSpPr>
        <p:spPr>
          <a:xfrm>
            <a:off x="548640" y="3657600"/>
            <a:ext cx="1737360" cy="274320"/>
          </a:xfrm>
          <a:prstGeom prst="rect">
            <a:avLst/>
          </a:prstGeom>
          <a:noFill/>
          <a:ln/>
        </p:spPr>
        <p:txBody>
          <a:bodyPr wrap="square" lIns="0" tIns="0" rIns="0" bIns="0" rtlCol="0" anchor="ctr"/>
          <a:lstStyle/>
          <a:p>
            <a:pPr algn="ctr" indent="0" marL="0">
              <a:buNone/>
            </a:pPr>
            <a:r>
              <a:rPr lang="en-US" sz="1300" b="1" dirty="0">
                <a:solidFill>
                  <a:schemeClr val="accent1"/>
                </a:solidFill>
              </a:rPr>
              <a:t>RAM</a:t>
            </a:r>
            <a:endParaRPr lang="en-US" sz="1300" dirty="0"/>
          </a:p>
        </p:txBody>
      </p:sp>
      <p:sp>
        <p:nvSpPr>
          <p:cNvPr id="35" name="Text 33"/>
          <p:cNvSpPr txBox="1"/>
          <p:nvPr/>
        </p:nvSpPr>
        <p:spPr>
          <a:xfrm>
            <a:off x="548640" y="3931920"/>
            <a:ext cx="1737360" cy="411480"/>
          </a:xfrm>
          <a:prstGeom prst="rect">
            <a:avLst/>
          </a:prstGeom>
          <a:noFill/>
          <a:ln/>
        </p:spPr>
        <p:txBody>
          <a:bodyPr wrap="square" lIns="0" tIns="0" rIns="0" bIns="0" rtlCol="0" anchor="t"/>
          <a:lstStyle/>
          <a:p>
            <a:pPr algn="ctr" indent="0" marL="0">
              <a:buNone/>
            </a:pPr>
            <a:r>
              <a:rPr lang="en-US" sz="1000" dirty="0">
                <a:solidFill>
                  <a:schemeClr val="tx2"/>
                </a:solidFill>
              </a:rPr>
              <a:t>Short-term working memory</a:t>
            </a:r>
            <a:endParaRPr lang="en-US" sz="1000" dirty="0"/>
          </a:p>
        </p:txBody>
      </p:sp>
      <p:sp>
        <p:nvSpPr>
          <p:cNvPr id="36" name="card"/>
          <p:cNvSpPr/>
          <p:nvPr/>
        </p:nvSpPr>
        <p:spPr>
          <a:xfrm>
            <a:off x="2560320" y="2880360"/>
            <a:ext cx="1920240" cy="1508760"/>
          </a:xfrm>
          <a:prstGeom prst="rect">
            <a:avLst/>
          </a:prstGeom>
          <a:solidFill>
            <a:schemeClr val="bg1"/>
          </a:solidFill>
          <a:ln w="9525">
            <a:solidFill>
              <a:schemeClr val="accent6"/>
            </a:solidFill>
            <a:prstDash val="solid"/>
          </a:ln>
        </p:spPr>
      </p:sp>
      <p:sp>
        <p:nvSpPr>
          <p:cNvPr id="37" name="glyph"/>
          <p:cNvSpPr/>
          <p:nvPr/>
        </p:nvSpPr>
        <p:spPr>
          <a:xfrm>
            <a:off x="3154680" y="3063240"/>
            <a:ext cx="731520" cy="457200"/>
          </a:xfrm>
          <a:prstGeom prst="rect">
            <a:avLst/>
          </a:prstGeom>
          <a:solidFill>
            <a:schemeClr val="tx2"/>
          </a:solidFill>
          <a:ln w="9525">
            <a:solidFill>
              <a:schemeClr val="tx2"/>
            </a:solidFill>
            <a:prstDash val="solid"/>
          </a:ln>
        </p:spPr>
      </p:sp>
      <p:sp>
        <p:nvSpPr>
          <p:cNvPr id="38" name="glyph"/>
          <p:cNvSpPr/>
          <p:nvPr/>
        </p:nvSpPr>
        <p:spPr>
          <a:xfrm>
            <a:off x="3200400" y="3108960"/>
            <a:ext cx="274320" cy="365760"/>
          </a:xfrm>
          <a:prstGeom prst="rect">
            <a:avLst/>
          </a:prstGeom>
          <a:solidFill>
            <a:schemeClr val="accent2"/>
          </a:solidFill>
          <a:ln w="9525">
            <a:solidFill>
              <a:schemeClr val="accent2"/>
            </a:solidFill>
            <a:prstDash val="solid"/>
          </a:ln>
        </p:spPr>
      </p:sp>
      <p:sp>
        <p:nvSpPr>
          <p:cNvPr id="39" name="Text 37"/>
          <p:cNvSpPr txBox="1"/>
          <p:nvPr/>
        </p:nvSpPr>
        <p:spPr>
          <a:xfrm>
            <a:off x="2651760" y="3657600"/>
            <a:ext cx="1737360" cy="274320"/>
          </a:xfrm>
          <a:prstGeom prst="rect">
            <a:avLst/>
          </a:prstGeom>
          <a:noFill/>
          <a:ln/>
        </p:spPr>
        <p:txBody>
          <a:bodyPr wrap="square" lIns="0" tIns="0" rIns="0" bIns="0" rtlCol="0" anchor="ctr"/>
          <a:lstStyle/>
          <a:p>
            <a:pPr algn="ctr" indent="0" marL="0">
              <a:buNone/>
            </a:pPr>
            <a:r>
              <a:rPr lang="en-US" sz="1300" b="1" dirty="0">
                <a:solidFill>
                  <a:schemeClr val="accent1"/>
                </a:solidFill>
              </a:rPr>
              <a:t>SSD / HDD</a:t>
            </a:r>
            <a:endParaRPr lang="en-US" sz="1300" dirty="0"/>
          </a:p>
        </p:txBody>
      </p:sp>
      <p:sp>
        <p:nvSpPr>
          <p:cNvPr id="40" name="Text 38"/>
          <p:cNvSpPr txBox="1"/>
          <p:nvPr/>
        </p:nvSpPr>
        <p:spPr>
          <a:xfrm>
            <a:off x="2651760" y="3931920"/>
            <a:ext cx="1737360" cy="411480"/>
          </a:xfrm>
          <a:prstGeom prst="rect">
            <a:avLst/>
          </a:prstGeom>
          <a:noFill/>
          <a:ln/>
        </p:spPr>
        <p:txBody>
          <a:bodyPr wrap="square" lIns="0" tIns="0" rIns="0" bIns="0" rtlCol="0" anchor="t"/>
          <a:lstStyle/>
          <a:p>
            <a:pPr algn="ctr" indent="0" marL="0">
              <a:buNone/>
            </a:pPr>
            <a:r>
              <a:rPr lang="en-US" sz="1000" dirty="0">
                <a:solidFill>
                  <a:schemeClr val="tx2"/>
                </a:solidFill>
              </a:rPr>
              <a:t>Permanent storage for OS and files</a:t>
            </a:r>
            <a:endParaRPr lang="en-US" sz="1000" dirty="0"/>
          </a:p>
        </p:txBody>
      </p:sp>
      <p:sp>
        <p:nvSpPr>
          <p:cNvPr id="41" name="card"/>
          <p:cNvSpPr/>
          <p:nvPr/>
        </p:nvSpPr>
        <p:spPr>
          <a:xfrm>
            <a:off x="4663440" y="2880360"/>
            <a:ext cx="1920240" cy="1508760"/>
          </a:xfrm>
          <a:prstGeom prst="rect">
            <a:avLst/>
          </a:prstGeom>
          <a:solidFill>
            <a:schemeClr val="bg1"/>
          </a:solidFill>
          <a:ln w="9525">
            <a:solidFill>
              <a:schemeClr val="accent6"/>
            </a:solidFill>
            <a:prstDash val="solid"/>
          </a:ln>
        </p:spPr>
      </p:sp>
      <p:sp>
        <p:nvSpPr>
          <p:cNvPr id="42" name="glyph"/>
          <p:cNvSpPr/>
          <p:nvPr/>
        </p:nvSpPr>
        <p:spPr>
          <a:xfrm>
            <a:off x="5166360" y="3063240"/>
            <a:ext cx="914400" cy="457200"/>
          </a:xfrm>
          <a:prstGeom prst="rect">
            <a:avLst/>
          </a:prstGeom>
          <a:solidFill>
            <a:schemeClr val="tx2"/>
          </a:solidFill>
          <a:ln w="9525">
            <a:solidFill>
              <a:schemeClr val="tx2"/>
            </a:solidFill>
            <a:prstDash val="solid"/>
          </a:ln>
        </p:spPr>
      </p:sp>
      <p:sp>
        <p:nvSpPr>
          <p:cNvPr id="43" name="glyph"/>
          <p:cNvSpPr/>
          <p:nvPr/>
        </p:nvSpPr>
        <p:spPr>
          <a:xfrm>
            <a:off x="5257800" y="3127248"/>
            <a:ext cx="320040" cy="320040"/>
          </a:xfrm>
          <a:prstGeom prst="ellipse">
            <a:avLst/>
          </a:prstGeom>
          <a:solidFill>
            <a:schemeClr val="accent1"/>
          </a:solidFill>
          <a:ln w="9525">
            <a:solidFill>
              <a:schemeClr val="accent1"/>
            </a:solidFill>
            <a:prstDash val="solid"/>
          </a:ln>
        </p:spPr>
      </p:sp>
      <p:sp>
        <p:nvSpPr>
          <p:cNvPr id="44" name="glyph"/>
          <p:cNvSpPr/>
          <p:nvPr/>
        </p:nvSpPr>
        <p:spPr>
          <a:xfrm>
            <a:off x="5669280" y="3127248"/>
            <a:ext cx="320040" cy="320040"/>
          </a:xfrm>
          <a:prstGeom prst="ellipse">
            <a:avLst/>
          </a:prstGeom>
          <a:solidFill>
            <a:schemeClr val="accent1"/>
          </a:solidFill>
          <a:ln w="9525">
            <a:solidFill>
              <a:schemeClr val="accent1"/>
            </a:solidFill>
            <a:prstDash val="solid"/>
          </a:ln>
        </p:spPr>
      </p:sp>
      <p:sp>
        <p:nvSpPr>
          <p:cNvPr id="45" name="Text 43"/>
          <p:cNvSpPr txBox="1"/>
          <p:nvPr/>
        </p:nvSpPr>
        <p:spPr>
          <a:xfrm>
            <a:off x="4754880" y="3657600"/>
            <a:ext cx="1737360" cy="274320"/>
          </a:xfrm>
          <a:prstGeom prst="rect">
            <a:avLst/>
          </a:prstGeom>
          <a:noFill/>
          <a:ln/>
        </p:spPr>
        <p:txBody>
          <a:bodyPr wrap="square" lIns="0" tIns="0" rIns="0" bIns="0" rtlCol="0" anchor="ctr"/>
          <a:lstStyle/>
          <a:p>
            <a:pPr algn="ctr" indent="0" marL="0">
              <a:buNone/>
            </a:pPr>
            <a:r>
              <a:rPr lang="en-US" sz="1300" b="1" dirty="0">
                <a:solidFill>
                  <a:schemeClr val="accent1"/>
                </a:solidFill>
              </a:rPr>
              <a:t>Graphics Card</a:t>
            </a:r>
            <a:endParaRPr lang="en-US" sz="1300" dirty="0"/>
          </a:p>
        </p:txBody>
      </p:sp>
      <p:sp>
        <p:nvSpPr>
          <p:cNvPr id="46" name="Text 44"/>
          <p:cNvSpPr txBox="1"/>
          <p:nvPr/>
        </p:nvSpPr>
        <p:spPr>
          <a:xfrm>
            <a:off x="4754880" y="3931920"/>
            <a:ext cx="1737360" cy="411480"/>
          </a:xfrm>
          <a:prstGeom prst="rect">
            <a:avLst/>
          </a:prstGeom>
          <a:noFill/>
          <a:ln/>
        </p:spPr>
        <p:txBody>
          <a:bodyPr wrap="square" lIns="0" tIns="0" rIns="0" bIns="0" rtlCol="0" anchor="t"/>
          <a:lstStyle/>
          <a:p>
            <a:pPr algn="ctr" indent="0" marL="0">
              <a:buNone/>
            </a:pPr>
            <a:r>
              <a:rPr lang="en-US" sz="1000" dirty="0">
                <a:solidFill>
                  <a:schemeClr val="tx2"/>
                </a:solidFill>
              </a:rPr>
              <a:t>Renders video and games</a:t>
            </a:r>
            <a:endParaRPr lang="en-US" sz="1000" dirty="0"/>
          </a:p>
        </p:txBody>
      </p:sp>
      <p:sp>
        <p:nvSpPr>
          <p:cNvPr id="47" name="card"/>
          <p:cNvSpPr/>
          <p:nvPr/>
        </p:nvSpPr>
        <p:spPr>
          <a:xfrm>
            <a:off x="6766560" y="2880360"/>
            <a:ext cx="1920240" cy="1508760"/>
          </a:xfrm>
          <a:prstGeom prst="rect">
            <a:avLst/>
          </a:prstGeom>
          <a:solidFill>
            <a:schemeClr val="bg1"/>
          </a:solidFill>
          <a:ln w="9525">
            <a:solidFill>
              <a:schemeClr val="accent6"/>
            </a:solidFill>
            <a:prstDash val="solid"/>
          </a:ln>
        </p:spPr>
      </p:sp>
      <p:sp>
        <p:nvSpPr>
          <p:cNvPr id="48" name="glyph"/>
          <p:cNvSpPr/>
          <p:nvPr/>
        </p:nvSpPr>
        <p:spPr>
          <a:xfrm>
            <a:off x="7360920" y="3017520"/>
            <a:ext cx="731520" cy="548640"/>
          </a:xfrm>
          <a:prstGeom prst="rect">
            <a:avLst/>
          </a:prstGeom>
          <a:solidFill>
            <a:schemeClr val="accent6"/>
          </a:solidFill>
          <a:ln w="9525">
            <a:solidFill>
              <a:schemeClr val="accent6"/>
            </a:solidFill>
            <a:prstDash val="solid"/>
          </a:ln>
        </p:spPr>
      </p:sp>
      <p:sp>
        <p:nvSpPr>
          <p:cNvPr id="49" name="glyph"/>
          <p:cNvSpPr/>
          <p:nvPr/>
        </p:nvSpPr>
        <p:spPr>
          <a:xfrm>
            <a:off x="7543800" y="3063240"/>
            <a:ext cx="457200" cy="457200"/>
          </a:xfrm>
          <a:prstGeom prst="ellipse">
            <a:avLst/>
          </a:prstGeom>
          <a:solidFill>
            <a:schemeClr val="tx2"/>
          </a:solidFill>
          <a:ln w="9525">
            <a:solidFill>
              <a:schemeClr val="tx2"/>
            </a:solidFill>
            <a:prstDash val="solid"/>
          </a:ln>
        </p:spPr>
      </p:sp>
      <p:sp>
        <p:nvSpPr>
          <p:cNvPr id="50" name="glyph"/>
          <p:cNvSpPr/>
          <p:nvPr/>
        </p:nvSpPr>
        <p:spPr>
          <a:xfrm>
            <a:off x="7680960" y="3200400"/>
            <a:ext cx="182880" cy="182880"/>
          </a:xfrm>
          <a:prstGeom prst="ellipse">
            <a:avLst/>
          </a:prstGeom>
          <a:solidFill>
            <a:schemeClr val="accent2"/>
          </a:solidFill>
          <a:ln w="9525">
            <a:solidFill>
              <a:schemeClr val="accent2"/>
            </a:solidFill>
            <a:prstDash val="solid"/>
          </a:ln>
        </p:spPr>
      </p:sp>
      <p:sp>
        <p:nvSpPr>
          <p:cNvPr id="51" name="Text 49"/>
          <p:cNvSpPr txBox="1"/>
          <p:nvPr/>
        </p:nvSpPr>
        <p:spPr>
          <a:xfrm>
            <a:off x="6858000" y="3657600"/>
            <a:ext cx="1737360" cy="274320"/>
          </a:xfrm>
          <a:prstGeom prst="rect">
            <a:avLst/>
          </a:prstGeom>
          <a:noFill/>
          <a:ln/>
        </p:spPr>
        <p:txBody>
          <a:bodyPr wrap="square" lIns="0" tIns="0" rIns="0" bIns="0" rtlCol="0" anchor="ctr"/>
          <a:lstStyle/>
          <a:p>
            <a:pPr algn="ctr" indent="0" marL="0">
              <a:buNone/>
            </a:pPr>
            <a:r>
              <a:rPr lang="en-US" sz="1300" b="1" dirty="0">
                <a:solidFill>
                  <a:schemeClr val="accent1"/>
                </a:solidFill>
              </a:rPr>
              <a:t>Power Supply</a:t>
            </a:r>
            <a:endParaRPr lang="en-US" sz="1300" dirty="0"/>
          </a:p>
        </p:txBody>
      </p:sp>
      <p:sp>
        <p:nvSpPr>
          <p:cNvPr id="52" name="Text 50"/>
          <p:cNvSpPr txBox="1"/>
          <p:nvPr/>
        </p:nvSpPr>
        <p:spPr>
          <a:xfrm>
            <a:off x="6858000" y="3931920"/>
            <a:ext cx="1737360" cy="411480"/>
          </a:xfrm>
          <a:prstGeom prst="rect">
            <a:avLst/>
          </a:prstGeom>
          <a:noFill/>
          <a:ln/>
        </p:spPr>
        <p:txBody>
          <a:bodyPr wrap="square" lIns="0" tIns="0" rIns="0" bIns="0" rtlCol="0" anchor="t"/>
          <a:lstStyle/>
          <a:p>
            <a:pPr algn="ctr" indent="0" marL="0">
              <a:buNone/>
            </a:pPr>
            <a:r>
              <a:rPr lang="en-US" sz="1000" dirty="0">
                <a:solidFill>
                  <a:schemeClr val="tx2"/>
                </a:solidFill>
              </a:rPr>
              <a:t>Converts mains to PC voltages</a:t>
            </a:r>
            <a:endParaRPr lang="en-US" sz="10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1: Install the CPU</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554480" y="1417320"/>
            <a:ext cx="548640" cy="548640"/>
          </a:xfrm>
          <a:prstGeom prst="rect">
            <a:avLst/>
          </a:prstGeom>
          <a:solidFill>
            <a:schemeClr val="tx2"/>
          </a:solidFill>
          <a:ln w="9525">
            <a:solidFill>
              <a:schemeClr val="tx2"/>
            </a:solidFill>
            <a:prstDash val="solid"/>
          </a:ln>
        </p:spPr>
      </p:sp>
      <p:sp>
        <p:nvSpPr>
          <p:cNvPr id="5" name="glyph"/>
          <p:cNvSpPr/>
          <p:nvPr/>
        </p:nvSpPr>
        <p:spPr>
          <a:xfrm>
            <a:off x="1645920" y="1508760"/>
            <a:ext cx="365760" cy="365760"/>
          </a:xfrm>
          <a:prstGeom prst="rect">
            <a:avLst/>
          </a:prstGeom>
          <a:solidFill>
            <a:schemeClr val="accent2"/>
          </a:solidFill>
          <a:ln w="9525">
            <a:solidFill>
              <a:schemeClr val="accent2"/>
            </a:solidFill>
            <a:prstDash val="solid"/>
          </a:ln>
        </p:spPr>
      </p:sp>
      <p:sp>
        <p:nvSpPr>
          <p:cNvPr id="6" name="Text 4"/>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CPU</a:t>
            </a:r>
            <a:endParaRPr lang="en-US" sz="1700" dirty="0"/>
          </a:p>
        </p:txBody>
      </p:sp>
      <p:sp>
        <p:nvSpPr>
          <p:cNvPr id="7" name="Text 5"/>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CPU socket on motherboard</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None (hands only)</a:t>
            </a:r>
            <a:endParaRPr lang="en-US" sz="1100" dirty="0"/>
          </a:p>
        </p:txBody>
      </p:sp>
      <p:sp>
        <p:nvSpPr>
          <p:cNvPr id="8" name="Text 6"/>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Place motherboard on its box, not on bare surfaces</a:t>
            </a:r>
            <a:endParaRPr lang="en-US" sz="1300" dirty="0"/>
          </a:p>
          <a:p>
            <a:pPr marL="342900" indent="-342900">
              <a:spcAft>
                <a:spcPts val="600"/>
              </a:spcAft>
              <a:buSzPct val="100000"/>
              <a:buFont typeface="+mj-lt"/>
              <a:buAutoNum type="arabicPeriod" startAt="1"/>
            </a:pPr>
            <a:r>
              <a:rPr lang="en-US" sz="1300" dirty="0">
                <a:solidFill>
                  <a:schemeClr val="tx1"/>
                </a:solidFill>
              </a:rPr>
              <a:t>Lift the socket retention lever</a:t>
            </a:r>
            <a:endParaRPr lang="en-US" sz="1300" dirty="0"/>
          </a:p>
          <a:p>
            <a:pPr marL="342900" indent="-342900">
              <a:spcAft>
                <a:spcPts val="600"/>
              </a:spcAft>
              <a:buSzPct val="100000"/>
              <a:buFont typeface="+mj-lt"/>
              <a:buAutoNum type="arabicPeriod" startAt="1"/>
            </a:pPr>
            <a:r>
              <a:rPr lang="en-US" sz="1300" dirty="0">
                <a:solidFill>
                  <a:schemeClr val="tx1"/>
                </a:solidFill>
              </a:rPr>
              <a:t>Match the gold triangle on CPU to the socket mark</a:t>
            </a:r>
            <a:endParaRPr lang="en-US" sz="1300" dirty="0"/>
          </a:p>
          <a:p>
            <a:pPr marL="342900" indent="-342900">
              <a:spcAft>
                <a:spcPts val="600"/>
              </a:spcAft>
              <a:buSzPct val="100000"/>
              <a:buFont typeface="+mj-lt"/>
              <a:buAutoNum type="arabicPeriod" startAt="1"/>
            </a:pPr>
            <a:r>
              <a:rPr lang="en-US" sz="1300" dirty="0">
                <a:solidFill>
                  <a:schemeClr val="tx1"/>
                </a:solidFill>
              </a:rPr>
              <a:t>Lower CPU flat, close the lever; never press hard</a:t>
            </a:r>
            <a:endParaRPr lang="en-US" sz="1300" dirty="0"/>
          </a:p>
        </p:txBody>
      </p:sp>
      <p:sp>
        <p:nvSpPr>
          <p:cNvPr id="9"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0" name="Text 8"/>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Never touch the CPU pins or pads.</a:t>
            </a:r>
            <a:endParaRPr lang="en-US" sz="1200" dirty="0"/>
          </a:p>
        </p:txBody>
      </p:sp>
      <p:sp>
        <p:nvSpPr>
          <p:cNvPr id="11"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2" name="Text 10"/>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Lift lever, lift CPU straight up, store in its tray.</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2: Mount the CPU Cooler</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554480" y="1417320"/>
            <a:ext cx="548640" cy="548640"/>
          </a:xfrm>
          <a:prstGeom prst="rect">
            <a:avLst/>
          </a:prstGeom>
          <a:solidFill>
            <a:schemeClr val="accent6"/>
          </a:solidFill>
          <a:ln w="9525">
            <a:solidFill>
              <a:schemeClr val="accent6"/>
            </a:solidFill>
            <a:prstDash val="solid"/>
          </a:ln>
        </p:spPr>
      </p:sp>
      <p:sp>
        <p:nvSpPr>
          <p:cNvPr id="5" name="glyph"/>
          <p:cNvSpPr/>
          <p:nvPr/>
        </p:nvSpPr>
        <p:spPr>
          <a:xfrm>
            <a:off x="1627632" y="1490472"/>
            <a:ext cx="402336" cy="402336"/>
          </a:xfrm>
          <a:prstGeom prst="ellipse">
            <a:avLst/>
          </a:prstGeom>
          <a:solidFill>
            <a:schemeClr val="accent1"/>
          </a:solidFill>
          <a:ln w="9525">
            <a:solidFill>
              <a:schemeClr val="accent1"/>
            </a:solidFill>
            <a:prstDash val="solid"/>
          </a:ln>
        </p:spPr>
      </p:sp>
      <p:sp>
        <p:nvSpPr>
          <p:cNvPr id="6" name="glyph"/>
          <p:cNvSpPr/>
          <p:nvPr/>
        </p:nvSpPr>
        <p:spPr>
          <a:xfrm>
            <a:off x="1764792" y="1627632"/>
            <a:ext cx="128016" cy="128016"/>
          </a:xfrm>
          <a:prstGeom prst="ellipse">
            <a:avLst/>
          </a:prstGeom>
          <a:solidFill>
            <a:schemeClr val="tx2"/>
          </a:solidFill>
          <a:ln w="9525">
            <a:solidFill>
              <a:schemeClr val="tx2"/>
            </a:solidFill>
            <a:prstDash val="solid"/>
          </a:ln>
        </p:spPr>
      </p:sp>
      <p:sp>
        <p:nvSpPr>
          <p:cNvPr id="7" name="Text 5"/>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CPU Cooler</a:t>
            </a:r>
            <a:endParaRPr lang="en-US" sz="1700" dirty="0"/>
          </a:p>
        </p:txBody>
      </p:sp>
      <p:sp>
        <p:nvSpPr>
          <p:cNvPr id="8" name="Text 6"/>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On top of CPU, bolted to motherboard bracket</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Screwdriver, thermal paste</a:t>
            </a:r>
            <a:endParaRPr lang="en-US" sz="1100" dirty="0"/>
          </a:p>
        </p:txBody>
      </p:sp>
      <p:sp>
        <p:nvSpPr>
          <p:cNvPr id="9" name="Text 7"/>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Apply a pea-sized dot of paste on the CPU (skip if pre-applied)</a:t>
            </a:r>
            <a:endParaRPr lang="en-US" sz="1300" dirty="0"/>
          </a:p>
          <a:p>
            <a:pPr marL="342900" indent="-342900">
              <a:spcAft>
                <a:spcPts val="600"/>
              </a:spcAft>
              <a:buSzPct val="100000"/>
              <a:buFont typeface="+mj-lt"/>
              <a:buAutoNum type="arabicPeriod" startAt="1"/>
            </a:pPr>
            <a:r>
              <a:rPr lang="en-US" sz="1300" dirty="0">
                <a:solidFill>
                  <a:schemeClr val="tx1"/>
                </a:solidFill>
              </a:rPr>
              <a:t>Align cooler with the mounting holes</a:t>
            </a:r>
            <a:endParaRPr lang="en-US" sz="1300" dirty="0"/>
          </a:p>
          <a:p>
            <a:pPr marL="342900" indent="-342900">
              <a:spcAft>
                <a:spcPts val="600"/>
              </a:spcAft>
              <a:buSzPct val="100000"/>
              <a:buFont typeface="+mj-lt"/>
              <a:buAutoNum type="arabicPeriod" startAt="1"/>
            </a:pPr>
            <a:r>
              <a:rPr lang="en-US" sz="1300" dirty="0">
                <a:solidFill>
                  <a:schemeClr val="tx1"/>
                </a:solidFill>
              </a:rPr>
              <a:t>Tighten screws in a diagonal (X) pattern</a:t>
            </a:r>
            <a:endParaRPr lang="en-US" sz="1300" dirty="0"/>
          </a:p>
          <a:p>
            <a:pPr marL="342900" indent="-342900">
              <a:spcAft>
                <a:spcPts val="600"/>
              </a:spcAft>
              <a:buSzPct val="100000"/>
              <a:buFont typeface="+mj-lt"/>
              <a:buAutoNum type="arabicPeriod" startAt="1"/>
            </a:pPr>
            <a:r>
              <a:rPr lang="en-US" sz="1300" dirty="0">
                <a:solidFill>
                  <a:schemeClr val="tx1"/>
                </a:solidFill>
              </a:rPr>
              <a:t>Plug the fan cable into CPU_FAN header</a:t>
            </a:r>
            <a:endParaRPr lang="en-US" sz="1300" dirty="0"/>
          </a:p>
        </p:txBody>
      </p:sp>
      <p:sp>
        <p:nvSpPr>
          <p:cNvPr id="10"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1" name="Text 9"/>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Remove any plastic film on the cooler base.</a:t>
            </a:r>
            <a:endParaRPr lang="en-US" sz="1200" dirty="0"/>
          </a:p>
        </p:txBody>
      </p:sp>
      <p:sp>
        <p:nvSpPr>
          <p:cNvPr id="12"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3" name="Text 11"/>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Unplug fan, loosen screws diagonally, twist gently, wipe old paste.</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3: Insert the RAM</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371600" y="1554480"/>
            <a:ext cx="914400" cy="274320"/>
          </a:xfrm>
          <a:prstGeom prst="rect">
            <a:avLst/>
          </a:prstGeom>
          <a:solidFill>
            <a:schemeClr val="accent1"/>
          </a:solidFill>
          <a:ln w="9525">
            <a:solidFill>
              <a:schemeClr val="accent1"/>
            </a:solidFill>
            <a:prstDash val="solid"/>
          </a:ln>
        </p:spPr>
      </p:sp>
      <p:sp>
        <p:nvSpPr>
          <p:cNvPr id="5" name="glyph"/>
          <p:cNvSpPr/>
          <p:nvPr/>
        </p:nvSpPr>
        <p:spPr>
          <a:xfrm>
            <a:off x="1463040" y="1600200"/>
            <a:ext cx="137160" cy="182880"/>
          </a:xfrm>
          <a:prstGeom prst="rect">
            <a:avLst/>
          </a:prstGeom>
          <a:solidFill>
            <a:schemeClr val="tx2"/>
          </a:solidFill>
          <a:ln w="9525">
            <a:solidFill>
              <a:schemeClr val="tx2"/>
            </a:solidFill>
            <a:prstDash val="solid"/>
          </a:ln>
        </p:spPr>
      </p:sp>
      <p:sp>
        <p:nvSpPr>
          <p:cNvPr id="6" name="glyph"/>
          <p:cNvSpPr/>
          <p:nvPr/>
        </p:nvSpPr>
        <p:spPr>
          <a:xfrm>
            <a:off x="1664208" y="1600200"/>
            <a:ext cx="137160" cy="182880"/>
          </a:xfrm>
          <a:prstGeom prst="rect">
            <a:avLst/>
          </a:prstGeom>
          <a:solidFill>
            <a:schemeClr val="tx2"/>
          </a:solidFill>
          <a:ln w="9525">
            <a:solidFill>
              <a:schemeClr val="tx2"/>
            </a:solidFill>
            <a:prstDash val="solid"/>
          </a:ln>
        </p:spPr>
      </p:sp>
      <p:sp>
        <p:nvSpPr>
          <p:cNvPr id="7" name="glyph"/>
          <p:cNvSpPr/>
          <p:nvPr/>
        </p:nvSpPr>
        <p:spPr>
          <a:xfrm>
            <a:off x="1865376" y="1600200"/>
            <a:ext cx="137160" cy="182880"/>
          </a:xfrm>
          <a:prstGeom prst="rect">
            <a:avLst/>
          </a:prstGeom>
          <a:solidFill>
            <a:schemeClr val="tx2"/>
          </a:solidFill>
          <a:ln w="9525">
            <a:solidFill>
              <a:schemeClr val="tx2"/>
            </a:solidFill>
            <a:prstDash val="solid"/>
          </a:ln>
        </p:spPr>
      </p:sp>
      <p:sp>
        <p:nvSpPr>
          <p:cNvPr id="8" name="glyph"/>
          <p:cNvSpPr/>
          <p:nvPr/>
        </p:nvSpPr>
        <p:spPr>
          <a:xfrm>
            <a:off x="2066544" y="1600200"/>
            <a:ext cx="137160" cy="182880"/>
          </a:xfrm>
          <a:prstGeom prst="rect">
            <a:avLst/>
          </a:prstGeom>
          <a:solidFill>
            <a:schemeClr val="tx2"/>
          </a:solidFill>
          <a:ln w="9525">
            <a:solidFill>
              <a:schemeClr val="tx2"/>
            </a:solidFill>
            <a:prstDash val="solid"/>
          </a:ln>
        </p:spPr>
      </p:sp>
      <p:sp>
        <p:nvSpPr>
          <p:cNvPr id="9" name="Text 7"/>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RAM</a:t>
            </a:r>
            <a:endParaRPr lang="en-US" sz="1700" dirty="0"/>
          </a:p>
        </p:txBody>
      </p:sp>
      <p:sp>
        <p:nvSpPr>
          <p:cNvPr id="10" name="Text 8"/>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DIMM slots on motherboard</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None</a:t>
            </a:r>
            <a:endParaRPr lang="en-US" sz="1100" dirty="0"/>
          </a:p>
        </p:txBody>
      </p:sp>
      <p:sp>
        <p:nvSpPr>
          <p:cNvPr id="11" name="Text 9"/>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Open the clips at both ends of the slot</a:t>
            </a:r>
            <a:endParaRPr lang="en-US" sz="1300" dirty="0"/>
          </a:p>
          <a:p>
            <a:pPr marL="342900" indent="-342900">
              <a:spcAft>
                <a:spcPts val="600"/>
              </a:spcAft>
              <a:buSzPct val="100000"/>
              <a:buFont typeface="+mj-lt"/>
              <a:buAutoNum type="arabicPeriod" startAt="1"/>
            </a:pPr>
            <a:r>
              <a:rPr lang="en-US" sz="1300" dirty="0">
                <a:solidFill>
                  <a:schemeClr val="tx1"/>
                </a:solidFill>
              </a:rPr>
              <a:t>Match the notch on RAM to the slot key</a:t>
            </a:r>
            <a:endParaRPr lang="en-US" sz="1300" dirty="0"/>
          </a:p>
          <a:p>
            <a:pPr marL="342900" indent="-342900">
              <a:spcAft>
                <a:spcPts val="600"/>
              </a:spcAft>
              <a:buSzPct val="100000"/>
              <a:buFont typeface="+mj-lt"/>
              <a:buAutoNum type="arabicPeriod" startAt="1"/>
            </a:pPr>
            <a:r>
              <a:rPr lang="en-US" sz="1300" dirty="0">
                <a:solidFill>
                  <a:schemeClr val="tx1"/>
                </a:solidFill>
              </a:rPr>
              <a:t>Use slots A2 and B2 for two sticks (see manual)</a:t>
            </a:r>
            <a:endParaRPr lang="en-US" sz="1300" dirty="0"/>
          </a:p>
          <a:p>
            <a:pPr marL="342900" indent="-342900">
              <a:spcAft>
                <a:spcPts val="600"/>
              </a:spcAft>
              <a:buSzPct val="100000"/>
              <a:buFont typeface="+mj-lt"/>
              <a:buAutoNum type="arabicPeriod" startAt="1"/>
            </a:pPr>
            <a:r>
              <a:rPr lang="en-US" sz="1300" dirty="0">
                <a:solidFill>
                  <a:schemeClr val="tx1"/>
                </a:solidFill>
              </a:rPr>
              <a:t>Press firmly on both ends until the clips click</a:t>
            </a:r>
            <a:endParaRPr lang="en-US" sz="1300" dirty="0"/>
          </a:p>
        </p:txBody>
      </p:sp>
      <p:sp>
        <p:nvSpPr>
          <p:cNvPr id="12"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3" name="Text 11"/>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Dual channel gives better performance.</a:t>
            </a:r>
            <a:endParaRPr lang="en-US" sz="1200" dirty="0"/>
          </a:p>
        </p:txBody>
      </p:sp>
      <p:sp>
        <p:nvSpPr>
          <p:cNvPr id="14"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5" name="Text 13"/>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Push both clips outward and lift the stick straight out.</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4: Install the M.2 SSD</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463040" y="1463040"/>
            <a:ext cx="731520" cy="457200"/>
          </a:xfrm>
          <a:prstGeom prst="rect">
            <a:avLst/>
          </a:prstGeom>
          <a:solidFill>
            <a:schemeClr val="tx2"/>
          </a:solidFill>
          <a:ln w="9525">
            <a:solidFill>
              <a:schemeClr val="tx2"/>
            </a:solidFill>
            <a:prstDash val="solid"/>
          </a:ln>
        </p:spPr>
      </p:sp>
      <p:sp>
        <p:nvSpPr>
          <p:cNvPr id="5" name="glyph"/>
          <p:cNvSpPr/>
          <p:nvPr/>
        </p:nvSpPr>
        <p:spPr>
          <a:xfrm>
            <a:off x="1508760" y="1508760"/>
            <a:ext cx="274320" cy="365760"/>
          </a:xfrm>
          <a:prstGeom prst="rect">
            <a:avLst/>
          </a:prstGeom>
          <a:solidFill>
            <a:schemeClr val="accent2"/>
          </a:solidFill>
          <a:ln w="9525">
            <a:solidFill>
              <a:schemeClr val="accent2"/>
            </a:solidFill>
            <a:prstDash val="solid"/>
          </a:ln>
        </p:spPr>
      </p:sp>
      <p:sp>
        <p:nvSpPr>
          <p:cNvPr id="6" name="Text 4"/>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M.2 SSD</a:t>
            </a:r>
            <a:endParaRPr lang="en-US" sz="1700" dirty="0"/>
          </a:p>
        </p:txBody>
      </p:sp>
      <p:sp>
        <p:nvSpPr>
          <p:cNvPr id="7" name="Text 5"/>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M.2 slot on motherboard</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Small screwdriver</a:t>
            </a:r>
            <a:endParaRPr lang="en-US" sz="1100" dirty="0"/>
          </a:p>
        </p:txBody>
      </p:sp>
      <p:sp>
        <p:nvSpPr>
          <p:cNvPr id="8" name="Text 6"/>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Remove the M.2 heatsink cover if present</a:t>
            </a:r>
            <a:endParaRPr lang="en-US" sz="1300" dirty="0"/>
          </a:p>
          <a:p>
            <a:pPr marL="342900" indent="-342900">
              <a:spcAft>
                <a:spcPts val="600"/>
              </a:spcAft>
              <a:buSzPct val="100000"/>
              <a:buFont typeface="+mj-lt"/>
              <a:buAutoNum type="arabicPeriod" startAt="1"/>
            </a:pPr>
            <a:r>
              <a:rPr lang="en-US" sz="1300" dirty="0">
                <a:solidFill>
                  <a:schemeClr val="tx1"/>
                </a:solidFill>
              </a:rPr>
              <a:t>Insert SSD at a 30 degree angle into the slot</a:t>
            </a:r>
            <a:endParaRPr lang="en-US" sz="1300" dirty="0"/>
          </a:p>
          <a:p>
            <a:pPr marL="342900" indent="-342900">
              <a:spcAft>
                <a:spcPts val="600"/>
              </a:spcAft>
              <a:buSzPct val="100000"/>
              <a:buFont typeface="+mj-lt"/>
              <a:buAutoNum type="arabicPeriod" startAt="1"/>
            </a:pPr>
            <a:r>
              <a:rPr lang="en-US" sz="1300" dirty="0">
                <a:solidFill>
                  <a:schemeClr val="tx1"/>
                </a:solidFill>
              </a:rPr>
              <a:t>Press down flat and fix with the small screw</a:t>
            </a:r>
            <a:endParaRPr lang="en-US" sz="1300" dirty="0"/>
          </a:p>
          <a:p>
            <a:pPr marL="342900" indent="-342900">
              <a:spcAft>
                <a:spcPts val="600"/>
              </a:spcAft>
              <a:buSzPct val="100000"/>
              <a:buFont typeface="+mj-lt"/>
              <a:buAutoNum type="arabicPeriod" startAt="1"/>
            </a:pPr>
            <a:r>
              <a:rPr lang="en-US" sz="1300" dirty="0">
                <a:solidFill>
                  <a:schemeClr val="tx1"/>
                </a:solidFill>
              </a:rPr>
              <a:t>Refit the heatsink cover</a:t>
            </a:r>
            <a:endParaRPr lang="en-US" sz="1300" dirty="0"/>
          </a:p>
        </p:txBody>
      </p:sp>
      <p:sp>
        <p:nvSpPr>
          <p:cNvPr id="9"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0" name="Text 8"/>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Check the slot supports NVMe or SATA for your drive.</a:t>
            </a:r>
            <a:endParaRPr lang="en-US" sz="1200" dirty="0"/>
          </a:p>
        </p:txBody>
      </p:sp>
      <p:sp>
        <p:nvSpPr>
          <p:cNvPr id="11"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2" name="Text 10"/>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Remove the screw, the SSD pops up, pull it out.</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5: Fit the Power Supply</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463040" y="1417320"/>
            <a:ext cx="731520" cy="548640"/>
          </a:xfrm>
          <a:prstGeom prst="rect">
            <a:avLst/>
          </a:prstGeom>
          <a:solidFill>
            <a:schemeClr val="accent6"/>
          </a:solidFill>
          <a:ln w="9525">
            <a:solidFill>
              <a:schemeClr val="accent6"/>
            </a:solidFill>
            <a:prstDash val="solid"/>
          </a:ln>
        </p:spPr>
      </p:sp>
      <p:sp>
        <p:nvSpPr>
          <p:cNvPr id="5" name="glyph"/>
          <p:cNvSpPr/>
          <p:nvPr/>
        </p:nvSpPr>
        <p:spPr>
          <a:xfrm>
            <a:off x="1645920" y="1463040"/>
            <a:ext cx="457200" cy="457200"/>
          </a:xfrm>
          <a:prstGeom prst="ellipse">
            <a:avLst/>
          </a:prstGeom>
          <a:solidFill>
            <a:schemeClr val="tx2"/>
          </a:solidFill>
          <a:ln w="9525">
            <a:solidFill>
              <a:schemeClr val="tx2"/>
            </a:solidFill>
            <a:prstDash val="solid"/>
          </a:ln>
        </p:spPr>
      </p:sp>
      <p:sp>
        <p:nvSpPr>
          <p:cNvPr id="6" name="glyph"/>
          <p:cNvSpPr/>
          <p:nvPr/>
        </p:nvSpPr>
        <p:spPr>
          <a:xfrm>
            <a:off x="1783080" y="1600200"/>
            <a:ext cx="182880" cy="182880"/>
          </a:xfrm>
          <a:prstGeom prst="ellipse">
            <a:avLst/>
          </a:prstGeom>
          <a:solidFill>
            <a:schemeClr val="accent2"/>
          </a:solidFill>
          <a:ln w="9525">
            <a:solidFill>
              <a:schemeClr val="accent2"/>
            </a:solidFill>
            <a:prstDash val="solid"/>
          </a:ln>
        </p:spPr>
      </p:sp>
      <p:sp>
        <p:nvSpPr>
          <p:cNvPr id="7" name="Text 5"/>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Power Supply</a:t>
            </a:r>
            <a:endParaRPr lang="en-US" sz="1700" dirty="0"/>
          </a:p>
        </p:txBody>
      </p:sp>
      <p:sp>
        <p:nvSpPr>
          <p:cNvPr id="8" name="Text 6"/>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PSU bay at the rear of the case</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Screwdriver, 4 screws</a:t>
            </a:r>
            <a:endParaRPr lang="en-US" sz="1100" dirty="0"/>
          </a:p>
        </p:txBody>
      </p:sp>
      <p:sp>
        <p:nvSpPr>
          <p:cNvPr id="9" name="Text 7"/>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Place the PSU with its fan facing the vent</a:t>
            </a:r>
            <a:endParaRPr lang="en-US" sz="1300" dirty="0"/>
          </a:p>
          <a:p>
            <a:pPr marL="342900" indent="-342900">
              <a:spcAft>
                <a:spcPts val="600"/>
              </a:spcAft>
              <a:buSzPct val="100000"/>
              <a:buFont typeface="+mj-lt"/>
              <a:buAutoNum type="arabicPeriod" startAt="1"/>
            </a:pPr>
            <a:r>
              <a:rPr lang="en-US" sz="1300" dirty="0">
                <a:solidFill>
                  <a:schemeClr val="tx1"/>
                </a:solidFill>
              </a:rPr>
              <a:t>Align the four screw holes with the rear panel</a:t>
            </a:r>
            <a:endParaRPr lang="en-US" sz="1300" dirty="0"/>
          </a:p>
          <a:p>
            <a:pPr marL="342900" indent="-342900">
              <a:spcAft>
                <a:spcPts val="600"/>
              </a:spcAft>
              <a:buSzPct val="100000"/>
              <a:buFont typeface="+mj-lt"/>
              <a:buAutoNum type="arabicPeriod" startAt="1"/>
            </a:pPr>
            <a:r>
              <a:rPr lang="en-US" sz="1300" dirty="0">
                <a:solidFill>
                  <a:schemeClr val="tx1"/>
                </a:solidFill>
              </a:rPr>
              <a:t>Secure with four screws</a:t>
            </a:r>
            <a:endParaRPr lang="en-US" sz="1300" dirty="0"/>
          </a:p>
          <a:p>
            <a:pPr marL="342900" indent="-342900">
              <a:spcAft>
                <a:spcPts val="600"/>
              </a:spcAft>
              <a:buSzPct val="100000"/>
              <a:buFont typeface="+mj-lt"/>
              <a:buAutoNum type="arabicPeriod" startAt="1"/>
            </a:pPr>
            <a:r>
              <a:rPr lang="en-US" sz="1300" dirty="0">
                <a:solidFill>
                  <a:schemeClr val="tx1"/>
                </a:solidFill>
              </a:rPr>
              <a:t>Route the 24-pin, CPU and PCIe cables through the case</a:t>
            </a:r>
            <a:endParaRPr lang="en-US" sz="1300" dirty="0"/>
          </a:p>
        </p:txBody>
      </p:sp>
      <p:sp>
        <p:nvSpPr>
          <p:cNvPr id="10"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1" name="Text 9"/>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Leave the PSU switch OFF while building.</a:t>
            </a:r>
            <a:endParaRPr lang="en-US" sz="1200" dirty="0"/>
          </a:p>
        </p:txBody>
      </p:sp>
      <p:sp>
        <p:nvSpPr>
          <p:cNvPr id="12"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3" name="Text 11"/>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Unplug all cables, unscrew four screws, slide out.</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6: Mount Motherboard in Case</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508760" y="1417320"/>
            <a:ext cx="640080" cy="548640"/>
          </a:xfrm>
          <a:prstGeom prst="rect">
            <a:avLst/>
          </a:prstGeom>
          <a:solidFill>
            <a:schemeClr val="accent1"/>
          </a:solidFill>
          <a:ln w="9525">
            <a:solidFill>
              <a:schemeClr val="accent1"/>
            </a:solidFill>
            <a:prstDash val="solid"/>
          </a:ln>
        </p:spPr>
      </p:sp>
      <p:sp>
        <p:nvSpPr>
          <p:cNvPr id="5" name="glyph"/>
          <p:cNvSpPr/>
          <p:nvPr/>
        </p:nvSpPr>
        <p:spPr>
          <a:xfrm>
            <a:off x="1600200" y="1490472"/>
            <a:ext cx="182880" cy="182880"/>
          </a:xfrm>
          <a:prstGeom prst="rect">
            <a:avLst/>
          </a:prstGeom>
          <a:solidFill>
            <a:schemeClr val="tx2"/>
          </a:solidFill>
          <a:ln w="9525">
            <a:solidFill>
              <a:schemeClr val="tx2"/>
            </a:solidFill>
            <a:prstDash val="solid"/>
          </a:ln>
        </p:spPr>
      </p:sp>
      <p:sp>
        <p:nvSpPr>
          <p:cNvPr id="6" name="glyph"/>
          <p:cNvSpPr/>
          <p:nvPr/>
        </p:nvSpPr>
        <p:spPr>
          <a:xfrm>
            <a:off x="1874520" y="1490472"/>
            <a:ext cx="54864" cy="365760"/>
          </a:xfrm>
          <a:prstGeom prst="rect">
            <a:avLst/>
          </a:prstGeom>
          <a:solidFill>
            <a:schemeClr val="accent2"/>
          </a:solidFill>
          <a:ln w="9525">
            <a:solidFill>
              <a:schemeClr val="accent2"/>
            </a:solidFill>
            <a:prstDash val="solid"/>
          </a:ln>
        </p:spPr>
      </p:sp>
      <p:sp>
        <p:nvSpPr>
          <p:cNvPr id="7" name="glyph"/>
          <p:cNvSpPr/>
          <p:nvPr/>
        </p:nvSpPr>
        <p:spPr>
          <a:xfrm>
            <a:off x="1993392" y="1490472"/>
            <a:ext cx="54864" cy="365760"/>
          </a:xfrm>
          <a:prstGeom prst="rect">
            <a:avLst/>
          </a:prstGeom>
          <a:solidFill>
            <a:schemeClr val="accent2"/>
          </a:solidFill>
          <a:ln w="9525">
            <a:solidFill>
              <a:schemeClr val="accent2"/>
            </a:solidFill>
            <a:prstDash val="solid"/>
          </a:ln>
        </p:spPr>
      </p:sp>
      <p:sp>
        <p:nvSpPr>
          <p:cNvPr id="8" name="glyph"/>
          <p:cNvSpPr/>
          <p:nvPr/>
        </p:nvSpPr>
        <p:spPr>
          <a:xfrm>
            <a:off x="1600200" y="1764792"/>
            <a:ext cx="274320" cy="91440"/>
          </a:xfrm>
          <a:prstGeom prst="rect">
            <a:avLst/>
          </a:prstGeom>
          <a:solidFill>
            <a:schemeClr val="tx2"/>
          </a:solidFill>
          <a:ln w="9525">
            <a:solidFill>
              <a:schemeClr val="tx2"/>
            </a:solidFill>
            <a:prstDash val="solid"/>
          </a:ln>
        </p:spPr>
      </p:sp>
      <p:sp>
        <p:nvSpPr>
          <p:cNvPr id="9" name="Text 7"/>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Motherboard in Case</a:t>
            </a:r>
            <a:endParaRPr lang="en-US" sz="1700" dirty="0"/>
          </a:p>
        </p:txBody>
      </p:sp>
      <p:sp>
        <p:nvSpPr>
          <p:cNvPr id="10" name="Text 8"/>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Case standoffs and I/O shield</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Screwdriver, 9 screws</a:t>
            </a:r>
            <a:endParaRPr lang="en-US" sz="1100" dirty="0"/>
          </a:p>
        </p:txBody>
      </p:sp>
      <p:sp>
        <p:nvSpPr>
          <p:cNvPr id="11" name="Text 9"/>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Fit the I/O shield into the rear cutout</a:t>
            </a:r>
            <a:endParaRPr lang="en-US" sz="1300" dirty="0"/>
          </a:p>
          <a:p>
            <a:pPr marL="342900" indent="-342900">
              <a:spcAft>
                <a:spcPts val="600"/>
              </a:spcAft>
              <a:buSzPct val="100000"/>
              <a:buFont typeface="+mj-lt"/>
              <a:buAutoNum type="arabicPeriod" startAt="1"/>
            </a:pPr>
            <a:r>
              <a:rPr lang="en-US" sz="1300" dirty="0">
                <a:solidFill>
                  <a:schemeClr val="tx1"/>
                </a:solidFill>
              </a:rPr>
              <a:t>Check the standoffs match the board holes</a:t>
            </a:r>
            <a:endParaRPr lang="en-US" sz="1300" dirty="0"/>
          </a:p>
          <a:p>
            <a:pPr marL="342900" indent="-342900">
              <a:spcAft>
                <a:spcPts val="600"/>
              </a:spcAft>
              <a:buSzPct val="100000"/>
              <a:buFont typeface="+mj-lt"/>
              <a:buAutoNum type="arabicPeriod" startAt="1"/>
            </a:pPr>
            <a:r>
              <a:rPr lang="en-US" sz="1300" dirty="0">
                <a:solidFill>
                  <a:schemeClr val="tx1"/>
                </a:solidFill>
              </a:rPr>
              <a:t>Lower the board and align the rear ports</a:t>
            </a:r>
            <a:endParaRPr lang="en-US" sz="1300" dirty="0"/>
          </a:p>
          <a:p>
            <a:pPr marL="342900" indent="-342900">
              <a:spcAft>
                <a:spcPts val="600"/>
              </a:spcAft>
              <a:buSzPct val="100000"/>
              <a:buFont typeface="+mj-lt"/>
              <a:buAutoNum type="arabicPeriod" startAt="1"/>
            </a:pPr>
            <a:r>
              <a:rPr lang="en-US" sz="1300" dirty="0">
                <a:solidFill>
                  <a:schemeClr val="tx1"/>
                </a:solidFill>
              </a:rPr>
              <a:t>Fasten all screws, finger tight then snug</a:t>
            </a:r>
            <a:endParaRPr lang="en-US" sz="1300" dirty="0"/>
          </a:p>
        </p:txBody>
      </p:sp>
      <p:sp>
        <p:nvSpPr>
          <p:cNvPr id="12"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3" name="Text 11"/>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Do not over-tighten; it can crack the board.</a:t>
            </a:r>
            <a:endParaRPr lang="en-US" sz="1200" dirty="0"/>
          </a:p>
        </p:txBody>
      </p:sp>
      <p:sp>
        <p:nvSpPr>
          <p:cNvPr id="14"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5" name="Text 13"/>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Unplug all cables, remove screws, lift board out.</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7: Install the Graphics Card</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371600" y="1463040"/>
            <a:ext cx="914400" cy="457200"/>
          </a:xfrm>
          <a:prstGeom prst="rect">
            <a:avLst/>
          </a:prstGeom>
          <a:solidFill>
            <a:schemeClr val="tx2"/>
          </a:solidFill>
          <a:ln w="9525">
            <a:solidFill>
              <a:schemeClr val="tx2"/>
            </a:solidFill>
            <a:prstDash val="solid"/>
          </a:ln>
        </p:spPr>
      </p:sp>
      <p:sp>
        <p:nvSpPr>
          <p:cNvPr id="5" name="glyph"/>
          <p:cNvSpPr/>
          <p:nvPr/>
        </p:nvSpPr>
        <p:spPr>
          <a:xfrm>
            <a:off x="1463040" y="1527048"/>
            <a:ext cx="320040" cy="320040"/>
          </a:xfrm>
          <a:prstGeom prst="ellipse">
            <a:avLst/>
          </a:prstGeom>
          <a:solidFill>
            <a:schemeClr val="accent1"/>
          </a:solidFill>
          <a:ln w="9525">
            <a:solidFill>
              <a:schemeClr val="accent1"/>
            </a:solidFill>
            <a:prstDash val="solid"/>
          </a:ln>
        </p:spPr>
      </p:sp>
      <p:sp>
        <p:nvSpPr>
          <p:cNvPr id="6" name="glyph"/>
          <p:cNvSpPr/>
          <p:nvPr/>
        </p:nvSpPr>
        <p:spPr>
          <a:xfrm>
            <a:off x="1874520" y="1527048"/>
            <a:ext cx="320040" cy="320040"/>
          </a:xfrm>
          <a:prstGeom prst="ellipse">
            <a:avLst/>
          </a:prstGeom>
          <a:solidFill>
            <a:schemeClr val="accent1"/>
          </a:solidFill>
          <a:ln w="9525">
            <a:solidFill>
              <a:schemeClr val="accent1"/>
            </a:solidFill>
            <a:prstDash val="solid"/>
          </a:ln>
        </p:spPr>
      </p:sp>
      <p:sp>
        <p:nvSpPr>
          <p:cNvPr id="7" name="Text 5"/>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Graphics Card</a:t>
            </a:r>
            <a:endParaRPr lang="en-US" sz="1700" dirty="0"/>
          </a:p>
        </p:txBody>
      </p:sp>
      <p:sp>
        <p:nvSpPr>
          <p:cNvPr id="8" name="Text 6"/>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PCIe x16 slot, rear bracket slots</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Screwdriver</a:t>
            </a:r>
            <a:endParaRPr lang="en-US" sz="1100" dirty="0"/>
          </a:p>
        </p:txBody>
      </p:sp>
      <p:sp>
        <p:nvSpPr>
          <p:cNvPr id="9" name="Text 7"/>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Remove the matching rear slot covers</a:t>
            </a:r>
            <a:endParaRPr lang="en-US" sz="1300" dirty="0"/>
          </a:p>
          <a:p>
            <a:pPr marL="342900" indent="-342900">
              <a:spcAft>
                <a:spcPts val="600"/>
              </a:spcAft>
              <a:buSzPct val="100000"/>
              <a:buFont typeface="+mj-lt"/>
              <a:buAutoNum type="arabicPeriod" startAt="1"/>
            </a:pPr>
            <a:r>
              <a:rPr lang="en-US" sz="1300" dirty="0">
                <a:solidFill>
                  <a:schemeClr val="tx1"/>
                </a:solidFill>
              </a:rPr>
              <a:t>Open the PCIe slot latch</a:t>
            </a:r>
            <a:endParaRPr lang="en-US" sz="1300" dirty="0"/>
          </a:p>
          <a:p>
            <a:pPr marL="342900" indent="-342900">
              <a:spcAft>
                <a:spcPts val="600"/>
              </a:spcAft>
              <a:buSzPct val="100000"/>
              <a:buFont typeface="+mj-lt"/>
              <a:buAutoNum type="arabicPeriod" startAt="1"/>
            </a:pPr>
            <a:r>
              <a:rPr lang="en-US" sz="1300" dirty="0">
                <a:solidFill>
                  <a:schemeClr val="tx1"/>
                </a:solidFill>
              </a:rPr>
              <a:t>Press the card in until the latch clicks</a:t>
            </a:r>
            <a:endParaRPr lang="en-US" sz="1300" dirty="0"/>
          </a:p>
          <a:p>
            <a:pPr marL="342900" indent="-342900">
              <a:spcAft>
                <a:spcPts val="600"/>
              </a:spcAft>
              <a:buSzPct val="100000"/>
              <a:buFont typeface="+mj-lt"/>
              <a:buAutoNum type="arabicPeriod" startAt="1"/>
            </a:pPr>
            <a:r>
              <a:rPr lang="en-US" sz="1300" dirty="0">
                <a:solidFill>
                  <a:schemeClr val="tx1"/>
                </a:solidFill>
              </a:rPr>
              <a:t>Screw the bracket and plug in PCIe power cables</a:t>
            </a:r>
            <a:endParaRPr lang="en-US" sz="1300" dirty="0"/>
          </a:p>
        </p:txBody>
      </p:sp>
      <p:sp>
        <p:nvSpPr>
          <p:cNvPr id="10"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1" name="Text 9"/>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Use separate PCIe cables, not one daisy-chained.</a:t>
            </a:r>
            <a:endParaRPr lang="en-US" sz="1200" dirty="0"/>
          </a:p>
        </p:txBody>
      </p:sp>
      <p:sp>
        <p:nvSpPr>
          <p:cNvPr id="12"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3" name="Text 11"/>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Unplug power, unscrew, open latch, pull card out.</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8: Connect Storage &amp; Cables</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463040" y="1645920"/>
            <a:ext cx="731520" cy="91440"/>
          </a:xfrm>
          <a:prstGeom prst="rect">
            <a:avLst/>
          </a:prstGeom>
          <a:solidFill>
            <a:schemeClr val="accent2"/>
          </a:solidFill>
          <a:ln w="9525">
            <a:solidFill>
              <a:schemeClr val="accent2"/>
            </a:solidFill>
            <a:prstDash val="solid"/>
          </a:ln>
        </p:spPr>
      </p:sp>
      <p:sp>
        <p:nvSpPr>
          <p:cNvPr id="5" name="glyph"/>
          <p:cNvSpPr/>
          <p:nvPr/>
        </p:nvSpPr>
        <p:spPr>
          <a:xfrm>
            <a:off x="1463040" y="1600200"/>
            <a:ext cx="137160" cy="182880"/>
          </a:xfrm>
          <a:prstGeom prst="rect">
            <a:avLst/>
          </a:prstGeom>
          <a:solidFill>
            <a:schemeClr val="tx2"/>
          </a:solidFill>
          <a:ln w="9525">
            <a:solidFill>
              <a:schemeClr val="tx2"/>
            </a:solidFill>
            <a:prstDash val="solid"/>
          </a:ln>
        </p:spPr>
      </p:sp>
      <p:sp>
        <p:nvSpPr>
          <p:cNvPr id="6" name="glyph"/>
          <p:cNvSpPr/>
          <p:nvPr/>
        </p:nvSpPr>
        <p:spPr>
          <a:xfrm>
            <a:off x="2057400" y="1600200"/>
            <a:ext cx="137160" cy="182880"/>
          </a:xfrm>
          <a:prstGeom prst="rect">
            <a:avLst/>
          </a:prstGeom>
          <a:solidFill>
            <a:schemeClr val="tx2"/>
          </a:solidFill>
          <a:ln w="9525">
            <a:solidFill>
              <a:schemeClr val="tx2"/>
            </a:solidFill>
            <a:prstDash val="solid"/>
          </a:ln>
        </p:spPr>
      </p:sp>
      <p:sp>
        <p:nvSpPr>
          <p:cNvPr id="7" name="Text 5"/>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Storage &amp; Cables</a:t>
            </a:r>
            <a:endParaRPr lang="en-US" sz="1700" dirty="0"/>
          </a:p>
        </p:txBody>
      </p:sp>
      <p:sp>
        <p:nvSpPr>
          <p:cNvPr id="8" name="Text 6"/>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Drive bays, PSU, motherboard headers</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Cable ties</a:t>
            </a:r>
            <a:endParaRPr lang="en-US" sz="1100" dirty="0"/>
          </a:p>
        </p:txBody>
      </p:sp>
      <p:sp>
        <p:nvSpPr>
          <p:cNvPr id="9" name="Text 7"/>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Mount SATA drives in bays; connect SATA data and power</a:t>
            </a:r>
            <a:endParaRPr lang="en-US" sz="1300" dirty="0"/>
          </a:p>
          <a:p>
            <a:pPr marL="342900" indent="-342900">
              <a:spcAft>
                <a:spcPts val="600"/>
              </a:spcAft>
              <a:buSzPct val="100000"/>
              <a:buFont typeface="+mj-lt"/>
              <a:buAutoNum type="arabicPeriod" startAt="1"/>
            </a:pPr>
            <a:r>
              <a:rPr lang="en-US" sz="1300" dirty="0">
                <a:solidFill>
                  <a:schemeClr val="tx1"/>
                </a:solidFill>
              </a:rPr>
              <a:t>Plug in 24-pin ATX and 8-pin CPU power</a:t>
            </a:r>
            <a:endParaRPr lang="en-US" sz="1300" dirty="0"/>
          </a:p>
          <a:p>
            <a:pPr marL="342900" indent="-342900">
              <a:spcAft>
                <a:spcPts val="600"/>
              </a:spcAft>
              <a:buSzPct val="100000"/>
              <a:buFont typeface="+mj-lt"/>
              <a:buAutoNum type="arabicPeriod" startAt="1"/>
            </a:pPr>
            <a:r>
              <a:rPr lang="en-US" sz="1300" dirty="0">
                <a:solidFill>
                  <a:schemeClr val="tx1"/>
                </a:solidFill>
              </a:rPr>
              <a:t>Connect front USB, audio and fan cables</a:t>
            </a:r>
            <a:endParaRPr lang="en-US" sz="1300" dirty="0"/>
          </a:p>
          <a:p>
            <a:pPr marL="342900" indent="-342900">
              <a:spcAft>
                <a:spcPts val="600"/>
              </a:spcAft>
              <a:buSzPct val="100000"/>
              <a:buFont typeface="+mj-lt"/>
              <a:buAutoNum type="arabicPeriod" startAt="1"/>
            </a:pPr>
            <a:r>
              <a:rPr lang="en-US" sz="1300" dirty="0">
                <a:solidFill>
                  <a:schemeClr val="tx1"/>
                </a:solidFill>
              </a:rPr>
              <a:t>Tidy cables behind the tray with ties</a:t>
            </a:r>
            <a:endParaRPr lang="en-US" sz="1300" dirty="0"/>
          </a:p>
        </p:txBody>
      </p:sp>
      <p:sp>
        <p:nvSpPr>
          <p:cNvPr id="10"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1" name="Text 9"/>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Good cable routing improves airflow.</a:t>
            </a:r>
            <a:endParaRPr lang="en-US" sz="1200" dirty="0"/>
          </a:p>
        </p:txBody>
      </p:sp>
      <p:sp>
        <p:nvSpPr>
          <p:cNvPr id="12"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3" name="Text 11"/>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Label cables, unplug in reverse, free the ties.</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Step 9: Front Panel &amp; First Boot</a:t>
            </a:r>
            <a:endParaRPr lang="en-US" sz="2600" dirty="0"/>
          </a:p>
        </p:txBody>
      </p:sp>
      <p:sp>
        <p:nvSpPr>
          <p:cNvPr id="3" name="partcard"/>
          <p:cNvSpPr/>
          <p:nvPr/>
        </p:nvSpPr>
        <p:spPr>
          <a:xfrm>
            <a:off x="457200" y="1143000"/>
            <a:ext cx="2743200" cy="2697480"/>
          </a:xfrm>
          <a:prstGeom prst="rect">
            <a:avLst/>
          </a:prstGeom>
          <a:solidFill>
            <a:schemeClr val="bg1"/>
          </a:solidFill>
          <a:ln w="9525">
            <a:solidFill>
              <a:schemeClr val="accent6"/>
            </a:solidFill>
            <a:prstDash val="solid"/>
          </a:ln>
        </p:spPr>
      </p:sp>
      <p:sp>
        <p:nvSpPr>
          <p:cNvPr id="4" name="glyph"/>
          <p:cNvSpPr/>
          <p:nvPr/>
        </p:nvSpPr>
        <p:spPr>
          <a:xfrm>
            <a:off x="1600200" y="1417320"/>
            <a:ext cx="457200" cy="548640"/>
          </a:xfrm>
          <a:prstGeom prst="rect">
            <a:avLst/>
          </a:prstGeom>
          <a:solidFill>
            <a:schemeClr val="tx2"/>
          </a:solidFill>
          <a:ln w="9525">
            <a:solidFill>
              <a:schemeClr val="tx2"/>
            </a:solidFill>
            <a:prstDash val="solid"/>
          </a:ln>
        </p:spPr>
      </p:sp>
      <p:sp>
        <p:nvSpPr>
          <p:cNvPr id="5" name="glyph"/>
          <p:cNvSpPr/>
          <p:nvPr/>
        </p:nvSpPr>
        <p:spPr>
          <a:xfrm>
            <a:off x="1664208" y="1490472"/>
            <a:ext cx="329184" cy="274320"/>
          </a:xfrm>
          <a:prstGeom prst="rect">
            <a:avLst/>
          </a:prstGeom>
          <a:solidFill>
            <a:schemeClr val="accent1"/>
          </a:solidFill>
          <a:ln w="9525">
            <a:solidFill>
              <a:schemeClr val="accent1"/>
            </a:solidFill>
            <a:prstDash val="solid"/>
          </a:ln>
        </p:spPr>
      </p:sp>
      <p:sp>
        <p:nvSpPr>
          <p:cNvPr id="6" name="glyph"/>
          <p:cNvSpPr/>
          <p:nvPr/>
        </p:nvSpPr>
        <p:spPr>
          <a:xfrm>
            <a:off x="1792224" y="1828800"/>
            <a:ext cx="73152" cy="73152"/>
          </a:xfrm>
          <a:prstGeom prst="ellipse">
            <a:avLst/>
          </a:prstGeom>
          <a:solidFill>
            <a:schemeClr val="accent2"/>
          </a:solidFill>
          <a:ln w="9525">
            <a:solidFill>
              <a:schemeClr val="accent2"/>
            </a:solidFill>
            <a:prstDash val="solid"/>
          </a:ln>
        </p:spPr>
      </p:sp>
      <p:sp>
        <p:nvSpPr>
          <p:cNvPr id="7" name="Text 5"/>
          <p:cNvSpPr txBox="1"/>
          <p:nvPr/>
        </p:nvSpPr>
        <p:spPr>
          <a:xfrm>
            <a:off x="548640" y="2194560"/>
            <a:ext cx="2560320" cy="365760"/>
          </a:xfrm>
          <a:prstGeom prst="rect">
            <a:avLst/>
          </a:prstGeom>
          <a:noFill/>
          <a:ln/>
        </p:spPr>
        <p:txBody>
          <a:bodyPr wrap="square" lIns="0" tIns="0" rIns="0" bIns="0" rtlCol="0" anchor="ctr"/>
          <a:lstStyle/>
          <a:p>
            <a:pPr algn="ctr" indent="0" marL="0">
              <a:buNone/>
            </a:pPr>
            <a:r>
              <a:rPr lang="en-US" sz="1700" b="1" dirty="0">
                <a:solidFill>
                  <a:schemeClr val="accent1"/>
                </a:solidFill>
              </a:rPr>
              <a:t>Front Panel &amp; First Boot</a:t>
            </a:r>
            <a:endParaRPr lang="en-US" sz="1700" dirty="0"/>
          </a:p>
        </p:txBody>
      </p:sp>
      <p:sp>
        <p:nvSpPr>
          <p:cNvPr id="8" name="Text 6"/>
          <p:cNvSpPr txBox="1"/>
          <p:nvPr/>
        </p:nvSpPr>
        <p:spPr>
          <a:xfrm>
            <a:off x="594360" y="2606040"/>
            <a:ext cx="2468880" cy="1188720"/>
          </a:xfrm>
          <a:prstGeom prst="rect">
            <a:avLst/>
          </a:prstGeom>
          <a:noFill/>
          <a:ln/>
        </p:spPr>
        <p:txBody>
          <a:bodyPr wrap="square" lIns="0" tIns="0" rIns="0" bIns="0" rtlCol="0" anchor="t"/>
          <a:lstStyle/>
          <a:p>
            <a:pPr indent="0" marL="0">
              <a:spcAft>
                <a:spcPts val="400"/>
              </a:spcAft>
              <a:buNone/>
            </a:pPr>
            <a:r>
              <a:rPr lang="en-US" sz="1100" b="1" dirty="0">
                <a:solidFill>
                  <a:schemeClr val="tx2"/>
                </a:solidFill>
              </a:rPr>
              <a:t>Attaches to: </a:t>
            </a:r>
            <a:pPr indent="0" marL="0">
              <a:spcAft>
                <a:spcPts val="400"/>
              </a:spcAft>
              <a:buNone/>
            </a:pPr>
            <a:r>
              <a:rPr lang="en-US" sz="1100" dirty="0">
                <a:solidFill>
                  <a:schemeClr val="tx2"/>
                </a:solidFill>
              </a:rPr>
              <a:t>Motherboard F_PANEL header, monitor, keyboard</a:t>
            </a:r>
            <a:endParaRPr lang="en-US" sz="1100" dirty="0"/>
          </a:p>
          <a:p>
            <a:pPr indent="0" marL="0">
              <a:spcAft>
                <a:spcPts val="400"/>
              </a:spcAft>
              <a:buNone/>
            </a:pPr>
            <a:r>
              <a:rPr lang="en-US" sz="1100" b="1" dirty="0">
                <a:solidFill>
                  <a:schemeClr val="tx2"/>
                </a:solidFill>
              </a:rPr>
              <a:t>Tools: </a:t>
            </a:r>
            <a:pPr indent="0" marL="0">
              <a:spcAft>
                <a:spcPts val="400"/>
              </a:spcAft>
              <a:buNone/>
            </a:pPr>
            <a:r>
              <a:rPr lang="en-US" sz="1100" dirty="0">
                <a:solidFill>
                  <a:schemeClr val="tx2"/>
                </a:solidFill>
              </a:rPr>
              <a:t>Manual, monitor</a:t>
            </a:r>
            <a:endParaRPr lang="en-US" sz="1100" dirty="0"/>
          </a:p>
        </p:txBody>
      </p:sp>
      <p:sp>
        <p:nvSpPr>
          <p:cNvPr id="9" name="Text 7"/>
          <p:cNvSpPr txBox="1"/>
          <p:nvPr/>
        </p:nvSpPr>
        <p:spPr>
          <a:xfrm>
            <a:off x="3474720" y="1143000"/>
            <a:ext cx="5212080" cy="2103120"/>
          </a:xfrm>
          <a:prstGeom prst="rect">
            <a:avLst/>
          </a:prstGeom>
          <a:noFill/>
          <a:ln/>
        </p:spPr>
        <p:txBody>
          <a:bodyPr wrap="square" rtlCol="0" anchor="t"/>
          <a:lstStyle/>
          <a:p>
            <a:pPr marL="342900" indent="-342900">
              <a:spcAft>
                <a:spcPts val="600"/>
              </a:spcAft>
              <a:buSzPct val="100000"/>
              <a:buFont typeface="+mj-lt"/>
              <a:buAutoNum type="arabicPeriod" startAt="1"/>
            </a:pPr>
            <a:r>
              <a:rPr lang="en-US" sz="1300" dirty="0">
                <a:solidFill>
                  <a:schemeClr val="tx1"/>
                </a:solidFill>
              </a:rPr>
              <a:t>Connect Power SW, Reset SW and LED pins per manual</a:t>
            </a:r>
            <a:endParaRPr lang="en-US" sz="1300" dirty="0"/>
          </a:p>
          <a:p>
            <a:pPr marL="342900" indent="-342900">
              <a:spcAft>
                <a:spcPts val="600"/>
              </a:spcAft>
              <a:buSzPct val="100000"/>
              <a:buFont typeface="+mj-lt"/>
              <a:buAutoNum type="arabicPeriod" startAt="1"/>
            </a:pPr>
            <a:r>
              <a:rPr lang="en-US" sz="1300" dirty="0">
                <a:solidFill>
                  <a:schemeClr val="tx1"/>
                </a:solidFill>
              </a:rPr>
              <a:t>Close the side panels, connect monitor to the GPU port</a:t>
            </a:r>
            <a:endParaRPr lang="en-US" sz="1300" dirty="0"/>
          </a:p>
          <a:p>
            <a:pPr marL="342900" indent="-342900">
              <a:spcAft>
                <a:spcPts val="600"/>
              </a:spcAft>
              <a:buSzPct val="100000"/>
              <a:buFont typeface="+mj-lt"/>
              <a:buAutoNum type="arabicPeriod" startAt="1"/>
            </a:pPr>
            <a:r>
              <a:rPr lang="en-US" sz="1300" dirty="0">
                <a:solidFill>
                  <a:schemeClr val="tx1"/>
                </a:solidFill>
              </a:rPr>
              <a:t>Switch on PSU, press power button</a:t>
            </a:r>
            <a:endParaRPr lang="en-US" sz="1300" dirty="0"/>
          </a:p>
          <a:p>
            <a:pPr marL="342900" indent="-342900">
              <a:spcAft>
                <a:spcPts val="600"/>
              </a:spcAft>
              <a:buSzPct val="100000"/>
              <a:buFont typeface="+mj-lt"/>
              <a:buAutoNum type="arabicPeriod" startAt="1"/>
            </a:pPr>
            <a:r>
              <a:rPr lang="en-US" sz="1300" dirty="0">
                <a:solidFill>
                  <a:schemeClr val="tx1"/>
                </a:solidFill>
              </a:rPr>
              <a:t>Enter BIOS, check parts, then install the OS</a:t>
            </a:r>
            <a:endParaRPr lang="en-US" sz="1300" dirty="0"/>
          </a:p>
        </p:txBody>
      </p:sp>
      <p:sp>
        <p:nvSpPr>
          <p:cNvPr id="10" name="tip"/>
          <p:cNvSpPr/>
          <p:nvPr/>
        </p:nvSpPr>
        <p:spPr>
          <a:xfrm>
            <a:off x="3474720" y="3291840"/>
            <a:ext cx="5212080" cy="548640"/>
          </a:xfrm>
          <a:prstGeom prst="rect">
            <a:avLst/>
          </a:prstGeom>
          <a:solidFill>
            <a:schemeClr val="bg1"/>
          </a:solidFill>
          <a:ln w="19050">
            <a:solidFill>
              <a:schemeClr val="accent2"/>
            </a:solidFill>
            <a:prstDash val="solid"/>
          </a:ln>
        </p:spPr>
      </p:sp>
      <p:sp>
        <p:nvSpPr>
          <p:cNvPr id="11" name="Text 9"/>
          <p:cNvSpPr txBox="1"/>
          <p:nvPr/>
        </p:nvSpPr>
        <p:spPr>
          <a:xfrm>
            <a:off x="3611880" y="3291840"/>
            <a:ext cx="4937760" cy="548640"/>
          </a:xfrm>
          <a:prstGeom prst="rect">
            <a:avLst/>
          </a:prstGeom>
          <a:noFill/>
          <a:ln/>
        </p:spPr>
        <p:txBody>
          <a:bodyPr wrap="square" lIns="0" tIns="0" rIns="0" bIns="0" rtlCol="0" anchor="ctr"/>
          <a:lstStyle/>
          <a:p>
            <a:pPr indent="0" marL="0">
              <a:buNone/>
            </a:pPr>
            <a:r>
              <a:rPr lang="en-US" sz="1200" b="1" dirty="0">
                <a:solidFill>
                  <a:schemeClr val="accent2"/>
                </a:solidFill>
              </a:rPr>
              <a:t>TIP  </a:t>
            </a:r>
            <a:pPr indent="0" marL="0">
              <a:buNone/>
            </a:pPr>
            <a:r>
              <a:rPr lang="en-US" sz="1200" dirty="0">
                <a:solidFill>
                  <a:schemeClr val="tx1"/>
                </a:solidFill>
              </a:rPr>
              <a:t>No display? Reseat RAM and GPU first.</a:t>
            </a:r>
            <a:endParaRPr lang="en-US" sz="1200" dirty="0"/>
          </a:p>
        </p:txBody>
      </p:sp>
      <p:sp>
        <p:nvSpPr>
          <p:cNvPr id="12" name="reverse"/>
          <p:cNvSpPr/>
          <p:nvPr/>
        </p:nvSpPr>
        <p:spPr>
          <a:xfrm>
            <a:off x="457200" y="4023360"/>
            <a:ext cx="8229600" cy="548640"/>
          </a:xfrm>
          <a:prstGeom prst="rect">
            <a:avLst/>
          </a:prstGeom>
          <a:solidFill>
            <a:schemeClr val="tx1"/>
          </a:solidFill>
          <a:ln w="9525">
            <a:solidFill>
              <a:schemeClr val="tx1"/>
            </a:solidFill>
            <a:prstDash val="solid"/>
          </a:ln>
        </p:spPr>
      </p:sp>
      <p:sp>
        <p:nvSpPr>
          <p:cNvPr id="13" name="Text 11"/>
          <p:cNvSpPr txBox="1"/>
          <p:nvPr/>
        </p:nvSpPr>
        <p:spPr>
          <a:xfrm>
            <a:off x="594360" y="4023360"/>
            <a:ext cx="7955280" cy="548640"/>
          </a:xfrm>
          <a:prstGeom prst="rect">
            <a:avLst/>
          </a:prstGeom>
          <a:noFill/>
          <a:ln/>
        </p:spPr>
        <p:txBody>
          <a:bodyPr wrap="square" lIns="0" tIns="0" rIns="0" bIns="0" rtlCol="0" anchor="ctr"/>
          <a:lstStyle/>
          <a:p>
            <a:pPr indent="0" marL="0">
              <a:buNone/>
            </a:pPr>
            <a:r>
              <a:rPr lang="en-US" sz="1200" b="1" dirty="0">
                <a:solidFill>
                  <a:schemeClr val="accent2"/>
                </a:solidFill>
              </a:rPr>
              <a:t>RE-ASSEMBLY / REMOVE:  </a:t>
            </a:r>
            <a:pPr indent="0" marL="0">
              <a:buNone/>
            </a:pPr>
            <a:r>
              <a:rPr lang="en-US" sz="1200" dirty="0">
                <a:solidFill>
                  <a:schemeClr val="bg1"/>
                </a:solidFill>
              </a:rPr>
              <a:t>Power off, switch PSU off, unplug the mains cable.</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Re-Assembling: Take Apart in Reverse</a:t>
            </a:r>
            <a:endParaRPr lang="en-US" sz="2600" dirty="0"/>
          </a:p>
        </p:txBody>
      </p:sp>
      <p:sp>
        <p:nvSpPr>
          <p:cNvPr id="3" name="num"/>
          <p:cNvSpPr/>
          <p:nvPr/>
        </p:nvSpPr>
        <p:spPr>
          <a:xfrm>
            <a:off x="457200" y="1188720"/>
            <a:ext cx="502920" cy="502920"/>
          </a:xfrm>
          <a:prstGeom prst="ellipse">
            <a:avLst/>
          </a:prstGeom>
          <a:solidFill>
            <a:schemeClr val="accent1"/>
          </a:solidFill>
          <a:ln w="9525">
            <a:solidFill>
              <a:schemeClr val="accent1"/>
            </a:solidFill>
            <a:prstDash val="solid"/>
          </a:ln>
        </p:spPr>
      </p:sp>
      <p:sp>
        <p:nvSpPr>
          <p:cNvPr id="4" name="Text 2"/>
          <p:cNvSpPr txBox="1"/>
          <p:nvPr/>
        </p:nvSpPr>
        <p:spPr>
          <a:xfrm>
            <a:off x="457200" y="1188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188720"/>
            <a:ext cx="3291840" cy="502920"/>
          </a:xfrm>
          <a:prstGeom prst="rect">
            <a:avLst/>
          </a:prstGeom>
          <a:noFill/>
          <a:ln/>
        </p:spPr>
        <p:txBody>
          <a:bodyPr wrap="square" lIns="0" tIns="0" rIns="0" bIns="0" rtlCol="0" anchor="ctr"/>
          <a:lstStyle/>
          <a:p>
            <a:pPr indent="0" marL="0">
              <a:buNone/>
            </a:pPr>
            <a:r>
              <a:rPr lang="en-US" sz="1300" dirty="0">
                <a:solidFill>
                  <a:schemeClr val="tx1"/>
                </a:solidFill>
              </a:rPr>
              <a:t>Shut down, switch off PSU, unplug mains</a:t>
            </a:r>
            <a:endParaRPr lang="en-US" sz="1300" dirty="0"/>
          </a:p>
        </p:txBody>
      </p:sp>
      <p:sp>
        <p:nvSpPr>
          <p:cNvPr id="6" name="num"/>
          <p:cNvSpPr/>
          <p:nvPr/>
        </p:nvSpPr>
        <p:spPr>
          <a:xfrm>
            <a:off x="4663440" y="1188720"/>
            <a:ext cx="502920" cy="502920"/>
          </a:xfrm>
          <a:prstGeom prst="ellipse">
            <a:avLst/>
          </a:prstGeom>
          <a:solidFill>
            <a:schemeClr val="accent1"/>
          </a:solidFill>
          <a:ln w="9525">
            <a:solidFill>
              <a:schemeClr val="accent1"/>
            </a:solidFill>
            <a:prstDash val="solid"/>
          </a:ln>
        </p:spPr>
      </p:sp>
      <p:sp>
        <p:nvSpPr>
          <p:cNvPr id="7" name="Text 5"/>
          <p:cNvSpPr txBox="1"/>
          <p:nvPr/>
        </p:nvSpPr>
        <p:spPr>
          <a:xfrm>
            <a:off x="4663440" y="1188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5303520" y="1188720"/>
            <a:ext cx="3291840" cy="502920"/>
          </a:xfrm>
          <a:prstGeom prst="rect">
            <a:avLst/>
          </a:prstGeom>
          <a:noFill/>
          <a:ln/>
        </p:spPr>
        <p:txBody>
          <a:bodyPr wrap="square" lIns="0" tIns="0" rIns="0" bIns="0" rtlCol="0" anchor="ctr"/>
          <a:lstStyle/>
          <a:p>
            <a:pPr indent="0" marL="0">
              <a:buNone/>
            </a:pPr>
            <a:r>
              <a:rPr lang="en-US" sz="1300" dirty="0">
                <a:solidFill>
                  <a:schemeClr val="tx1"/>
                </a:solidFill>
              </a:rPr>
              <a:t>Open side panels; photograph cable layout</a:t>
            </a:r>
            <a:endParaRPr lang="en-US" sz="1300" dirty="0"/>
          </a:p>
        </p:txBody>
      </p:sp>
      <p:sp>
        <p:nvSpPr>
          <p:cNvPr id="9" name="num"/>
          <p:cNvSpPr/>
          <p:nvPr/>
        </p:nvSpPr>
        <p:spPr>
          <a:xfrm>
            <a:off x="457200" y="2011680"/>
            <a:ext cx="502920" cy="502920"/>
          </a:xfrm>
          <a:prstGeom prst="ellipse">
            <a:avLst/>
          </a:prstGeom>
          <a:solidFill>
            <a:schemeClr val="accent1"/>
          </a:solidFill>
          <a:ln w="9525">
            <a:solidFill>
              <a:schemeClr val="accent1"/>
            </a:solidFill>
            <a:prstDash val="solid"/>
          </a:ln>
        </p:spPr>
      </p:sp>
      <p:sp>
        <p:nvSpPr>
          <p:cNvPr id="10" name="Text 8"/>
          <p:cNvSpPr txBox="1"/>
          <p:nvPr/>
        </p:nvSpPr>
        <p:spPr>
          <a:xfrm>
            <a:off x="457200" y="2011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097280" y="2011680"/>
            <a:ext cx="3291840" cy="502920"/>
          </a:xfrm>
          <a:prstGeom prst="rect">
            <a:avLst/>
          </a:prstGeom>
          <a:noFill/>
          <a:ln/>
        </p:spPr>
        <p:txBody>
          <a:bodyPr wrap="square" lIns="0" tIns="0" rIns="0" bIns="0" rtlCol="0" anchor="ctr"/>
          <a:lstStyle/>
          <a:p>
            <a:pPr indent="0" marL="0">
              <a:buNone/>
            </a:pPr>
            <a:r>
              <a:rPr lang="en-US" sz="1300" dirty="0">
                <a:solidFill>
                  <a:schemeClr val="tx1"/>
                </a:solidFill>
              </a:rPr>
              <a:t>Remove GPU, then drives and cables</a:t>
            </a:r>
            <a:endParaRPr lang="en-US" sz="1300" dirty="0"/>
          </a:p>
        </p:txBody>
      </p:sp>
      <p:sp>
        <p:nvSpPr>
          <p:cNvPr id="12" name="num"/>
          <p:cNvSpPr/>
          <p:nvPr/>
        </p:nvSpPr>
        <p:spPr>
          <a:xfrm>
            <a:off x="4663440" y="2011680"/>
            <a:ext cx="502920" cy="502920"/>
          </a:xfrm>
          <a:prstGeom prst="ellipse">
            <a:avLst/>
          </a:prstGeom>
          <a:solidFill>
            <a:schemeClr val="accent1"/>
          </a:solidFill>
          <a:ln w="9525">
            <a:solidFill>
              <a:schemeClr val="accent1"/>
            </a:solidFill>
            <a:prstDash val="solid"/>
          </a:ln>
        </p:spPr>
      </p:sp>
      <p:sp>
        <p:nvSpPr>
          <p:cNvPr id="13" name="Text 11"/>
          <p:cNvSpPr txBox="1"/>
          <p:nvPr/>
        </p:nvSpPr>
        <p:spPr>
          <a:xfrm>
            <a:off x="4663440" y="2011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5303520" y="2011680"/>
            <a:ext cx="3291840" cy="502920"/>
          </a:xfrm>
          <a:prstGeom prst="rect">
            <a:avLst/>
          </a:prstGeom>
          <a:noFill/>
          <a:ln/>
        </p:spPr>
        <p:txBody>
          <a:bodyPr wrap="square" lIns="0" tIns="0" rIns="0" bIns="0" rtlCol="0" anchor="ctr"/>
          <a:lstStyle/>
          <a:p>
            <a:pPr indent="0" marL="0">
              <a:buNone/>
            </a:pPr>
            <a:r>
              <a:rPr lang="en-US" sz="1300" dirty="0">
                <a:solidFill>
                  <a:schemeClr val="tx1"/>
                </a:solidFill>
              </a:rPr>
              <a:t>Unplug motherboard cables and remove RAM</a:t>
            </a:r>
            <a:endParaRPr lang="en-US" sz="1300" dirty="0"/>
          </a:p>
        </p:txBody>
      </p:sp>
      <p:sp>
        <p:nvSpPr>
          <p:cNvPr id="15" name="num"/>
          <p:cNvSpPr/>
          <p:nvPr/>
        </p:nvSpPr>
        <p:spPr>
          <a:xfrm>
            <a:off x="457200" y="2834640"/>
            <a:ext cx="502920" cy="502920"/>
          </a:xfrm>
          <a:prstGeom prst="ellipse">
            <a:avLst/>
          </a:prstGeom>
          <a:solidFill>
            <a:schemeClr val="accent1"/>
          </a:solidFill>
          <a:ln w="9525">
            <a:solidFill>
              <a:schemeClr val="accent1"/>
            </a:solidFill>
            <a:prstDash val="solid"/>
          </a:ln>
        </p:spPr>
      </p:sp>
      <p:sp>
        <p:nvSpPr>
          <p:cNvPr id="16" name="Text 14"/>
          <p:cNvSpPr txBox="1"/>
          <p:nvPr/>
        </p:nvSpPr>
        <p:spPr>
          <a:xfrm>
            <a:off x="457200"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097280" y="2834640"/>
            <a:ext cx="3291840" cy="502920"/>
          </a:xfrm>
          <a:prstGeom prst="rect">
            <a:avLst/>
          </a:prstGeom>
          <a:noFill/>
          <a:ln/>
        </p:spPr>
        <p:txBody>
          <a:bodyPr wrap="square" lIns="0" tIns="0" rIns="0" bIns="0" rtlCol="0" anchor="ctr"/>
          <a:lstStyle/>
          <a:p>
            <a:pPr indent="0" marL="0">
              <a:buNone/>
            </a:pPr>
            <a:r>
              <a:rPr lang="en-US" sz="1300" dirty="0">
                <a:solidFill>
                  <a:schemeClr val="tx1"/>
                </a:solidFill>
              </a:rPr>
              <a:t>Unscrew and lift out the motherboard</a:t>
            </a:r>
            <a:endParaRPr lang="en-US" sz="1300" dirty="0"/>
          </a:p>
        </p:txBody>
      </p:sp>
      <p:sp>
        <p:nvSpPr>
          <p:cNvPr id="18" name="num"/>
          <p:cNvSpPr/>
          <p:nvPr/>
        </p:nvSpPr>
        <p:spPr>
          <a:xfrm>
            <a:off x="4663440" y="2834640"/>
            <a:ext cx="502920" cy="502920"/>
          </a:xfrm>
          <a:prstGeom prst="ellipse">
            <a:avLst/>
          </a:prstGeom>
          <a:solidFill>
            <a:schemeClr val="accent1"/>
          </a:solidFill>
          <a:ln w="9525">
            <a:solidFill>
              <a:schemeClr val="accent1"/>
            </a:solidFill>
            <a:prstDash val="solid"/>
          </a:ln>
        </p:spPr>
      </p:sp>
      <p:sp>
        <p:nvSpPr>
          <p:cNvPr id="19" name="Text 17"/>
          <p:cNvSpPr txBox="1"/>
          <p:nvPr/>
        </p:nvSpPr>
        <p:spPr>
          <a:xfrm>
            <a:off x="4663440"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Text 18"/>
          <p:cNvSpPr txBox="1"/>
          <p:nvPr/>
        </p:nvSpPr>
        <p:spPr>
          <a:xfrm>
            <a:off x="5303520" y="2834640"/>
            <a:ext cx="3291840" cy="502920"/>
          </a:xfrm>
          <a:prstGeom prst="rect">
            <a:avLst/>
          </a:prstGeom>
          <a:noFill/>
          <a:ln/>
        </p:spPr>
        <p:txBody>
          <a:bodyPr wrap="square" lIns="0" tIns="0" rIns="0" bIns="0" rtlCol="0" anchor="ctr"/>
          <a:lstStyle/>
          <a:p>
            <a:pPr indent="0" marL="0">
              <a:buNone/>
            </a:pPr>
            <a:r>
              <a:rPr lang="en-US" sz="1300" dirty="0">
                <a:solidFill>
                  <a:schemeClr val="tx1"/>
                </a:solidFill>
              </a:rPr>
              <a:t>Remove cooler, then CPU</a:t>
            </a:r>
            <a:endParaRPr lang="en-US" sz="1300" dirty="0"/>
          </a:p>
        </p:txBody>
      </p:sp>
      <p:sp>
        <p:nvSpPr>
          <p:cNvPr id="21" name="num"/>
          <p:cNvSpPr/>
          <p:nvPr/>
        </p:nvSpPr>
        <p:spPr>
          <a:xfrm>
            <a:off x="457200" y="3657600"/>
            <a:ext cx="502920" cy="502920"/>
          </a:xfrm>
          <a:prstGeom prst="ellipse">
            <a:avLst/>
          </a:prstGeom>
          <a:solidFill>
            <a:schemeClr val="accent1"/>
          </a:solidFill>
          <a:ln w="9525">
            <a:solidFill>
              <a:schemeClr val="accent1"/>
            </a:solidFill>
            <a:prstDash val="solid"/>
          </a:ln>
        </p:spPr>
      </p:sp>
      <p:sp>
        <p:nvSpPr>
          <p:cNvPr id="22" name="Text 20"/>
          <p:cNvSpPr txBox="1"/>
          <p:nvPr/>
        </p:nvSpPr>
        <p:spPr>
          <a:xfrm>
            <a:off x="457200" y="3657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Text 21"/>
          <p:cNvSpPr txBox="1"/>
          <p:nvPr/>
        </p:nvSpPr>
        <p:spPr>
          <a:xfrm>
            <a:off x="1097280" y="3657600"/>
            <a:ext cx="3291840" cy="502920"/>
          </a:xfrm>
          <a:prstGeom prst="rect">
            <a:avLst/>
          </a:prstGeom>
          <a:noFill/>
          <a:ln/>
        </p:spPr>
        <p:txBody>
          <a:bodyPr wrap="square" lIns="0" tIns="0" rIns="0" bIns="0" rtlCol="0" anchor="ctr"/>
          <a:lstStyle/>
          <a:p>
            <a:pPr indent="0" marL="0">
              <a:buNone/>
            </a:pPr>
            <a:r>
              <a:rPr lang="en-US" sz="1300" dirty="0">
                <a:solidFill>
                  <a:schemeClr val="tx1"/>
                </a:solidFill>
              </a:rPr>
              <a:t>Take out PSU; store parts in anti-static bags</a:t>
            </a:r>
            <a:endParaRPr lang="en-US" sz="1300" dirty="0"/>
          </a:p>
        </p:txBody>
      </p:sp>
      <p:sp>
        <p:nvSpPr>
          <p:cNvPr id="24" name="Text 22"/>
          <p:cNvSpPr txBox="1"/>
          <p:nvPr/>
        </p:nvSpPr>
        <p:spPr>
          <a:xfrm>
            <a:off x="4663440" y="3657600"/>
            <a:ext cx="4023360" cy="548640"/>
          </a:xfrm>
          <a:prstGeom prst="rect">
            <a:avLst/>
          </a:prstGeom>
          <a:noFill/>
          <a:ln/>
        </p:spPr>
        <p:txBody>
          <a:bodyPr wrap="square" lIns="0" tIns="0" rIns="0" bIns="0" rtlCol="0" anchor="ctr"/>
          <a:lstStyle/>
          <a:p>
            <a:pPr indent="0" marL="0">
              <a:buNone/>
            </a:pPr>
            <a:r>
              <a:rPr lang="en-US" sz="1400" b="1" dirty="0">
                <a:solidFill>
                  <a:schemeClr val="accent1"/>
                </a:solidFill>
              </a:rPr>
              <a:t>To re-assemble, repeat Steps 1 to 9 in order.</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37160"/>
            <a:ext cx="8229600" cy="594360"/>
          </a:xfrm>
          <a:prstGeom prst="rect">
            <a:avLst/>
          </a:prstGeom>
          <a:noFill/>
          <a:ln/>
        </p:spPr>
        <p:txBody>
          <a:bodyPr wrap="square" lIns="0" tIns="0" rIns="0" bIns="0" rtlCol="0" anchor="ctr"/>
          <a:lstStyle/>
          <a:p>
            <a:pPr indent="0" marL="0">
              <a:buNone/>
            </a:pPr>
            <a:r>
              <a:rPr lang="en-US" sz="2600" b="1" dirty="0">
                <a:solidFill>
                  <a:schemeClr val="bg1"/>
                </a:solidFill>
              </a:rPr>
              <a:t>First Boot Troubleshooting</a:t>
            </a:r>
            <a:endParaRPr lang="en-US" sz="2600" dirty="0"/>
          </a:p>
        </p:txBody>
      </p:sp>
      <p:sp>
        <p:nvSpPr>
          <p:cNvPr id="3" name="card"/>
          <p:cNvSpPr/>
          <p:nvPr/>
        </p:nvSpPr>
        <p:spPr>
          <a:xfrm>
            <a:off x="457200" y="1188720"/>
            <a:ext cx="8229600" cy="685800"/>
          </a:xfrm>
          <a:prstGeom prst="rect">
            <a:avLst/>
          </a:prstGeom>
          <a:solidFill>
            <a:schemeClr val="bg1"/>
          </a:solidFill>
          <a:ln w="9525">
            <a:solidFill>
              <a:schemeClr val="accent6"/>
            </a:solidFill>
            <a:prstDash val="solid"/>
          </a:ln>
        </p:spPr>
      </p:sp>
      <p:sp>
        <p:nvSpPr>
          <p:cNvPr id="4" name="bar"/>
          <p:cNvSpPr/>
          <p:nvPr/>
        </p:nvSpPr>
        <p:spPr>
          <a:xfrm>
            <a:off x="457200" y="1188720"/>
            <a:ext cx="109728" cy="685800"/>
          </a:xfrm>
          <a:prstGeom prst="rect">
            <a:avLst/>
          </a:prstGeom>
          <a:solidFill>
            <a:schemeClr val="accent4"/>
          </a:solidFill>
          <a:ln w="9525">
            <a:solidFill>
              <a:schemeClr val="accent4"/>
            </a:solidFill>
            <a:prstDash val="solid"/>
          </a:ln>
        </p:spPr>
      </p:sp>
      <p:sp>
        <p:nvSpPr>
          <p:cNvPr id="5" name="Text 3"/>
          <p:cNvSpPr txBox="1"/>
          <p:nvPr/>
        </p:nvSpPr>
        <p:spPr>
          <a:xfrm>
            <a:off x="777240" y="1188720"/>
            <a:ext cx="2194560" cy="685800"/>
          </a:xfrm>
          <a:prstGeom prst="rect">
            <a:avLst/>
          </a:prstGeom>
          <a:noFill/>
          <a:ln/>
        </p:spPr>
        <p:txBody>
          <a:bodyPr wrap="square" lIns="0" tIns="0" rIns="0" bIns="0" rtlCol="0" anchor="ctr"/>
          <a:lstStyle/>
          <a:p>
            <a:pPr indent="0" marL="0">
              <a:buNone/>
            </a:pPr>
            <a:r>
              <a:rPr lang="en-US" sz="1500" b="1" dirty="0">
                <a:solidFill>
                  <a:schemeClr val="tx1"/>
                </a:solidFill>
              </a:rPr>
              <a:t>No power</a:t>
            </a:r>
            <a:endParaRPr lang="en-US" sz="1500" dirty="0"/>
          </a:p>
        </p:txBody>
      </p:sp>
      <p:sp>
        <p:nvSpPr>
          <p:cNvPr id="6" name="Text 4"/>
          <p:cNvSpPr txBox="1"/>
          <p:nvPr/>
        </p:nvSpPr>
        <p:spPr>
          <a:xfrm>
            <a:off x="3017520" y="1188720"/>
            <a:ext cx="5486400" cy="685800"/>
          </a:xfrm>
          <a:prstGeom prst="rect">
            <a:avLst/>
          </a:prstGeom>
          <a:noFill/>
          <a:ln/>
        </p:spPr>
        <p:txBody>
          <a:bodyPr wrap="square" lIns="0" tIns="0" rIns="0" bIns="0" rtlCol="0" anchor="ctr"/>
          <a:lstStyle/>
          <a:p>
            <a:pPr indent="0" marL="0">
              <a:buNone/>
            </a:pPr>
            <a:r>
              <a:rPr lang="en-US" sz="1200" dirty="0">
                <a:solidFill>
                  <a:schemeClr val="tx2"/>
                </a:solidFill>
              </a:rPr>
              <a:t>Check PSU switch, 24-pin and 8-pin CPU cables, front panel Power SW pins</a:t>
            </a:r>
            <a:endParaRPr lang="en-US" sz="1200" dirty="0"/>
          </a:p>
        </p:txBody>
      </p:sp>
      <p:sp>
        <p:nvSpPr>
          <p:cNvPr id="7" name="card"/>
          <p:cNvSpPr/>
          <p:nvPr/>
        </p:nvSpPr>
        <p:spPr>
          <a:xfrm>
            <a:off x="457200" y="2011680"/>
            <a:ext cx="8229600" cy="685800"/>
          </a:xfrm>
          <a:prstGeom prst="rect">
            <a:avLst/>
          </a:prstGeom>
          <a:solidFill>
            <a:schemeClr val="bg1"/>
          </a:solidFill>
          <a:ln w="9525">
            <a:solidFill>
              <a:schemeClr val="accent6"/>
            </a:solidFill>
            <a:prstDash val="solid"/>
          </a:ln>
        </p:spPr>
      </p:sp>
      <p:sp>
        <p:nvSpPr>
          <p:cNvPr id="8" name="bar"/>
          <p:cNvSpPr/>
          <p:nvPr/>
        </p:nvSpPr>
        <p:spPr>
          <a:xfrm>
            <a:off x="457200" y="2011680"/>
            <a:ext cx="109728" cy="685800"/>
          </a:xfrm>
          <a:prstGeom prst="rect">
            <a:avLst/>
          </a:prstGeom>
          <a:solidFill>
            <a:schemeClr val="accent4"/>
          </a:solidFill>
          <a:ln w="9525">
            <a:solidFill>
              <a:schemeClr val="accent4"/>
            </a:solidFill>
            <a:prstDash val="solid"/>
          </a:ln>
        </p:spPr>
      </p:sp>
      <p:sp>
        <p:nvSpPr>
          <p:cNvPr id="9" name="Text 7"/>
          <p:cNvSpPr txBox="1"/>
          <p:nvPr/>
        </p:nvSpPr>
        <p:spPr>
          <a:xfrm>
            <a:off x="777240" y="2011680"/>
            <a:ext cx="2194560" cy="685800"/>
          </a:xfrm>
          <a:prstGeom prst="rect">
            <a:avLst/>
          </a:prstGeom>
          <a:noFill/>
          <a:ln/>
        </p:spPr>
        <p:txBody>
          <a:bodyPr wrap="square" lIns="0" tIns="0" rIns="0" bIns="0" rtlCol="0" anchor="ctr"/>
          <a:lstStyle/>
          <a:p>
            <a:pPr indent="0" marL="0">
              <a:buNone/>
            </a:pPr>
            <a:r>
              <a:rPr lang="en-US" sz="1500" b="1" dirty="0">
                <a:solidFill>
                  <a:schemeClr val="tx1"/>
                </a:solidFill>
              </a:rPr>
              <a:t>No display</a:t>
            </a:r>
            <a:endParaRPr lang="en-US" sz="1500" dirty="0"/>
          </a:p>
        </p:txBody>
      </p:sp>
      <p:sp>
        <p:nvSpPr>
          <p:cNvPr id="10" name="Text 8"/>
          <p:cNvSpPr txBox="1"/>
          <p:nvPr/>
        </p:nvSpPr>
        <p:spPr>
          <a:xfrm>
            <a:off x="3017520" y="2011680"/>
            <a:ext cx="5486400" cy="685800"/>
          </a:xfrm>
          <a:prstGeom prst="rect">
            <a:avLst/>
          </a:prstGeom>
          <a:noFill/>
          <a:ln/>
        </p:spPr>
        <p:txBody>
          <a:bodyPr wrap="square" lIns="0" tIns="0" rIns="0" bIns="0" rtlCol="0" anchor="ctr"/>
          <a:lstStyle/>
          <a:p>
            <a:pPr indent="0" marL="0">
              <a:buNone/>
            </a:pPr>
            <a:r>
              <a:rPr lang="en-US" sz="1200" dirty="0">
                <a:solidFill>
                  <a:schemeClr val="tx2"/>
                </a:solidFill>
              </a:rPr>
              <a:t>Reseat RAM, plug monitor into GPU not motherboard, check PCIe power</a:t>
            </a:r>
            <a:endParaRPr lang="en-US" sz="1200" dirty="0"/>
          </a:p>
        </p:txBody>
      </p:sp>
      <p:sp>
        <p:nvSpPr>
          <p:cNvPr id="11" name="card"/>
          <p:cNvSpPr/>
          <p:nvPr/>
        </p:nvSpPr>
        <p:spPr>
          <a:xfrm>
            <a:off x="457200" y="2834640"/>
            <a:ext cx="8229600" cy="685800"/>
          </a:xfrm>
          <a:prstGeom prst="rect">
            <a:avLst/>
          </a:prstGeom>
          <a:solidFill>
            <a:schemeClr val="bg1"/>
          </a:solidFill>
          <a:ln w="9525">
            <a:solidFill>
              <a:schemeClr val="accent6"/>
            </a:solidFill>
            <a:prstDash val="solid"/>
          </a:ln>
        </p:spPr>
      </p:sp>
      <p:sp>
        <p:nvSpPr>
          <p:cNvPr id="12" name="bar"/>
          <p:cNvSpPr/>
          <p:nvPr/>
        </p:nvSpPr>
        <p:spPr>
          <a:xfrm>
            <a:off x="457200" y="2834640"/>
            <a:ext cx="109728" cy="685800"/>
          </a:xfrm>
          <a:prstGeom prst="rect">
            <a:avLst/>
          </a:prstGeom>
          <a:solidFill>
            <a:schemeClr val="accent4"/>
          </a:solidFill>
          <a:ln w="9525">
            <a:solidFill>
              <a:schemeClr val="accent4"/>
            </a:solidFill>
            <a:prstDash val="solid"/>
          </a:ln>
        </p:spPr>
      </p:sp>
      <p:sp>
        <p:nvSpPr>
          <p:cNvPr id="13" name="Text 11"/>
          <p:cNvSpPr txBox="1"/>
          <p:nvPr/>
        </p:nvSpPr>
        <p:spPr>
          <a:xfrm>
            <a:off x="777240" y="2834640"/>
            <a:ext cx="2194560" cy="685800"/>
          </a:xfrm>
          <a:prstGeom prst="rect">
            <a:avLst/>
          </a:prstGeom>
          <a:noFill/>
          <a:ln/>
        </p:spPr>
        <p:txBody>
          <a:bodyPr wrap="square" lIns="0" tIns="0" rIns="0" bIns="0" rtlCol="0" anchor="ctr"/>
          <a:lstStyle/>
          <a:p>
            <a:pPr indent="0" marL="0">
              <a:buNone/>
            </a:pPr>
            <a:r>
              <a:rPr lang="en-US" sz="1500" b="1" dirty="0">
                <a:solidFill>
                  <a:schemeClr val="tx1"/>
                </a:solidFill>
              </a:rPr>
              <a:t>Beeps or debug LEDs</a:t>
            </a:r>
            <a:endParaRPr lang="en-US" sz="1500" dirty="0"/>
          </a:p>
        </p:txBody>
      </p:sp>
      <p:sp>
        <p:nvSpPr>
          <p:cNvPr id="14" name="Text 12"/>
          <p:cNvSpPr txBox="1"/>
          <p:nvPr/>
        </p:nvSpPr>
        <p:spPr>
          <a:xfrm>
            <a:off x="3017520" y="2834640"/>
            <a:ext cx="5486400" cy="685800"/>
          </a:xfrm>
          <a:prstGeom prst="rect">
            <a:avLst/>
          </a:prstGeom>
          <a:noFill/>
          <a:ln/>
        </p:spPr>
        <p:txBody>
          <a:bodyPr wrap="square" lIns="0" tIns="0" rIns="0" bIns="0" rtlCol="0" anchor="ctr"/>
          <a:lstStyle/>
          <a:p>
            <a:pPr indent="0" marL="0">
              <a:buNone/>
            </a:pPr>
            <a:r>
              <a:rPr lang="en-US" sz="1200" dirty="0">
                <a:solidFill>
                  <a:schemeClr val="tx2"/>
                </a:solidFill>
              </a:rPr>
              <a:t>Match the code to the motherboard manual: usually RAM, CPU or GPU</a:t>
            </a:r>
            <a:endParaRPr lang="en-US" sz="1200" dirty="0"/>
          </a:p>
        </p:txBody>
      </p:sp>
      <p:sp>
        <p:nvSpPr>
          <p:cNvPr id="15" name="card"/>
          <p:cNvSpPr/>
          <p:nvPr/>
        </p:nvSpPr>
        <p:spPr>
          <a:xfrm>
            <a:off x="457200" y="3657600"/>
            <a:ext cx="8229600" cy="685800"/>
          </a:xfrm>
          <a:prstGeom prst="rect">
            <a:avLst/>
          </a:prstGeom>
          <a:solidFill>
            <a:schemeClr val="bg1"/>
          </a:solidFill>
          <a:ln w="9525">
            <a:solidFill>
              <a:schemeClr val="accent6"/>
            </a:solidFill>
            <a:prstDash val="solid"/>
          </a:ln>
        </p:spPr>
      </p:sp>
      <p:sp>
        <p:nvSpPr>
          <p:cNvPr id="16" name="bar"/>
          <p:cNvSpPr/>
          <p:nvPr/>
        </p:nvSpPr>
        <p:spPr>
          <a:xfrm>
            <a:off x="457200" y="3657600"/>
            <a:ext cx="109728" cy="685800"/>
          </a:xfrm>
          <a:prstGeom prst="rect">
            <a:avLst/>
          </a:prstGeom>
          <a:solidFill>
            <a:schemeClr val="accent4"/>
          </a:solidFill>
          <a:ln w="9525">
            <a:solidFill>
              <a:schemeClr val="accent4"/>
            </a:solidFill>
            <a:prstDash val="solid"/>
          </a:ln>
        </p:spPr>
      </p:sp>
      <p:sp>
        <p:nvSpPr>
          <p:cNvPr id="17" name="Text 15"/>
          <p:cNvSpPr txBox="1"/>
          <p:nvPr/>
        </p:nvSpPr>
        <p:spPr>
          <a:xfrm>
            <a:off x="777240" y="3657600"/>
            <a:ext cx="2194560" cy="685800"/>
          </a:xfrm>
          <a:prstGeom prst="rect">
            <a:avLst/>
          </a:prstGeom>
          <a:noFill/>
          <a:ln/>
        </p:spPr>
        <p:txBody>
          <a:bodyPr wrap="square" lIns="0" tIns="0" rIns="0" bIns="0" rtlCol="0" anchor="ctr"/>
          <a:lstStyle/>
          <a:p>
            <a:pPr indent="0" marL="0">
              <a:buNone/>
            </a:pPr>
            <a:r>
              <a:rPr lang="en-US" sz="1500" b="1" dirty="0">
                <a:solidFill>
                  <a:schemeClr val="tx1"/>
                </a:solidFill>
              </a:rPr>
              <a:t>Overheating</a:t>
            </a:r>
            <a:endParaRPr lang="en-US" sz="1500" dirty="0"/>
          </a:p>
        </p:txBody>
      </p:sp>
      <p:sp>
        <p:nvSpPr>
          <p:cNvPr id="18" name="Text 16"/>
          <p:cNvSpPr txBox="1"/>
          <p:nvPr/>
        </p:nvSpPr>
        <p:spPr>
          <a:xfrm>
            <a:off x="3017520" y="3657600"/>
            <a:ext cx="5486400" cy="685800"/>
          </a:xfrm>
          <a:prstGeom prst="rect">
            <a:avLst/>
          </a:prstGeom>
          <a:noFill/>
          <a:ln/>
        </p:spPr>
        <p:txBody>
          <a:bodyPr wrap="square" lIns="0" tIns="0" rIns="0" bIns="0" rtlCol="0" anchor="ctr"/>
          <a:lstStyle/>
          <a:p>
            <a:pPr indent="0" marL="0">
              <a:buNone/>
            </a:pPr>
            <a:r>
              <a:rPr lang="en-US" sz="1200" dirty="0">
                <a:solidFill>
                  <a:schemeClr val="tx2"/>
                </a:solidFill>
              </a:rPr>
              <a:t>Check cooler contact, fan header and case airflow direction</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CBuild">
  <a:themeElements>
    <a:clrScheme name="PCBuild">
      <a:dk1>
        <a:srgbClr val="0F172A"/>
      </a:dk1>
      <a:lt1>
        <a:srgbClr val="FFFFFF"/>
      </a:lt1>
      <a:dk2>
        <a:srgbClr val="1E293B"/>
      </a:dk2>
      <a:lt2>
        <a:srgbClr val="F1F5F9"/>
      </a:lt2>
      <a:accent1>
        <a:srgbClr val="0891B2"/>
      </a:accent1>
      <a:accent2>
        <a:srgbClr val="F59E0B"/>
      </a:accent2>
      <a:accent3>
        <a:srgbClr val="16A34A"/>
      </a:accent3>
      <a:accent4>
        <a:srgbClr val="DC2626"/>
      </a:accent4>
      <a:accent5>
        <a:srgbClr val="7C3AED"/>
      </a:accent5>
      <a:accent6>
        <a:srgbClr val="64748B"/>
      </a:accent6>
      <a:hlink>
        <a:srgbClr val="0891B2"/>
      </a:hlink>
      <a:folHlink>
        <a:srgbClr val="7C3AED"/>
      </a:folHlink>
    </a:clrScheme>
    <a:fontScheme name="PCBuil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2026-10-22T16:34:28Z</dcterms:created>
  <dcterms:modified xsi:type="dcterms:W3CDTF">2026-10-22T16:34:28Z</dcterms:modified>
</cp:coreProperties>
</file>