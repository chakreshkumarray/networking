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cabinet (case) is the metal box that holds and protects all internal parts and keeps them in position with screws and drive bays.
SMPS (Switched Mode Power Supply) is the metal box with a fan at the back. It converts 220 V AC from the wall socket into low-voltage DC (12 V, 5 V, 3.3 V) needed by the motherboard, hard disk and drives.
Its many coloured wires end in connectors for the motherboard (ATX), hard disk (SATA/Molex) and CPU fan.
The fan inside keeps the SMPS cool; the two sockets at the back are for power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motherboard is the main circuit board to which every other part is connected.
It has a CPU socket (centre), RAM slots (red, left), expansion slots for graphics and other cards (top), SATA ports for drives, and a large power connector.
Heat sinks (red) cool the chipset and power circuits.
It carries data and power between components through printed tracks called buses.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 panel is where external devices are plugged in.
PS/2 port (purple/green): old keyboard or mouse. USB ports: keyboard, mouse, pen drive, printer; blue ones are faster USB 3.0.
VGA (blue) and DVI (white) ports connect the monitor; HDMI sends video and sound.
RJ-45 LAN port: network cable. Coloured round jacks: audio – blue line-in, green speaker out, pink microphone.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microprocessor (CPU) is the brain of the computer. It performs calculations and executes every instruction.
The underside shows hundreds of gold contact points that touch the socket on the motherboard.
Its speed is measured in GHz and its power by the number of cores. Common makers are Intel and AMD.
It becomes hot, so a heat sink and fan are always fitted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 (Random Access Memory) is the computer's temporary working memory.
Programs and data in use are loaded into RAM from the hard disk so the CPU can reach them quickly.
It is volatile: everything is lost when power is switched off.
The stick has a notch so it fits only in the correct slot. More RAM lets more programs run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is fitted in the CPU socket and held down by a metal lever or clip.
A cooling heat sink with fan is placed over it with thermal paste in between.
Around it are the RAM slots and capacitors that supply stable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 disk is the permanent storage of the computer: Windows, software, documents, photos and videos are saved on it.
Data stays even when the computer is off.
It connects to the motherboard through a data cable – the wide grey ribbon cable (IDE) or the thin red cable (SATA) – and also needs a power cable.
Capacity is measured in GB or TB (this example is 1 TB).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SATA hard drive: the green board underneath is the controller that manages reading and writing.
SATA DATA cable (red): carries data between the disk and the motherboard.
SATA POWER cable (coloured wires): brings power from the SMPS.
Both cables must be connected for the disk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DVD writer reads and writes CDs and DVDs using a laser, and is used to install software, play discs and make backups.
It sits in the front 5.25-inch bay of the cabinet and, like the hard disk, needs a data cable and a power cable.
The picture on the original slide shows an older drive with an IDE (40-pin) data connector and a 4-pin Molex power 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monitor is the main output device; it displays text, pictures and video produced by the computer.
It connects to the computer through VGA, DVI or HDMI cable and needs its own power supply.
Screen size is measured diagonally in inches. Modern monitors are LCD/LED.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keyboard is the main input device used to type text, numbers and commands.
It has alphabet keys, number keys, function keys, Shift, Ctrl, Alt, Enter, Backspace and Space Bar.
The common QWERTY layout is named after the first six letters in the top row.
It connects through a USB or PS/2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mouse is a pointing input device that moves the pointer on the screen.
Left button: select and open. Right button: shortcut menu. Scroll wheel: move up and down a page.
It connects through a USB port (or wirelessly) and uses an optical sensor to detect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457200" y="1554480"/>
            <a:ext cx="8229600" cy="109728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COMPUTER PARTS NAME</a:t>
            </a:r>
            <a:endParaRPr lang="en-US" sz="4400" dirty="0"/>
          </a:p>
        </p:txBody>
      </p:sp>
      <p:sp>
        <p:nvSpPr>
          <p:cNvPr id="3" name="Text 1"/>
          <p:cNvSpPr txBox="1"/>
          <p:nvPr/>
        </p:nvSpPr>
        <p:spPr>
          <a:xfrm>
            <a:off x="640080" y="2651760"/>
            <a:ext cx="7863840" cy="731520"/>
          </a:xfrm>
          <a:prstGeom prst="rect">
            <a:avLst/>
          </a:prstGeom>
          <a:noFill/>
          <a:ln/>
        </p:spPr>
        <p:txBody>
          <a:bodyPr wrap="square" rtlCol="0" anchor="ctr"/>
          <a:lstStyle/>
          <a:p>
            <a:pPr algn="ctr" indent="0" marL="0">
              <a:buNone/>
            </a:pPr>
            <a:r>
              <a:rPr lang="en-US" sz="1800" dirty="0">
                <a:solidFill>
                  <a:srgbClr val="BFD8E6"/>
                </a:solidFill>
                <a:latin typeface="Calibri" pitchFamily="34" charset="0"/>
                <a:ea typeface="Calibri" pitchFamily="34" charset="-122"/>
                <a:cs typeface="Calibri" pitchFamily="34" charset="-120"/>
              </a:rPr>
              <a:t>Cabinet, Motherboard, Processor, Memory, Storage &amp; Peripherals – Explained in Detail</a:t>
            </a:r>
            <a:endParaRPr lang="en-US" sz="1800" dirty="0"/>
          </a:p>
        </p:txBody>
      </p:sp>
      <p:sp>
        <p:nvSpPr>
          <p:cNvPr id="4" name="Shape 2"/>
          <p:cNvSpPr/>
          <p:nvPr/>
        </p:nvSpPr>
        <p:spPr>
          <a:xfrm>
            <a:off x="3200400" y="3474720"/>
            <a:ext cx="2743200" cy="54864"/>
          </a:xfrm>
          <a:prstGeom prst="rect">
            <a:avLst/>
          </a:prstGeom>
          <a:solidFill>
            <a:srgbClr val="C0501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Computer Parts Name</a:t>
            </a:r>
            <a:endParaRPr lang="en-US" sz="2600" dirty="0"/>
          </a:p>
        </p:txBody>
      </p:sp>
      <p:sp>
        <p:nvSpPr>
          <p:cNvPr id="4" name="Shape 2"/>
          <p:cNvSpPr/>
          <p:nvPr/>
        </p:nvSpPr>
        <p:spPr>
          <a:xfrm>
            <a:off x="365760" y="960120"/>
            <a:ext cx="3840480" cy="3749040"/>
          </a:xfrm>
          <a:prstGeom prst="rect">
            <a:avLst/>
          </a:prstGeom>
          <a:solidFill>
            <a:srgbClr val="F3F5F8"/>
          </a:solidFill>
          <a:ln w="12700">
            <a:solidFill>
              <a:srgbClr val="D5DBE3"/>
            </a:solidFill>
            <a:prstDash val="solid"/>
          </a:ln>
        </p:spPr>
      </p:sp>
      <p:sp>
        <p:nvSpPr>
          <p:cNvPr id="5" name="Text 3"/>
          <p:cNvSpPr txBox="1"/>
          <p:nvPr/>
        </p:nvSpPr>
        <p:spPr>
          <a:xfrm>
            <a:off x="502920" y="1005840"/>
            <a:ext cx="3566160" cy="274320"/>
          </a:xfrm>
          <a:prstGeom prst="rect">
            <a:avLst/>
          </a:prstGeom>
          <a:noFill/>
          <a:ln/>
        </p:spPr>
        <p:txBody>
          <a:bodyPr wrap="square" lIns="0" tIns="0" rIns="0" bIns="0" rtlCol="0" anchor="ctr"/>
          <a:lstStyle/>
          <a:p>
            <a:pPr indent="0" marL="0">
              <a:buNone/>
            </a:pPr>
            <a:r>
              <a:rPr lang="en-US" sz="1000" b="1" dirty="0">
                <a:solidFill>
                  <a:srgbClr val="C0501A"/>
                </a:solidFill>
              </a:rPr>
              <a:t>FROM THE ORIGINAL SLIDE</a:t>
            </a:r>
            <a:endParaRPr lang="en-US" sz="1000" dirty="0"/>
          </a:p>
        </p:txBody>
      </p:sp>
      <p:sp>
        <p:nvSpPr>
          <p:cNvPr id="6" name="Text 4"/>
          <p:cNvSpPr txBox="1"/>
          <p:nvPr/>
        </p:nvSpPr>
        <p:spPr>
          <a:xfrm>
            <a:off x="502920" y="1325880"/>
            <a:ext cx="356616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b="1" dirty="0">
                <a:solidFill>
                  <a:srgbClr val="5B2C91"/>
                </a:solidFill>
                <a:latin typeface="Calibri" pitchFamily="34" charset="0"/>
                <a:ea typeface="Calibri" pitchFamily="34" charset="-122"/>
                <a:cs typeface="Calibri" pitchFamily="34" charset="-120"/>
              </a:rPr>
              <a:t>CABINET BOX WITH SMPS</a:t>
            </a:r>
            <a:endParaRPr lang="en-US" sz="1400" dirty="0"/>
          </a:p>
          <a:p>
            <a:pPr marL="342900" indent="-342900">
              <a:spcAft>
                <a:spcPts val="500"/>
              </a:spcAft>
              <a:buSzPct val="100000"/>
              <a:buFont typeface="+mj-lt"/>
              <a:buAutoNum type="arabicPeriod" startAt="1"/>
            </a:pPr>
            <a:r>
              <a:rPr lang="en-US" sz="1400" b="1" dirty="0">
                <a:solidFill>
                  <a:srgbClr val="5B2C91"/>
                </a:solidFill>
                <a:latin typeface="Calibri" pitchFamily="34" charset="0"/>
                <a:ea typeface="Calibri" pitchFamily="34" charset="-122"/>
                <a:cs typeface="Calibri" pitchFamily="34" charset="-120"/>
              </a:rPr>
              <a:t>MOTHER BOARD</a:t>
            </a:r>
            <a:endParaRPr lang="en-US" sz="1400" dirty="0"/>
          </a:p>
          <a:p>
            <a:pPr marL="342900" indent="-342900">
              <a:spcAft>
                <a:spcPts val="500"/>
              </a:spcAft>
              <a:buSzPct val="100000"/>
              <a:buFont typeface="+mj-lt"/>
              <a:buAutoNum type="arabicPeriod" startAt="1"/>
            </a:pPr>
            <a:r>
              <a:rPr lang="en-US" sz="1400" b="1" dirty="0">
                <a:solidFill>
                  <a:srgbClr val="5B2C91"/>
                </a:solidFill>
                <a:latin typeface="Calibri" pitchFamily="34" charset="0"/>
                <a:ea typeface="Calibri" pitchFamily="34" charset="-122"/>
                <a:cs typeface="Calibri" pitchFamily="34" charset="-120"/>
              </a:rPr>
              <a:t>MICROPROCESSOR</a:t>
            </a:r>
            <a:endParaRPr lang="en-US" sz="1400" dirty="0"/>
          </a:p>
          <a:p>
            <a:pPr marL="342900" indent="-342900">
              <a:spcAft>
                <a:spcPts val="500"/>
              </a:spcAft>
              <a:buSzPct val="100000"/>
              <a:buFont typeface="+mj-lt"/>
              <a:buAutoNum type="arabicPeriod" startAt="1"/>
            </a:pPr>
            <a:r>
              <a:rPr lang="en-US" sz="1400" b="1" dirty="0">
                <a:solidFill>
                  <a:srgbClr val="5B2C91"/>
                </a:solidFill>
                <a:latin typeface="Calibri" pitchFamily="34" charset="0"/>
                <a:ea typeface="Calibri" pitchFamily="34" charset="-122"/>
                <a:cs typeface="Calibri" pitchFamily="34" charset="-120"/>
              </a:rPr>
              <a:t>HARD DISK</a:t>
            </a:r>
            <a:endParaRPr lang="en-US" sz="1400" dirty="0"/>
          </a:p>
          <a:p>
            <a:pPr marL="342900" indent="-342900">
              <a:spcAft>
                <a:spcPts val="500"/>
              </a:spcAft>
              <a:buSzPct val="100000"/>
              <a:buFont typeface="+mj-lt"/>
              <a:buAutoNum type="arabicPeriod" startAt="1"/>
            </a:pPr>
            <a:r>
              <a:rPr lang="en-US" sz="1400" b="1" dirty="0">
                <a:solidFill>
                  <a:srgbClr val="5B2C91"/>
                </a:solidFill>
                <a:latin typeface="Calibri" pitchFamily="34" charset="0"/>
                <a:ea typeface="Calibri" pitchFamily="34" charset="-122"/>
                <a:cs typeface="Calibri" pitchFamily="34" charset="-120"/>
              </a:rPr>
              <a:t>RAM</a:t>
            </a:r>
            <a:endParaRPr lang="en-US" sz="1400" dirty="0"/>
          </a:p>
          <a:p>
            <a:pPr marL="342900" indent="-342900">
              <a:spcAft>
                <a:spcPts val="500"/>
              </a:spcAft>
              <a:buSzPct val="100000"/>
              <a:buFont typeface="+mj-lt"/>
              <a:buAutoNum type="arabicPeriod" startAt="1"/>
            </a:pPr>
            <a:r>
              <a:rPr lang="en-US" sz="1400" b="1" dirty="0">
                <a:solidFill>
                  <a:srgbClr val="5B2C91"/>
                </a:solidFill>
                <a:latin typeface="Calibri" pitchFamily="34" charset="0"/>
                <a:ea typeface="Calibri" pitchFamily="34" charset="-122"/>
                <a:cs typeface="Calibri" pitchFamily="34" charset="-120"/>
              </a:rPr>
              <a:t>DVD /WRITER</a:t>
            </a:r>
            <a:endParaRPr lang="en-US" sz="1400" dirty="0"/>
          </a:p>
          <a:p>
            <a:pPr marL="342900" indent="-342900">
              <a:spcAft>
                <a:spcPts val="500"/>
              </a:spcAft>
              <a:buSzPct val="100000"/>
              <a:buFont typeface="+mj-lt"/>
              <a:buAutoNum type="arabicPeriod" startAt="1"/>
            </a:pPr>
            <a:r>
              <a:rPr lang="en-US" sz="1400" b="1" dirty="0">
                <a:solidFill>
                  <a:srgbClr val="5B2C91"/>
                </a:solidFill>
                <a:latin typeface="Calibri" pitchFamily="34" charset="0"/>
                <a:ea typeface="Calibri" pitchFamily="34" charset="-122"/>
                <a:cs typeface="Calibri" pitchFamily="34" charset="-120"/>
              </a:rPr>
              <a:t>MONITOR</a:t>
            </a:r>
            <a:endParaRPr lang="en-US" sz="1400" dirty="0"/>
          </a:p>
          <a:p>
            <a:pPr marL="342900" indent="-342900">
              <a:spcAft>
                <a:spcPts val="500"/>
              </a:spcAft>
              <a:buSzPct val="100000"/>
              <a:buFont typeface="+mj-lt"/>
              <a:buAutoNum type="arabicPeriod" startAt="1"/>
            </a:pPr>
            <a:r>
              <a:rPr lang="en-US" sz="1400" b="1" dirty="0">
                <a:solidFill>
                  <a:srgbClr val="5B2C91"/>
                </a:solidFill>
                <a:latin typeface="Calibri" pitchFamily="34" charset="0"/>
                <a:ea typeface="Calibri" pitchFamily="34" charset="-122"/>
                <a:cs typeface="Calibri" pitchFamily="34" charset="-120"/>
              </a:rPr>
              <a:t>KEYBOARD</a:t>
            </a:r>
            <a:endParaRPr lang="en-US" sz="1400" dirty="0"/>
          </a:p>
          <a:p>
            <a:pPr marL="342900" indent="-342900">
              <a:spcAft>
                <a:spcPts val="500"/>
              </a:spcAft>
              <a:buSzPct val="100000"/>
              <a:buFont typeface="+mj-lt"/>
              <a:buAutoNum type="arabicPeriod" startAt="1"/>
            </a:pPr>
            <a:r>
              <a:rPr lang="en-US" sz="1400" b="1" dirty="0">
                <a:solidFill>
                  <a:srgbClr val="5B2C91"/>
                </a:solidFill>
                <a:latin typeface="Calibri" pitchFamily="34" charset="0"/>
                <a:ea typeface="Calibri" pitchFamily="34" charset="-122"/>
                <a:cs typeface="Calibri" pitchFamily="34" charset="-120"/>
              </a:rPr>
              <a:t>MOUSE</a:t>
            </a:r>
            <a:endParaRPr lang="en-US" sz="1400" dirty="0"/>
          </a:p>
        </p:txBody>
      </p:sp>
      <p:sp>
        <p:nvSpPr>
          <p:cNvPr id="7" name="Shape 5"/>
          <p:cNvSpPr/>
          <p:nvPr/>
        </p:nvSpPr>
        <p:spPr>
          <a:xfrm>
            <a:off x="4389120" y="960120"/>
            <a:ext cx="4389120" cy="3749040"/>
          </a:xfrm>
          <a:prstGeom prst="rect">
            <a:avLst/>
          </a:prstGeom>
          <a:solidFill>
            <a:srgbClr val="E8F4F8"/>
          </a:solidFill>
          <a:ln w="12700">
            <a:solidFill>
              <a:srgbClr val="1B8FA8"/>
            </a:solidFill>
            <a:prstDash val="solid"/>
          </a:ln>
        </p:spPr>
      </p:sp>
      <p:sp>
        <p:nvSpPr>
          <p:cNvPr id="8" name="Shape 6"/>
          <p:cNvSpPr/>
          <p:nvPr/>
        </p:nvSpPr>
        <p:spPr>
          <a:xfrm>
            <a:off x="4389120" y="960120"/>
            <a:ext cx="73152" cy="3749040"/>
          </a:xfrm>
          <a:prstGeom prst="rect">
            <a:avLst/>
          </a:prstGeom>
          <a:solidFill>
            <a:srgbClr val="1B8FA8"/>
          </a:solidFill>
          <a:ln/>
        </p:spPr>
      </p:sp>
      <p:sp>
        <p:nvSpPr>
          <p:cNvPr id="9" name="Text 7"/>
          <p:cNvSpPr txBox="1"/>
          <p:nvPr/>
        </p:nvSpPr>
        <p:spPr>
          <a:xfrm>
            <a:off x="4617720" y="1005840"/>
            <a:ext cx="4023360" cy="274320"/>
          </a:xfrm>
          <a:prstGeom prst="rect">
            <a:avLst/>
          </a:prstGeom>
          <a:noFill/>
          <a:ln/>
        </p:spPr>
        <p:txBody>
          <a:bodyPr wrap="square" lIns="0" tIns="0" rIns="0" bIns="0" rtlCol="0" anchor="ctr"/>
          <a:lstStyle/>
          <a:p>
            <a:pPr indent="0" marL="0">
              <a:buNone/>
            </a:pPr>
            <a:r>
              <a:rPr lang="en-US" sz="1000" b="1" dirty="0">
                <a:solidFill>
                  <a:srgbClr val="1B8FA8"/>
                </a:solidFill>
              </a:rPr>
              <a:t>IN SHORT</a:t>
            </a:r>
            <a:endParaRPr lang="en-US" sz="1000" dirty="0"/>
          </a:p>
        </p:txBody>
      </p:sp>
      <p:sp>
        <p:nvSpPr>
          <p:cNvPr id="10" name="Text 8"/>
          <p:cNvSpPr txBox="1"/>
          <p:nvPr/>
        </p:nvSpPr>
        <p:spPr>
          <a:xfrm>
            <a:off x="4617720" y="1325880"/>
            <a:ext cx="4023360"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Cabinet box with SMPS – Case + power supply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MOTHER BOARD – Main circuit board</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MICROPROCESSOR – CPU – the brain</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HARD DISK – Permanent storage</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RAM – Temporary memory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DVD /WRITER – Reads/writes discs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MONITOR – Output display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KEYBOARD – Input – typing</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MOUSE – Input – pointing</a:t>
            </a:r>
            <a:endParaRPr lang="en-US" sz="1300" dirty="0"/>
          </a:p>
        </p:txBody>
      </p:sp>
      <p:sp>
        <p:nvSpPr>
          <p:cNvPr id="11" name="Text 9"/>
          <p:cNvSpPr txBox="1"/>
          <p:nvPr/>
        </p:nvSpPr>
        <p:spPr>
          <a:xfrm>
            <a:off x="365760" y="4754880"/>
            <a:ext cx="8412480" cy="274320"/>
          </a:xfrm>
          <a:prstGeom prst="rect">
            <a:avLst/>
          </a:prstGeom>
          <a:noFill/>
          <a:ln/>
        </p:spPr>
        <p:txBody>
          <a:bodyPr wrap="square" lIns="0" tIns="0" rIns="0" bIns="0" rtlCol="0" anchor="ctr"/>
          <a:lstStyle/>
          <a:p>
            <a:pPr indent="0" marL="0">
              <a:buNone/>
            </a:pPr>
            <a:r>
              <a:rPr lang="en-US" sz="1000" i="1" dirty="0">
                <a:solidFill>
                  <a:srgbClr val="555555"/>
                </a:solidFill>
              </a:rPr>
              <a:t>A computer is made of hardware parts. Internal parts sit inside the cabinet; the monitor, keyboard and mouse are connected outside.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Cabinet Box with SMPS</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1.png">    </p:cNvPr>
          <p:cNvPicPr>
            <a:picLocks noChangeAspect="1"/>
          </p:cNvPicPr>
          <p:nvPr/>
        </p:nvPicPr>
        <p:blipFill>
          <a:blip r:embed="rId1"/>
          <a:stretch>
            <a:fillRect/>
          </a:stretch>
        </p:blipFill>
        <p:spPr>
          <a:xfrm>
            <a:off x="365760" y="1806676"/>
            <a:ext cx="4480560" cy="2055928"/>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The cabinet (case) is the metal box that holds and protects all internal parts and keeps them in position with screws and drive bays.</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SMPS (Switched Mode Power Supply) is the metal box with a fan at the back. It converts 220 V AC from the wall socket into low-voltage DC (12 V, 5 V, 3.3 V) needed by the motherboard, hard disk and drives.</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Its many coloured wires end in connectors for the motherboard (ATX), hard disk (SATA/Molex) and CPU fan.</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The fan inside keeps the SMPS cool; the two sockets at the back are for power input.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Mother Board</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2.png">    </p:cNvPr>
          <p:cNvPicPr>
            <a:picLocks noChangeAspect="1"/>
          </p:cNvPicPr>
          <p:nvPr/>
        </p:nvPicPr>
        <p:blipFill>
          <a:blip r:embed="rId1"/>
          <a:stretch>
            <a:fillRect/>
          </a:stretch>
        </p:blipFill>
        <p:spPr>
          <a:xfrm>
            <a:off x="365760" y="1574351"/>
            <a:ext cx="4480560" cy="2520578"/>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The motherboard is the main circuit board to which every other part is connected.</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It has a CPU socket (centre), RAM slots (red, left), expansion slots for graphics and other cards (top), SATA ports for drives, and a large power connector.</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Heat sinks (red) cool the chipset and power circuits.</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It carries data and power between components through printed tracks called buses.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Mother Board – Back Panel Ports</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3.png">    </p:cNvPr>
          <p:cNvPicPr>
            <a:picLocks noChangeAspect="1"/>
          </p:cNvPicPr>
          <p:nvPr/>
        </p:nvPicPr>
        <p:blipFill>
          <a:blip r:embed="rId1"/>
          <a:stretch>
            <a:fillRect/>
          </a:stretch>
        </p:blipFill>
        <p:spPr>
          <a:xfrm>
            <a:off x="365760" y="1965020"/>
            <a:ext cx="4480560" cy="1739241"/>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The back panel is where external devices are plugged in.</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PS/2 port (purple/green): old keyboard or mouse. USB ports: keyboard, mouse, pen drive, printer; blue ones are faster USB 3.0.</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VGA (blue) and DVI (white) ports connect the monitor; HDMI sends video and sound.</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RJ-45 LAN port: network cable. Coloured round jacks: audio – blue line-in, green speaker out, pink microphone.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Microprocessor</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4.png">    </p:cNvPr>
          <p:cNvPicPr>
            <a:picLocks noChangeAspect="1"/>
          </p:cNvPicPr>
          <p:nvPr/>
        </p:nvPicPr>
        <p:blipFill>
          <a:blip r:embed="rId1"/>
          <a:stretch>
            <a:fillRect/>
          </a:stretch>
        </p:blipFill>
        <p:spPr>
          <a:xfrm>
            <a:off x="365760" y="1750435"/>
            <a:ext cx="4480560" cy="2168410"/>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The microprocessor (CPU) is the brain of the computer. It performs calculations and executes every instruction.</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The underside shows hundreds of gold contact points that touch the socket on the motherboard.</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Its speed is measured in GHz and its power by the number of cores. Common makers are Intel and AMD.</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It becomes hot, so a heat sink and fan are always fitted on top.</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RAM</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5.png">    </p:cNvPr>
          <p:cNvPicPr>
            <a:picLocks noChangeAspect="1"/>
          </p:cNvPicPr>
          <p:nvPr/>
        </p:nvPicPr>
        <p:blipFill>
          <a:blip r:embed="rId1"/>
          <a:stretch>
            <a:fillRect/>
          </a:stretch>
        </p:blipFill>
        <p:spPr>
          <a:xfrm>
            <a:off x="365760" y="1820729"/>
            <a:ext cx="4480560" cy="2027822"/>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RAM (Random Access Memory) is the computer's temporary working memory.</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Programs and data in use are loaded into RAM from the hard disk so the CPU can reach them quickly.</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It is volatile: everything is lost when power is switched off.</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The stick has a notch so it fits only in the correct slot. More RAM lets more programs run smoothly.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Microprocessor – CPU on the Motherboard</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6.png">    </p:cNvPr>
          <p:cNvPicPr>
            <a:picLocks noChangeAspect="1"/>
          </p:cNvPicPr>
          <p:nvPr/>
        </p:nvPicPr>
        <p:blipFill>
          <a:blip r:embed="rId1"/>
          <a:stretch>
            <a:fillRect/>
          </a:stretch>
        </p:blipFill>
        <p:spPr>
          <a:xfrm>
            <a:off x="365760" y="1402404"/>
            <a:ext cx="4480560" cy="2864471"/>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The CPU is fitted in the CPU socket and held down by a metal lever or clip.</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 cooling heat sink with fan is placed over it with thermal paste in between.</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Around it are the RAM slots and capacitors that supply stable power.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hard Disk</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7.png">    </p:cNvPr>
          <p:cNvPicPr>
            <a:picLocks noChangeAspect="1"/>
          </p:cNvPicPr>
          <p:nvPr/>
        </p:nvPicPr>
        <p:blipFill>
          <a:blip r:embed="rId1"/>
          <a:stretch>
            <a:fillRect/>
          </a:stretch>
        </p:blipFill>
        <p:spPr>
          <a:xfrm>
            <a:off x="365760" y="1892640"/>
            <a:ext cx="4480560" cy="1883999"/>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The hard disk is the permanent storage of the computer: Windows, software, documents, photos and videos are saved on it.</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Data stays even when the computer is off.</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It connects to the motherboard through a data cable – the wide grey ribbon cable (IDE) or the thin red cable (SATA) – and also needs a power cable.</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Capacity is measured in GB or TB (this example is 1 TB).</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Hard Disk – SATA Data and Power Cable</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8.png">    </p:cNvPr>
          <p:cNvPicPr>
            <a:picLocks noChangeAspect="1"/>
          </p:cNvPicPr>
          <p:nvPr/>
        </p:nvPicPr>
        <p:blipFill>
          <a:blip r:embed="rId1"/>
          <a:stretch>
            <a:fillRect/>
          </a:stretch>
        </p:blipFill>
        <p:spPr>
          <a:xfrm>
            <a:off x="365760" y="1362841"/>
            <a:ext cx="4480560" cy="2943598"/>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SATA hard drive: the green board underneath is the controller that manages reading and writing.</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SATA DATA cable (red): carries data between the disk and the motherboard.</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SATA POWER cable (coloured wires): brings power from the SMPS.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Both cables must be connected for the disk to work.</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DVD/WRITER</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9.png">    </p:cNvPr>
          <p:cNvPicPr>
            <a:picLocks noChangeAspect="1"/>
          </p:cNvPicPr>
          <p:nvPr/>
        </p:nvPicPr>
        <p:blipFill>
          <a:blip r:embed="rId1"/>
          <a:stretch>
            <a:fillRect/>
          </a:stretch>
        </p:blipFill>
        <p:spPr>
          <a:xfrm>
            <a:off x="365760" y="1538937"/>
            <a:ext cx="4480560" cy="2591406"/>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A DVD writer reads and writes CDs and DVDs using a laser, and is used to install software, play discs and make backups.</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It sits in the front 5.25-inch bay of the cabinet and, like the hard disk, needs a data cable and a power cable.</a:t>
            </a:r>
            <a:endParaRPr lang="en-US" sz="1250" dirty="0"/>
          </a:p>
          <a:p>
            <a:pPr marL="342900" indent="-342900">
              <a:spcAft>
                <a:spcPts val="600"/>
              </a:spcAft>
              <a:buSzPct val="100000"/>
              <a:buChar char="•"/>
            </a:pPr>
            <a:r>
              <a:rPr lang="en-US" sz="1250" dirty="0">
                <a:solidFill>
                  <a:srgbClr val="1A1A1A"/>
                </a:solidFill>
                <a:latin typeface="Calibri" pitchFamily="34" charset="0"/>
                <a:ea typeface="Calibri" pitchFamily="34" charset="-122"/>
                <a:cs typeface="Calibri" pitchFamily="34" charset="-120"/>
              </a:rPr>
              <a:t>The picture on the original slide shows an older drive with an IDE (40-pin) data connector and a 4-pin Molex power socket.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MONITOR</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10.png">    </p:cNvPr>
          <p:cNvPicPr>
            <a:picLocks noChangeAspect="1"/>
          </p:cNvPicPr>
          <p:nvPr/>
        </p:nvPicPr>
        <p:blipFill>
          <a:blip r:embed="rId1"/>
          <a:stretch>
            <a:fillRect/>
          </a:stretch>
        </p:blipFill>
        <p:spPr>
          <a:xfrm>
            <a:off x="365760" y="1429279"/>
            <a:ext cx="4480560" cy="2810722"/>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The monitor is the main output device; it displays text, pictures and video produced by the computer.</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It connects to the computer through VGA, DVI or HDMI cable and needs its own power supply.</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Screen size is measured diagonally in inches. Modern monitors are LCD/LED.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Keyboard</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11.png">    </p:cNvPr>
          <p:cNvPicPr>
            <a:picLocks noChangeAspect="1"/>
          </p:cNvPicPr>
          <p:nvPr/>
        </p:nvPicPr>
        <p:blipFill>
          <a:blip r:embed="rId1"/>
          <a:stretch>
            <a:fillRect/>
          </a:stretch>
        </p:blipFill>
        <p:spPr>
          <a:xfrm>
            <a:off x="365760" y="1999315"/>
            <a:ext cx="4480560" cy="1670649"/>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The keyboard is the main input device used to type text, numbers and commands.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It has alphabet keys, number keys, function keys, Shift, Ctrl, Alt, Enter, Backspace and Space Bar.</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The common QWERTY layout is named after the first six letters in the top row.</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It connects through a USB or PS/2 port.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MOUSE</a:t>
            </a:r>
            <a:endParaRPr lang="en-US" sz="2600" dirty="0"/>
          </a:p>
        </p:txBody>
      </p:sp>
      <p:sp>
        <p:nvSpPr>
          <p:cNvPr id="4" name="Shape 2"/>
          <p:cNvSpPr/>
          <p:nvPr/>
        </p:nvSpPr>
        <p:spPr>
          <a:xfrm>
            <a:off x="365760" y="960120"/>
            <a:ext cx="4480560" cy="3749040"/>
          </a:xfrm>
          <a:prstGeom prst="rect">
            <a:avLst/>
          </a:prstGeom>
          <a:solidFill>
            <a:srgbClr val="F3F5F8"/>
          </a:solidFill>
          <a:ln w="12700">
            <a:solidFill>
              <a:srgbClr val="D5DBE3"/>
            </a:solidFill>
            <a:prstDash val="solid"/>
          </a:ln>
        </p:spPr>
      </p:sp>
      <p:pic>
        <p:nvPicPr>
          <p:cNvPr id="5" name="Image 0" descr="c/12.png">    </p:cNvPr>
          <p:cNvPicPr>
            <a:picLocks noChangeAspect="1"/>
          </p:cNvPicPr>
          <p:nvPr/>
        </p:nvPicPr>
        <p:blipFill>
          <a:blip r:embed="rId1"/>
          <a:stretch>
            <a:fillRect/>
          </a:stretch>
        </p:blipFill>
        <p:spPr>
          <a:xfrm>
            <a:off x="365760" y="1831596"/>
            <a:ext cx="4480560" cy="2006089"/>
          </a:xfrm>
          <a:prstGeom prst="rect">
            <a:avLst/>
          </a:prstGeom>
        </p:spPr>
      </p:pic>
      <p:sp>
        <p:nvSpPr>
          <p:cNvPr id="6" name="Shape 3"/>
          <p:cNvSpPr/>
          <p:nvPr/>
        </p:nvSpPr>
        <p:spPr>
          <a:xfrm>
            <a:off x="5029200" y="960120"/>
            <a:ext cx="3749040" cy="3749040"/>
          </a:xfrm>
          <a:prstGeom prst="rect">
            <a:avLst/>
          </a:prstGeom>
          <a:solidFill>
            <a:srgbClr val="E8F4F8"/>
          </a:solidFill>
          <a:ln w="12700">
            <a:solidFill>
              <a:srgbClr val="1B8FA8"/>
            </a:solidFill>
            <a:prstDash val="solid"/>
          </a:ln>
        </p:spPr>
      </p:sp>
      <p:sp>
        <p:nvSpPr>
          <p:cNvPr id="7" name="Shape 4"/>
          <p:cNvSpPr/>
          <p:nvPr/>
        </p:nvSpPr>
        <p:spPr>
          <a:xfrm>
            <a:off x="5029200" y="960120"/>
            <a:ext cx="73152" cy="3749040"/>
          </a:xfrm>
          <a:prstGeom prst="rect">
            <a:avLst/>
          </a:prstGeom>
          <a:solidFill>
            <a:srgbClr val="1B8FA8"/>
          </a:solidFill>
          <a:ln/>
        </p:spPr>
      </p:sp>
      <p:sp>
        <p:nvSpPr>
          <p:cNvPr id="8" name="Text 5"/>
          <p:cNvSpPr txBox="1"/>
          <p:nvPr/>
        </p:nvSpPr>
        <p:spPr>
          <a:xfrm>
            <a:off x="5257800" y="1005840"/>
            <a:ext cx="3383280" cy="274320"/>
          </a:xfrm>
          <a:prstGeom prst="rect">
            <a:avLst/>
          </a:prstGeom>
          <a:noFill/>
          <a:ln/>
        </p:spPr>
        <p:txBody>
          <a:bodyPr wrap="square" lIns="0" tIns="0" rIns="0" bIns="0" rtlCol="0" anchor="ctr"/>
          <a:lstStyle/>
          <a:p>
            <a:pPr indent="0" marL="0">
              <a:buNone/>
            </a:pPr>
            <a:r>
              <a:rPr lang="en-US" sz="1000" b="1" dirty="0">
                <a:solidFill>
                  <a:srgbClr val="1B8FA8"/>
                </a:solidFill>
              </a:rPr>
              <a:t>IN DETAIL</a:t>
            </a:r>
            <a:endParaRPr lang="en-US" sz="1000" dirty="0"/>
          </a:p>
        </p:txBody>
      </p:sp>
      <p:sp>
        <p:nvSpPr>
          <p:cNvPr id="9" name="Text 6"/>
          <p:cNvSpPr txBox="1"/>
          <p:nvPr/>
        </p:nvSpPr>
        <p:spPr>
          <a:xfrm>
            <a:off x="5257800" y="1325880"/>
            <a:ext cx="338328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The mouse is a pointing input device that moves the pointer on the screen.</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Left button: select and open. Right button: shortcut menu. Scroll wheel: move up and down a page.</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It connects through a USB port (or wirelessly) and uses an optical sensor to detect movement.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3A5F"/>
          </a:solidFill>
          <a:ln/>
        </p:spPr>
      </p:sp>
      <p:sp>
        <p:nvSpPr>
          <p:cNvPr id="3" name="Text 1"/>
          <p:cNvSpPr txBox="1"/>
          <p:nvPr/>
        </p:nvSpPr>
        <p:spPr>
          <a:xfrm>
            <a:off x="365760" y="9144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Summary</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560320"/>
                <a:gridCol w="1280160"/>
                <a:gridCol w="43891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Part</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Main job</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1F3A5F"/>
                    </a:solidFill>
                  </a:tcPr>
                </a:tc>
              </a:tr>
              <a:tr h="3657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Cabinet Box with SMPS</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Internal</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Holds all parts; SMPS supplies DC power</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657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Mother Board</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Internal</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Connects all components</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657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Microprocessor</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Internal</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Processes instructions (brain)</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657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RAM</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Internal</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Temporary working memory</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657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Hard Disk</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Internal</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Permanent data storage</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657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DVD/Writer</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Internal</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Reads and writes discs</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657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Monitor</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Displays results</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657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Keyboard</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Types text and commands</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657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Mouse</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Moves pointer, selects items</a:t>
                      </a:r>
                      <a:endParaRPr lang="en-US" sz="1300" dirty="0">
                        <a:latin typeface="Calibri" charset="0"/>
                        <a:ea typeface="Calibri" charset="0"/>
                        <a:cs typeface="Calibri" charset="0"/>
                      </a:endParaRPr>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2026-10-13T02:19:10Z</dcterms:created>
  <dcterms:modified xsi:type="dcterms:W3CDTF">2026-10-13T02:19:10Z</dcterms:modified>
</cp:coreProperties>
</file>