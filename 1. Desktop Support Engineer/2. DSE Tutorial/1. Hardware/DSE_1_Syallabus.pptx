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385ec8e5-0dd1-512b-9f2d-035a6652ff00}">
          <p14:sldIdLst>
            <p14:sldId id="256"/>
            <p14:sldId id="257"/>
          </p14:sldIdLst>
        </p14:section>
        <p14:section name="Hardware" id="{aca2042e-3339-1011-d691-84f0ac00c78f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Networking" id="{b104fdcb-ee51-7d89-55b2-0e0825dc4542}">
          <p14:sldIdLst>
            <p14:sldId id="264"/>
            <p14:sldId id="265"/>
            <p14:sldId id="266"/>
            <p14:sldId id="267"/>
          </p14:sldIdLst>
        </p14:section>
        <p14:section name="CCNA Basic" id="{8d545168-38ea-5090-b943-8eb2de989559}">
          <p14:sldIdLst>
            <p14:sldId id="268"/>
            <p14:sldId id="269"/>
            <p14:sldId id="270"/>
            <p14:sldId id="271"/>
            <p14:sldId id="272"/>
          </p14:sldIdLst>
        </p14:section>
        <p14:section name="Firewall Basic" id="{e54ee739-8dcc-fe98-51f5-2d341d00c3b5}">
          <p14:sldIdLst>
            <p14:sldId id="273"/>
            <p14:sldId id="274"/>
            <p14:sldId id="275"/>
          </p14:sldIdLst>
        </p14:section>
        <p14:section name="MCSA Basic" id="{41fa7f8e-4c31-37a8-7c5f-30ff7d55698a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Virtualization, Outlook" id="{5152da8b-f991-8d03-077a-b0fc8720865d}">
          <p14:sldIdLst>
            <p14:sldId id="283"/>
            <p14:sldId id="284"/>
            <p14:sldId id="285"/>
          </p14:sldIdLst>
        </p14:section>
        <p14:section name="MAC, Linux" id="{ec2fa59b-e0fb-a653-6dd3-88c737da3abb}">
          <p14:sldIdLst>
            <p14:sldId id="286"/>
            <p14:sldId id="287"/>
            <p14:sldId id="288"/>
          </p14:sldIdLst>
        </p14:section>
        <p14:section name="Wrap-up" id="{87e99dd2-4648-73d1-8684-e58e2ce7b9b8}">
          <p14:sldIdLst>
            <p14:sldId id="289"/>
          </p14:sldIdLst>
        </p14:section>
        <p14:section name="Close" id="{2b8b4e0d-95ab-8c04-e407-b1d0cf8d30c1}">
          <p14:sldIdLst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Course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8EA"/>
                </a:solidFill>
              </a:rPr>
              <a:t>Course Full Details, explained topic by topic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HARDWARE · NETWORKING · CCNA · MCSA · LINUX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 flipH="1">
            <a:off x="7406640" y="1417320"/>
            <a:ext cx="1051560" cy="1508760"/>
          </a:xfrm>
          <a:prstGeom prst="line">
            <a:avLst/>
          </a:prstGeom>
          <a:noFill/>
          <a:ln w="25400">
            <a:solidFill>
              <a:srgbClr val="4C6A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172200" y="2926080"/>
            <a:ext cx="1234440" cy="1051560"/>
          </a:xfrm>
          <a:prstGeom prst="line">
            <a:avLst/>
          </a:prstGeom>
          <a:noFill/>
          <a:ln w="25400">
            <a:solidFill>
              <a:srgbClr val="4C6A8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7406640" y="2926080"/>
            <a:ext cx="1051560" cy="1051560"/>
          </a:xfrm>
          <a:prstGeom prst="line">
            <a:avLst/>
          </a:prstGeom>
          <a:noFill/>
          <a:ln w="25400">
            <a:solidFill>
              <a:srgbClr val="4C6A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234440"/>
            <a:ext cx="1143000" cy="1691640"/>
          </a:xfrm>
          <a:prstGeom prst="line">
            <a:avLst/>
          </a:prstGeom>
          <a:noFill/>
          <a:ln w="25400">
            <a:solidFill>
              <a:srgbClr val="4C6A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2468880"/>
            <a:ext cx="914400" cy="91440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102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91440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1024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1097280"/>
            <a:ext cx="640080" cy="640080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1024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3657600"/>
            <a:ext cx="640080" cy="640080"/>
          </a:xfrm>
          <a:prstGeom prst="ellipse">
            <a:avLst/>
          </a:prstGeom>
          <a:solidFill>
            <a:schemeClr val="accent4"/>
          </a:solidFill>
          <a:ln w="38100">
            <a:solidFill>
              <a:srgbClr val="1024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365760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10243E"/>
            </a:solidFill>
            <a:prstDash val="solid"/>
          </a:ln>
        </p:spPr>
      </p:sp>
      <p:sp>
        <p:nvSpPr>
          <p:cNvPr id="14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Course: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00584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✓  Hardware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✓  Networking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✓  CCNA Basic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✓  MCSA Basic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✓  Outlook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✓  MAC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✓  Linux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✓  Troubleshooting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✓  Q &amp; A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A9D18E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****************Course Full Details *************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Hardware: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73152" cy="3429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3703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Internal Part Of Computer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Mother Bord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Microprocessor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Memory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Storage ( HDD/SSD)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09160" y="1143000"/>
            <a:ext cx="73152" cy="3429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1143000"/>
            <a:ext cx="3703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BIOS  (Basic Input Output System)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Operating System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Windows Installation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Linux Installation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Windows Tools ( Control Panel)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explained (1 of 5)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Part Of Computer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components inside the computer cabinet that work together to run programs.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Motherboard, CPU, RAM and storage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Power supply (SMPS) and cooling fans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Expansion cards: graphics, sound, network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Mother Bord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main circuit board. Every other part plugs into it, and it lets them talk to each other.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CPU socket, RAM slots, expansion slots, ports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Chipset manages data flow between parts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Sizes (form factors): ATX, Micro ATX, ITX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explained (2 of 5)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Microprocessor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CPU, the brain of the computer. It fetches, decodes and executes instructions.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Speed is measured in GHz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Cores let it do several tasks at once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Main makers: Intel and AMD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RAM is the temporary working space that holds running programs and data for the CPU.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Volatile: data is lost when power is off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Types: DDR3, DDR4, DDR5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More RAM lets more programs run smoothly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explained (3 of 5)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( HDD/SSD)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Permanent storage for the operating system, programs and files.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HDD: spinning magnetic disks, cheaper, slower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SSD: flash memory, no moving parts, much faster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Connect by SATA or NVMe (M.2)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BIOS  (Basic Input Output System)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Firmware on the motherboard that runs first when the computer is switched on.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Runs POST to test the hardware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Finds the boot device and starts the OS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Boot order, date and time are set in BIOS setup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explained (4 of 5)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Software that manages the hardware and lets users and applications use the computer.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Manages memory, files, processes and devices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Provides the user interface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Examples: Windows, Linux, macOS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Installation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Putting Windows on a computer from a bootable USB or DVD.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Set the boot device in BIOS and boot the installer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Create partitions and format the disk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Choose edition, create a user, install drivers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explained (5 of 5)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Installation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Installing a Linux distribution on a computer or virtual machine.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Write the ISO to a bootable USB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Choose language and partitions (/, swap, /home)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Create a user and install the boot loader (GRUB)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Tools ( Control Panel)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Control Panel is the classic Windows place to change system settings.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Programs and Features: install or remove apps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Device Manager, Network and User Accounts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Newer Windows also has the Settings app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Networking: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73152" cy="3429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7955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Networking Concept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Networking Media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Networking Device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Virus  &amp;  Antivirus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Computer Address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Workgroup  Vs  Domain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explained (1 of 3)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Concept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Connecting computers and devices so they can share data and resources.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Types: LAN, MAN and WAN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Topologies: bus, star, ring, mesh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Models: client-server and peer-to-peer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Media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path that carries signals between devices.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Copper: UTP cable (Cat5e, Cat6) with RJ-45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Fibre optic: light signals, long distance, high speed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Wireless: Wi-Fi and Bluetooth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explained (2 of 3)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Device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Hardware that connects computers and controls how data moves.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Hub: repeats data to every port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Switch: forwards data by MAC address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Router: connects different networks by IP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Access point: provides Wi-Fi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Virus  &amp;  Antivirus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virus is harmful code that spreads and damages data. Antivirus finds and removes it.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Types: virus, worm, trojan, ransomware, spyware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Spreads by email attachments, USB drives, downloads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Antivirus scans and needs regular updates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explained (3 of 3)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Address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Identifiers that locate a computer on a network.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IP address: logical, e.g. 192.168.1.10 (IPv4)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MAC address: physical, 48-bit, fixed in the NIC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Hostname: friendly name resolved by DNS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Workgroup  Vs  Domain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Two ways to organise computers in a network.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Workgroup: peer-to-peer, each PC has its own accounts, small networks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Domain: a server (Active Directory) manages users and policies centrally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Domain scales to hundreds of computers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CCNA Basic: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73152" cy="3429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7955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OSI Model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Protocol (Routed)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Protocol (Routing)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✓ RIP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✓ OSPF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✓ EIGRP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NAT   Network Address Translation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VLAN (virtual local area network)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ACL   (Access Control list 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WLC   ( wireless LAN controller)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CCNA Basic explained (1 of 4)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Model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7-layer reference model that describes how data travels across a network.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Application, Presentation, Session, Transport, Network, Data Link, Physical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Each layer has one job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Helps troubleshoot layer by layer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(Routed)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Protocols that carry user data and can be forwarded from network to network.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Example: IP (IPv4 and IPv6)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Packets carry source and destination addresses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Routers forward them by destination network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(Routing): RIP, OSPF, EIGRP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Routing protocols let routers learn about networks and choose the best path to each.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457200" y="1874520"/>
            <a:ext cx="2651760" cy="28346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1168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79192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Routing Information Protocol. Distance-vector.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Metric: hop count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Maximum 15 hops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Simple, slow to converge, small networks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3246120" y="1874520"/>
            <a:ext cx="2651760" cy="28346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201168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OSPF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679192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Open Shortest Path First. Link-state.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 standard, many vendors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Metric: cost, built on areas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 convergence, large networks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035040" y="1874520"/>
            <a:ext cx="2651760" cy="28346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011680"/>
            <a:ext cx="731520" cy="6400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EIGRP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679192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Enhanced Interior Gateway Routing Protocol.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Cisco advanced distance-vector (hybrid)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Metric uses bandwidth and delay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 convergence, easy to configure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CCNA Basic explained (3 of 4)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   Network Address Translation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Translates private IP addresses to a public address so many devices share one Internet connection.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Static NAT, Dynamic NAT and PAT (overload)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Hides internal addresses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Configured on a router or firewall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VLAN (virtual local area network)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Splits one physical switch into separate logical networks.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Each VLAN is its own broadcast domain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Less broadcast traffic and better security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Inter-VLAN routing links VLANs; trunk ports carry many VLANs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CCNA Basic explained (4 of 4)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ACL   (Access Control list 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list of permit or deny rules that filters traffic on a router or switch.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Checked top to bottom, first match wins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Standard (source) and Extended (source, destination, port)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Implicit deny at the end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WLC   ( wireless LAN controller)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central device that manages many wireless access points.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Controls SSIDs, security and AP settings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Handles roaming between access points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Manages lightweight APs through CAPWAP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 Basic: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73152" cy="3429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7955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What is Firewall?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How it Work Firewall?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How to Install Palo Alto Firewall In VMware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Configuration Palo Alto Firewall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 Basic explained (1 of 2)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Firewall?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security device or software that controls traffic between a trusted network and an untrusted one such as the Internet.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Can be hardware or software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Allows or blocks traffic by rules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Examples: Palo Alto, Cisco ASA, Windows Firewall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 Firewall?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It inspects each packet or session and compares it with its rule list.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Packet filtering: IP address, port, protocol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Stateful inspection tracks connections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Next-generation firewalls also see applications and users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 Basic explained (2 of 2)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Install Palo Alto Firewall In VMware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Run the Palo Alto VM-Series firewall as a virtual machine to practise.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Import the image into VMware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Add network adapters for management and data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Power on, log in on the console, set the management IP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Palo Alto Firewall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Setting up the firewall so it passes and blocks the right traffic.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Configure interfaces and security zones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Create security policies and NAT rules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Commit the changes to apply them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MCSA Basic: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73152" cy="3429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3703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Active Directory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Domain Controller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✓ ADC  ,  RODC , CDC ,Root DC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FSMO Role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DHCP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DNS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Remote Desktop / Access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09160" y="1143000"/>
            <a:ext cx="73152" cy="3429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1143000"/>
            <a:ext cx="3703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Group Policy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MMC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WDS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File Service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✓ FSRM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✓ DFS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MCSA Basic explained (1 of 6)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Directory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Microsoft directory service that stores users, computers and groups and controls access in a domain.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One login for the whole domain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Structure: forest, domain, OU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Runs on Windows Server (AD DS)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FSMO Role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Flexible Single Master Operations: five special roles held by domain controllers.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Forest: Schema Master, Domain Naming Master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Domain: RID Master, PDC Emulator, Infrastructure Master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Each role is held by one DC at a time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Controller: ADC, RODC, CDC, Root DC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ADC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01952"/>
            <a:ext cx="3680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Additional Domain Controller. An extra DC in the same domain for backup and load sharing.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RODC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1901952"/>
            <a:ext cx="3680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Read-Only Domain Controller. Keeps a read-only copy, used in branch offices with weaker security.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457200" y="3017520"/>
            <a:ext cx="40462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154680"/>
            <a:ext cx="731520" cy="6400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291840"/>
            <a:ext cx="36804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CDC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76472"/>
            <a:ext cx="3680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Child Domain Controller. A DC of a child domain placed under a parent domain.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4640580" y="3017520"/>
            <a:ext cx="40462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23460" y="3154680"/>
            <a:ext cx="731520" cy="6400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23460" y="3291840"/>
            <a:ext cx="36804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DC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823460" y="3776472"/>
            <a:ext cx="3680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The first domain controller of the forest root domain.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MCSA Basic explained (3 of 6)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DHCP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Dynamic Host Configuration Protocol gives IP settings to devices automatically.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Leases IP address, mask, gateway and DNS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DORA: Discover, Offer, Request, Acknowledge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Scope sets the range; reservations fix addresses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Domain Name System translates names into IP addresses.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Forward lookup: name to IP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Reverse lookup: IP to name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Active Directory depends on DNS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MCSA Basic explained (4 of 6)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Desktop / Access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Connect to and control another computer or server over the network.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RDP uses TCP port 3389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Enable Remote Desktop and allow users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Remote Access can also mean VPN into the network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Policy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Central rules applied to users and computers in a domain.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GPOs link to a site, domain or OU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Examples: password rules, drive mapping, restrictions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gpupdate refreshes policies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MCSA Basic explained (5 of 6)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MMC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Microsoft Management Console. A window that hosts management tools called snap-ins.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Open it by typing mmc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Add snap-ins such as Computer Management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Save the console as an .msc file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WDS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Windows Deployment Services installs Windows on many computers over the network.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Clients boot using PXE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Serves boot and install images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Works with DHCP and Active Directory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Service: FSRM and DFS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File Service is the Windows Server role for sharing and managing files and folders.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457200" y="1874520"/>
            <a:ext cx="404622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1168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48840"/>
            <a:ext cx="3680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FSRM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79192"/>
            <a:ext cx="36804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File Server Resource Manager. Controls what is stored on file servers.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Quotas limit folder size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File screening blocks file types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Storage reports show usage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640580" y="1874520"/>
            <a:ext cx="404622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3460" y="201168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3460" y="2148840"/>
            <a:ext cx="3680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23460" y="2679192"/>
            <a:ext cx="36804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Distributed File System. Makes shared folders easier to reach and safer.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Namespace joins many shares into one path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Replication keeps copies in sync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Users do not need to know the server name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Virtualization technology / Outlook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73152" cy="3429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3703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Virtualization technology: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What is VMware?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Introduction virtualization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09160" y="1143000"/>
            <a:ext cx="73152" cy="3429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1143000"/>
            <a:ext cx="3703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Outlook: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Outlook Configuration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Outlook Troubleshooting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Virtualization technology explained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VMware?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company and software family for virtualization.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Workstation runs virtual machines on a PC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ESXi and vSphere run them on servers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Each virtual machine has its own operating system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virtualization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Running several virtual machines on one physical computer.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hypervisor shares CPU, RAM and storage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Saves hardware, power and cost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Snapshots make backup and testing easy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Outlook explained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Outlook Configuration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Setting up an email account in Outlook.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Needs email address, password and server type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IMAP or POP3 for incoming, SMTP for outgoing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Microsoft 365 and Exchange often set up automatically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Outlook Troubleshooting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Fixing common mail problems.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Cannot send or receive: check internet, password and server settings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Will not start: use safe mode or create a new profile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Repair damaged PST files with the Inbox Repair tool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 / Linux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73152" cy="3429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3703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 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Introduction to MAC   (iOS)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How to Install MAC (iOS)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Basic Configuration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09160" y="1143000"/>
            <a:ext cx="73152" cy="34290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1143000"/>
            <a:ext cx="3703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Introduction to Linux Operating System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How to install Linux iOS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Basic Configuration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 explained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2651760" cy="35204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MAC   (iOS)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67712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Mac is Apple's computer line. Its operating system is macOS.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Built on Unix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Finder, Dock and Spotlight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Apps come from the App Store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3246120" y="1143000"/>
            <a:ext cx="2651760" cy="35204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Install MAC (iOS)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267712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Installing or reinstalling the Mac system.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Start in macOS Recovery (Command + R)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Use Disk Utility to erase the disk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Choose Reinstall macOS, internet needed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035040" y="1143000"/>
            <a:ext cx="2651760" cy="35204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280160"/>
            <a:ext cx="731520" cy="6400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Configuration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267712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First settings after install.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Create a user, sign in with Apple ID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Connect to Wi-Fi in System Settings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Run Software Update, set up Time Machine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explained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2651760" cy="35204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Linux Operating System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67712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A free, open-source operating system built on the Linux kernel.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Used on servers, desktops and cloud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Distributions: Ubuntu, Red Hat, Debian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Terminal and graphical desktop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3246120" y="1143000"/>
            <a:ext cx="2651760" cy="35204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install Linux iOS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267712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Installing a Linux distribution (Linux, not iOS).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Download the ISO, make a bootable USB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Boot it and choose Install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Partition the disk, create a user, install GRUB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035040" y="1143000"/>
            <a:ext cx="2651760" cy="35204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280160"/>
            <a:ext cx="731520" cy="6400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Configuration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267712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First settings after install.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Set hostname and network (IP, DNS)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Manage users and permissions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Update packages with apt or dnf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Finding the cause of a problem and fixing it step by step.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Identify the problem and what changed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Think of the most likely cause and test it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Fix it, confirm it works, write it down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40580" y="1143000"/>
            <a:ext cx="404622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3460" y="1280160"/>
            <a:ext cx="731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417320"/>
            <a:ext cx="3680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is used in this course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2176272"/>
            <a:ext cx="36804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same method applies to every module above.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Hardware: no power, no display, beeps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Network: no IP, cannot reach the server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Outlook and operating systems: errors and slow start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8EA"/>
                </a:solidFill>
              </a:rPr>
              <a:t>Questions and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675120" y="3017520"/>
            <a:ext cx="1371600" cy="137160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1024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2103120"/>
            <a:ext cx="822960" cy="822960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10243E"/>
            </a:solidFill>
            <a:prstDash val="solid"/>
          </a:ln>
        </p:spPr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 Course">
  <a:themeElements>
    <a:clrScheme name="IT Course">
      <a:dk1>
        <a:srgbClr val="1B2433"/>
      </a:dk1>
      <a:lt1>
        <a:srgbClr val="FFFFFF"/>
      </a:lt1>
      <a:dk2>
        <a:srgbClr val="10243E"/>
      </a:dk2>
      <a:lt2>
        <a:srgbClr val="EDF2F8"/>
      </a:lt2>
      <a:accent1>
        <a:srgbClr val="2563A8"/>
      </a:accent1>
      <a:accent2>
        <a:srgbClr val="F28C28"/>
      </a:accent2>
      <a:accent3>
        <a:srgbClr val="14938A"/>
      </a:accent3>
      <a:accent4>
        <a:srgbClr val="7A5C99"/>
      </a:accent4>
      <a:accent5>
        <a:srgbClr val="C0392B"/>
      </a:accent5>
      <a:accent6>
        <a:srgbClr val="8A97A8"/>
      </a:accent6>
      <a:hlink>
        <a:srgbClr val="2563A8"/>
      </a:hlink>
      <a:folHlink>
        <a:srgbClr val="7A5C99"/>
      </a:folHlink>
    </a:clrScheme>
    <a:fontScheme name="IT Cour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Course: Full Details Explained</dc:title>
  <dc:subject>PptxGenJS Presentation</dc:subject>
  <dc:creator>PptxGenJS</dc:creator>
  <cp:lastModifiedBy>PptxGenJS</cp:lastModifiedBy>
  <cp:revision>1</cp:revision>
  <dcterms:created xsi:type="dcterms:W3CDTF">2026-10-13T01:52:14Z</dcterms:created>
  <dcterms:modified xsi:type="dcterms:W3CDTF">2026-10-13T01:52:14Z</dcterms:modified>
</cp:coreProperties>
</file>