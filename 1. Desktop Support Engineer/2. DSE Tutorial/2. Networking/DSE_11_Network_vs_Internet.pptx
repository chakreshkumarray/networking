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Introduction: this deck explains the difference between a network and the Internet, the main network types, and a sample home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Internet connects many separate networks. Think of it as the road system joining many private neighbourhoods.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recreated from the source screenshot. The router connects the private LAN to the ISP.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vs Internet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B"/>
                </a:solidFill>
              </a:rPr>
              <a:t>Understanding computer networks, LAN, MAN, WAN and how a home network connects to the world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54864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0"/>
            <a:ext cx="274320" cy="2743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23760" y="1097280"/>
            <a:ext cx="274320" cy="2743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network?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3F"/>
                </a:solidFill>
              </a:rPr>
              <a:t>A network is a group of two or more devices connected so they can share data and resources.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377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Share files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Move data between computers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Share devices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One printer for many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Communicate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Messages, calls, video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3383280"/>
          </a:xfrm>
          <a:prstGeom prst="roundRect">
            <a:avLst>
              <a:gd name="adj" fmla="val 3429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8C"/>
                </a:solidFill>
              </a:rPr>
              <a:t>Key idea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8308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2E3F"/>
                </a:solidFill>
              </a:rPr>
              <a:t>A network can be tiny (your home Wi-Fi) or huge. It is private and managed by one owner, such as a family, school or company.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E3F"/>
                </a:solidFill>
              </a:rPr>
              <a:t>The Internet is a global network of networks. Millions of private, public, business and government networks are linked together.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2E3F"/>
                </a:solidFill>
              </a:rPr>
              <a:t>Nobody owns it as a whole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2E3F"/>
                </a:solidFill>
              </a:rPr>
              <a:t>Runs on common rules called protocols (TCP/IP)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2E3F"/>
                </a:solidFill>
              </a:rPr>
              <a:t>You reach it through an ISP (Internet Service Provider)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2E3F"/>
                </a:solidFill>
              </a:rPr>
              <a:t>Enables the web, email, streaming and apps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1371600"/>
            <a:ext cx="1188720" cy="1188720"/>
          </a:xfrm>
          <a:prstGeom prst="ellipse">
            <a:avLst/>
          </a:prstGeom>
          <a:solidFill>
            <a:srgbClr val="0B2E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Net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0"/>
            <a:ext cx="1188720" cy="11887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Net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3108960"/>
            <a:ext cx="1188720" cy="1188720"/>
          </a:xfrm>
          <a:prstGeom prst="ellipse">
            <a:avLst/>
          </a:prstGeom>
          <a:solidFill>
            <a:srgbClr val="0B2E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Net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3108960"/>
            <a:ext cx="1188720" cy="11887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Net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1005840" cy="100584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560320"/>
            <a:ext cx="411480" cy="-91"/>
          </a:xfrm>
          <a:prstGeom prst="line">
            <a:avLst/>
          </a:prstGeom>
          <a:noFill/>
          <a:ln w="12700">
            <a:solidFill>
              <a:srgbClr val="4A5B6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vs Internet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Network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Internet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Connected devices sharing 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Global network of networks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Small to large, limited 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Worldwide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Ownership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One person or organisation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No single owner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Usually private, restricted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Public, via an ISP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Home Wi-Fi, office LAN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Web, email, streaming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C8C"/>
                </a:solidFill>
              </a:rPr>
              <a:t>Your network is a part of the Internet once it connects through an ISP.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networks by size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F"/>
                </a:solidFill>
              </a:rPr>
              <a:t>Local Area Network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A home, school or office building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63040"/>
            <a:ext cx="822960" cy="822960"/>
          </a:xfrm>
          <a:prstGeom prst="ellipse">
            <a:avLst/>
          </a:prstGeom>
          <a:solidFill>
            <a:srgbClr val="0B2E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F"/>
                </a:solidFill>
              </a:rPr>
              <a:t>Metropolitan Area Network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A whole city or large campus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822960" cy="82296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F"/>
                </a:solidFill>
              </a:rPr>
              <a:t>Wide Area Network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Countries and continents. The Internet is the largest WAN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 vs MAN vs WAN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WAN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Coverage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Room to building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City-wide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Country / global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Very 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Lower, varies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Single user or org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Org or city / telecom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Many, often ISPs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F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Home Wi-Fi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Cable TV network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F"/>
                          </a:solidFill>
                        </a:rPr>
                        <a:t>The Internet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home network, step by step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2011680"/>
            <a:ext cx="1554480" cy="1097280"/>
          </a:xfrm>
          <a:prstGeom prst="cloud">
            <a:avLst/>
          </a:prstGeom>
          <a:solidFill>
            <a:srgbClr val="B8C4C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B66"/>
                </a:solidFill>
              </a:rPr>
              <a:t>Public 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B66"/>
                </a:solidFill>
              </a:rPr>
              <a:t>82.10.250.19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201168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0B2E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Router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192.168.0.1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20240" y="2560320"/>
            <a:ext cx="822960" cy="0"/>
          </a:xfrm>
          <a:prstGeom prst="line">
            <a:avLst/>
          </a:prstGeom>
          <a:noFill/>
          <a:ln w="25400">
            <a:solidFill>
              <a:srgbClr val="4A5B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114800" y="1371600"/>
            <a:ext cx="1097280" cy="1188720"/>
          </a:xfrm>
          <a:prstGeom prst="line">
            <a:avLst/>
          </a:prstGeom>
          <a:noFill/>
          <a:ln w="19050">
            <a:solidFill>
              <a:srgbClr val="1C7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114300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F"/>
                </a:solidFill>
              </a:rPr>
              <a:t>PlayStation (Ethernet)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7C8C"/>
                </a:solidFill>
              </a:rPr>
              <a:t>192.168.0.10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4114800" y="1938528"/>
            <a:ext cx="1097280" cy="621792"/>
          </a:xfrm>
          <a:prstGeom prst="line">
            <a:avLst/>
          </a:prstGeom>
          <a:noFill/>
          <a:ln w="19050">
            <a:solidFill>
              <a:srgbClr val="1C7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709928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1709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F"/>
                </a:solidFill>
              </a:rPr>
              <a:t>Printer (Ethernet)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709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7C8C"/>
                </a:solidFill>
              </a:rPr>
              <a:t>192.168.0.11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V="1">
            <a:off x="4114800" y="2505456"/>
            <a:ext cx="1097280" cy="54864"/>
          </a:xfrm>
          <a:prstGeom prst="line">
            <a:avLst/>
          </a:prstGeom>
          <a:noFill/>
          <a:ln w="19050">
            <a:solidFill>
              <a:srgbClr val="F28C2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2276856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2768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F"/>
                </a:solidFill>
              </a:rPr>
              <a:t>Smartphone (Wi-Fi)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276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8C28"/>
                </a:solidFill>
              </a:rPr>
              <a:t>192.168.0.100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2560320"/>
            <a:ext cx="1097280" cy="512064"/>
          </a:xfrm>
          <a:prstGeom prst="line">
            <a:avLst/>
          </a:prstGeom>
          <a:noFill/>
          <a:ln w="19050">
            <a:solidFill>
              <a:srgbClr val="F28C2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212080" y="2843784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2843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F"/>
                </a:solidFill>
              </a:rPr>
              <a:t>Laptop (Wi-Fi)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8437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8C28"/>
                </a:solidFill>
              </a:rPr>
              <a:t>192.168.0.101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2560320"/>
            <a:ext cx="1097280" cy="1078992"/>
          </a:xfrm>
          <a:prstGeom prst="line">
            <a:avLst/>
          </a:prstGeom>
          <a:noFill/>
          <a:ln w="19050">
            <a:solidFill>
              <a:srgbClr val="1C7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3410712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3410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F"/>
                </a:solidFill>
              </a:rPr>
              <a:t>Desktop 1 (Ethernet)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410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7C8C"/>
                </a:solidFill>
              </a:rPr>
              <a:t>192.168.0.102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0" y="2560320"/>
            <a:ext cx="1097280" cy="1645920"/>
          </a:xfrm>
          <a:prstGeom prst="line">
            <a:avLst/>
          </a:prstGeom>
          <a:noFill/>
          <a:ln w="19050">
            <a:solidFill>
              <a:srgbClr val="1C7C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397764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492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F"/>
                </a:solidFill>
              </a:rPr>
              <a:t>Desktop 2 (Ethernet)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7C8C"/>
                </a:solidFill>
              </a:rPr>
              <a:t>192.168.0.104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C8C"/>
                </a:solidFill>
              </a:rPr>
              <a:t>Solid line = wired (Ethernet)   </a:t>
            </a:r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Dashed line = wireless (Wi-Fi)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diagram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188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ISP  </a:t>
            </a:r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Your Internet service provider links your home to the Internet.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502920" cy="502920"/>
          </a:xfrm>
          <a:prstGeom prst="ellipse">
            <a:avLst/>
          </a:prstGeom>
          <a:solidFill>
            <a:srgbClr val="0B2E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836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Router  </a:t>
            </a:r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Connects your local network to the ISP and hands out addresses.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502920" cy="5029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78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Public IP  </a:t>
            </a:r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82.10.250.19 is the one address the Internet sees for your home.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502920" cy="502920"/>
          </a:xfrm>
          <a:prstGeom prst="ellipse">
            <a:avLst/>
          </a:prstGeom>
          <a:solidFill>
            <a:srgbClr val="0B2E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2735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Private IPs  </a:t>
            </a:r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192.168.0.x addresses identify each device inside the LAN only.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68496"/>
            <a:ext cx="502920" cy="502920"/>
          </a:xfrm>
          <a:prstGeom prst="ellipse">
            <a:avLst/>
          </a:prstGeom>
          <a:solidFill>
            <a:srgbClr val="1C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9684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F"/>
                </a:solidFill>
              </a:rPr>
              <a:t>Wired + wireless  </a:t>
            </a:r>
            <a:pPr indent="0" marL="0">
              <a:buNone/>
            </a:pPr>
            <a:r>
              <a:rPr lang="en-US" sz="1400" dirty="0">
                <a:solidFill>
                  <a:srgbClr val="4A5B66"/>
                </a:solidFill>
              </a:rPr>
              <a:t>Printer, PlayStation and desktops use cables; phone and laptop use Wi-Fi.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Network  </a:t>
            </a:r>
            <a:pPr indent="0" marL="0">
              <a:buNone/>
            </a:pPr>
            <a:r>
              <a:rPr lang="en-US" sz="1600" dirty="0">
                <a:solidFill>
                  <a:srgbClr val="CFE6EB"/>
                </a:solidFill>
              </a:rPr>
              <a:t>Devices linked to share data, often private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Internet  </a:t>
            </a:r>
            <a:pPr indent="0" marL="0">
              <a:buNone/>
            </a:pPr>
            <a:r>
              <a:rPr lang="en-US" sz="1600" dirty="0">
                <a:solidFill>
                  <a:srgbClr val="CFE6EB"/>
                </a:solidFill>
              </a:rPr>
              <a:t>Global network of networks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LAN / MAN / WAN  </a:t>
            </a:r>
            <a:pPr indent="0" marL="0">
              <a:buNone/>
            </a:pPr>
            <a:r>
              <a:rPr lang="en-US" sz="1600" dirty="0">
                <a:solidFill>
                  <a:srgbClr val="CFE6EB"/>
                </a:solidFill>
              </a:rPr>
              <a:t>Classified by area covered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Router + ISP  </a:t>
            </a:r>
            <a:pPr indent="0" marL="0">
              <a:buNone/>
            </a:pPr>
            <a:r>
              <a:rPr lang="en-US" sz="1600" dirty="0">
                <a:solidFill>
                  <a:srgbClr val="CFE6EB"/>
                </a:solidFill>
              </a:rPr>
              <a:t>Bridge your LAN to the Internet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Basics">
  <a:themeElements>
    <a:clrScheme name="NetBasics">
      <a:dk1>
        <a:srgbClr val="0B2E3F"/>
      </a:dk1>
      <a:lt1>
        <a:srgbClr val="FFFFFF"/>
      </a:lt1>
      <a:dk2>
        <a:srgbClr val="1C7C8C"/>
      </a:dk2>
      <a:lt2>
        <a:srgbClr val="EEF5F7"/>
      </a:lt2>
      <a:accent1>
        <a:srgbClr val="1C7C8C"/>
      </a:accent1>
      <a:accent2>
        <a:srgbClr val="F28C28"/>
      </a:accent2>
      <a:accent3>
        <a:srgbClr val="0B2E3F"/>
      </a:accent3>
      <a:accent4>
        <a:srgbClr val="6FB7C4"/>
      </a:accent4>
      <a:accent5>
        <a:srgbClr val="D9534F"/>
      </a:accent5>
      <a:accent6>
        <a:srgbClr val="5B8C5A"/>
      </a:accent6>
      <a:hlink>
        <a:srgbClr val="1C7C8C"/>
      </a:hlink>
      <a:folHlink>
        <a:srgbClr val="6FB7C4"/>
      </a:folHlink>
    </a:clrScheme>
    <a:fontScheme name="NetBas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2026-10-26T02:02:21Z</dcterms:created>
  <dcterms:modified xsi:type="dcterms:W3CDTF">2026-10-26T02:02:21Z</dcterms:modified>
</cp:coreProperties>
</file>