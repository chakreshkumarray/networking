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9000e1e-4e49-329f-746d-141a6758585e}">
          <p14:sldIdLst>
            <p14:sldId id="256"/>
            <p14:sldId id="257"/>
            <p14:sldId id="258"/>
            <p14:sldId id="259"/>
          </p14:sldIdLst>
        </p14:section>
        <p14:section name="Wired media" id="{0efd9d35-8a29-9e91-6806-8629c516fb1f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UTP cables and wiring" id="{23e91c69-4f75-f175-f546-d6415709ad50}">
          <p14:sldIdLst>
            <p14:sldId id="266"/>
            <p14:sldId id="267"/>
            <p14:sldId id="268"/>
            <p14:sldId id="269"/>
            <p14:sldId id="270"/>
          </p14:sldIdLst>
        </p14:section>
        <p14:section name="Tools and connectors" id="{5a45c397-c37d-7cb8-fb35-934f8bd4e12b}">
          <p14:sldIdLst>
            <p14:sldId id="271"/>
            <p14:sldId id="272"/>
            <p14:sldId id="273"/>
          </p14:sldIdLst>
        </p14:section>
        <p14:section name="Wireless and comparison" id="{ad4946e4-4a86-fbac-69d6-7ed2fe05ff67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385C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6385C"/>
                </a:solidFill>
                <a:latin typeface="Arial"/>
              </a:rPr>
              <a:t>Max typical speed (Mbps, log scale)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Max typical speed (Mbps)</c:v>
                </c:pt>
              </c:strCache>
            </c:strRef>
          </c:tx>
          <c:spPr>
            <a:solidFill>
              <a:srgbClr val="0E9AA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F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9AA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8C2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5A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9E5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Coax</c:v>
                  </c:pt>
                  <c:pt idx="1">
                    <c:v>Cat5e</c:v>
                  </c:pt>
                  <c:pt idx="2">
                    <c:v>Cat6a</c:v>
                  </c:pt>
                  <c:pt idx="3">
                    <c:v>Fiber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1000</c:v>
                </c:pt>
                <c:pt idx="2">
                  <c:v>10000</c:v>
                </c:pt>
                <c:pt idx="3">
                  <c:v>100000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1F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B1F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  <c:min val="10"/>
        </c:scaling>
        <c:delete val="0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38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deck explains what networking media is, the main wired and wireless types, how UTP cables are wired, the connectors and the tools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6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media is the road, data is the vehicles. Without a medium there is no communication.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class slide: wired (guided/bounded) and wireless (unguided/unbounded), with typical use of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2: the three wired media.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comparison; details follow on the next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Coax = co-axial: the inner conductor and the shield share the same axis. Class slide: 10 or 100 Mbps up to about 500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Twisting cancels electromagnetic interference and reduces crosstalk between pairs. STP for industrial networks and R&amp;D labs; UTP for general LANs (from class).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Cat6 reaches 10 Gbps only up to about 55 m; Cat6a keeps 10 Gbps for the full 100 m. Cat8 is for data centres.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Fiber carries data as light. Total internal reflection keeps the light inside the core. NOTE: the class slide line about 300 Mbps is confusing. Correct statement: fiber can reach 100 Gbps and beyond, far above copper Cat cables.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use the same UTP wire; the difference is how each end is wired and what you connect.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Pin 1 is on the left when the plug clip faces away from you and contacts face you. T568B is the most common standard. Pins 1,2,3,6 carry data in 10/100 Mbps; all 8 pins are used for Gigabit.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Straight: 1 to 1, 2 to 2, 3 to 3, 6 to 6. Crossover: 1 to 3 and 2 to 6 so that transmit on one side meets receive on the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Rule: different devices = straight-through. Same devices = crossover. Console port = rollover. Auto-MDIX means crossover is rarely needed today but is still exam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Crimper attaches the RJ-45 plug. Tester checks that all 8 wires are connected in the right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RJ-45 has 8 pins (Ethernet). RJ-11 usually has 6 positions with 2 or 4 contacts (telephone, DSL). DB9 is serial/console. BNC is for coaxial.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router end is the same; the modem or CSU/DSU end uses one of these standards.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Wireless signals travel through the air as electromagnetic waves. Frequency rises from radio to microwave to infrared.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table to answer which medium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 scale: each step is about 10 times faster. Classic coax 100 Mbps, Cat5e 1 Gbps, Cat6a 10 Gbps, fiber 100 Gbps.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by speed, distance, cost, interference, security and ease of installation.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mnemonics to remember for a long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of the five main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638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Networking Media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Networking Media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2"/>
                </a:solidFill>
              </a:rPr>
              <a:t>NETWORKING MEDIA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459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Data Travels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Cables, connectors, wireless, wiring standards and tools - a complete visual guide</a:t>
            </a:r>
            <a:endParaRPr lang="en-US" sz="1800" dirty="0"/>
          </a:p>
        </p:txBody>
      </p:sp>
      <p:sp>
        <p:nvSpPr>
          <p:cNvPr id="5" name="cable strand 1"/>
          <p:cNvSpPr/>
          <p:nvPr/>
        </p:nvSpPr>
        <p:spPr>
          <a:xfrm>
            <a:off x="5943600" y="640080"/>
            <a:ext cx="292608" cy="3566160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 w="6350">
            <a:solidFill>
              <a:srgbClr val="F28C28"/>
            </a:solidFill>
            <a:prstDash val="solid"/>
          </a:ln>
        </p:spPr>
      </p:sp>
      <p:sp>
        <p:nvSpPr>
          <p:cNvPr id="6" name="cable strand 2"/>
          <p:cNvSpPr/>
          <p:nvPr/>
        </p:nvSpPr>
        <p:spPr>
          <a:xfrm>
            <a:off x="6400800" y="640080"/>
            <a:ext cx="292608" cy="35661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 w="6350">
            <a:solidFill>
              <a:srgbClr val="2E9E5B"/>
            </a:solidFill>
            <a:prstDash val="solid"/>
          </a:ln>
        </p:spPr>
      </p:sp>
      <p:sp>
        <p:nvSpPr>
          <p:cNvPr id="7" name="cable strand 3"/>
          <p:cNvSpPr/>
          <p:nvPr/>
        </p:nvSpPr>
        <p:spPr>
          <a:xfrm>
            <a:off x="6858000" y="640080"/>
            <a:ext cx="292608" cy="3566160"/>
          </a:xfrm>
          <a:prstGeom prst="roundRect">
            <a:avLst>
              <a:gd name="adj" fmla="val 50000"/>
            </a:avLst>
          </a:prstGeom>
          <a:solidFill>
            <a:srgbClr val="0E9AA7"/>
          </a:solidFill>
          <a:ln w="6350">
            <a:solidFill>
              <a:srgbClr val="0E9AA7"/>
            </a:solidFill>
            <a:prstDash val="solid"/>
          </a:ln>
        </p:spPr>
      </p:sp>
      <p:sp>
        <p:nvSpPr>
          <p:cNvPr id="8" name="cable strand 4"/>
          <p:cNvSpPr/>
          <p:nvPr/>
        </p:nvSpPr>
        <p:spPr>
          <a:xfrm>
            <a:off x="7315200" y="640080"/>
            <a:ext cx="292608" cy="3566160"/>
          </a:xfrm>
          <a:prstGeom prst="roundRect">
            <a:avLst>
              <a:gd name="adj" fmla="val 50000"/>
            </a:avLst>
          </a:prstGeom>
          <a:solidFill>
            <a:srgbClr val="7A5AA6"/>
          </a:solidFill>
          <a:ln w="6350">
            <a:solidFill>
              <a:srgbClr val="7A5AA6"/>
            </a:solidFill>
            <a:prstDash val="solid"/>
          </a:ln>
        </p:spPr>
      </p:sp>
      <p:sp>
        <p:nvSpPr>
          <p:cNvPr id="9" name="cable strand 5"/>
          <p:cNvSpPr/>
          <p:nvPr/>
        </p:nvSpPr>
        <p:spPr>
          <a:xfrm>
            <a:off x="7772400" y="640080"/>
            <a:ext cx="292608" cy="3566160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6350">
            <a:solidFill>
              <a:srgbClr val="D64545"/>
            </a:solidFill>
            <a:prstDash val="solid"/>
          </a:ln>
        </p:spPr>
      </p:sp>
      <p:sp>
        <p:nvSpPr>
          <p:cNvPr id="10" name="cable strand 6"/>
          <p:cNvSpPr/>
          <p:nvPr/>
        </p:nvSpPr>
        <p:spPr>
          <a:xfrm>
            <a:off x="8229600" y="640080"/>
            <a:ext cx="292608" cy="3566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RJ45 plug body"/>
          <p:cNvSpPr/>
          <p:nvPr/>
        </p:nvSpPr>
        <p:spPr>
          <a:xfrm>
            <a:off x="5760720" y="3657600"/>
            <a:ext cx="2834640" cy="914400"/>
          </a:xfrm>
          <a:prstGeom prst="roundRect">
            <a:avLst>
              <a:gd name="adj" fmla="val 12000"/>
            </a:avLst>
          </a:prstGeom>
          <a:solidFill>
            <a:schemeClr val="accent6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0720" y="36576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RJ-45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you will learn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457200" y="118872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badge"/>
          <p:cNvSpPr/>
          <p:nvPr/>
        </p:nvSpPr>
        <p:spPr>
          <a:xfrm>
            <a:off x="640080" y="1490472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490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What is networking media?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737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Definition and classification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663440" y="118872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badge"/>
          <p:cNvSpPr/>
          <p:nvPr/>
        </p:nvSpPr>
        <p:spPr>
          <a:xfrm>
            <a:off x="4846320" y="1490472"/>
            <a:ext cx="411480" cy="41148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46320" y="1490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Wired media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440680" y="1737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Coaxial, twisted pair, fiber optic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457200" y="237744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5" name="badge"/>
          <p:cNvSpPr/>
          <p:nvPr/>
        </p:nvSpPr>
        <p:spPr>
          <a:xfrm>
            <a:off x="640080" y="2679192"/>
            <a:ext cx="411480" cy="411480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2679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UTP cable types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2926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Rollover, straight-through, crossover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663440" y="237744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0" name="badge"/>
          <p:cNvSpPr/>
          <p:nvPr/>
        </p:nvSpPr>
        <p:spPr>
          <a:xfrm>
            <a:off x="4846320" y="2679192"/>
            <a:ext cx="411480" cy="41148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46320" y="2679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4068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Wiring standards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5440680" y="2926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T568A / T568B pin-outs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457200" y="356616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5" name="badge"/>
          <p:cNvSpPr/>
          <p:nvPr/>
        </p:nvSpPr>
        <p:spPr>
          <a:xfrm>
            <a:off x="640080" y="3867912"/>
            <a:ext cx="411480" cy="41148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" y="3867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Tools &amp; connectors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1234440" y="4114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Crimper, tester, RJ-45, RJ-11, DB9, BNC</a:t>
            </a:r>
            <a:endParaRPr lang="en-US" sz="1400" dirty="0"/>
          </a:p>
        </p:txBody>
      </p:sp>
      <p:sp>
        <p:nvSpPr>
          <p:cNvPr id="29" name="card"/>
          <p:cNvSpPr/>
          <p:nvPr/>
        </p:nvSpPr>
        <p:spPr>
          <a:xfrm>
            <a:off x="4663440" y="356616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30" name="badge"/>
          <p:cNvSpPr/>
          <p:nvPr/>
        </p:nvSpPr>
        <p:spPr>
          <a:xfrm>
            <a:off x="4846320" y="3867912"/>
            <a:ext cx="411480" cy="41148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846320" y="3867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440680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Wireless &amp; comparison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5440680" y="4114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Radio, microwave, infrared, how to choose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is networking media?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Networking media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is the physical path (cable) or wireless channel that carries data signals from a sender to a receiver. Think of it as the road - the data are the vehicles.</a:t>
            </a:r>
            <a:endParaRPr lang="en-US" sz="1600" dirty="0"/>
          </a:p>
        </p:txBody>
      </p:sp>
      <p:sp>
        <p:nvSpPr>
          <p:cNvPr id="5" name="sender"/>
          <p:cNvSpPr/>
          <p:nvPr/>
        </p:nvSpPr>
        <p:spPr>
          <a:xfrm>
            <a:off x="457200" y="1965960"/>
            <a:ext cx="173736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457200" y="19659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Sender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(PC)</a:t>
            </a:r>
            <a:endParaRPr lang="en-US" sz="1800" dirty="0"/>
          </a:p>
        </p:txBody>
      </p:sp>
      <p:sp>
        <p:nvSpPr>
          <p:cNvPr id="7" name="receiver"/>
          <p:cNvSpPr/>
          <p:nvPr/>
        </p:nvSpPr>
        <p:spPr>
          <a:xfrm>
            <a:off x="6949440" y="1965960"/>
            <a:ext cx="173736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949440" y="19659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Receiver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(Server)</a:t>
            </a:r>
            <a:endParaRPr lang="en-US" sz="1800" dirty="0"/>
          </a:p>
        </p:txBody>
      </p:sp>
      <p:sp>
        <p:nvSpPr>
          <p:cNvPr id="9" name="medium pipe"/>
          <p:cNvSpPr/>
          <p:nvPr/>
        </p:nvSpPr>
        <p:spPr>
          <a:xfrm>
            <a:off x="2194560" y="2240280"/>
            <a:ext cx="4754880" cy="548640"/>
          </a:xfrm>
          <a:prstGeom prst="rect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94560" y="22402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NETWORKING MEDIA</a:t>
            </a:r>
            <a:endParaRPr lang="en-US" sz="1600" dirty="0"/>
          </a:p>
        </p:txBody>
      </p:sp>
      <p:sp>
        <p:nvSpPr>
          <p:cNvPr id="11" name="data packet 1"/>
          <p:cNvSpPr/>
          <p:nvPr/>
        </p:nvSpPr>
        <p:spPr>
          <a:xfrm>
            <a:off x="2743200" y="2852928"/>
            <a:ext cx="201168" cy="20116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data packet 2"/>
          <p:cNvSpPr/>
          <p:nvPr/>
        </p:nvSpPr>
        <p:spPr>
          <a:xfrm>
            <a:off x="3840480" y="2852928"/>
            <a:ext cx="201168" cy="20116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data packet 3"/>
          <p:cNvSpPr/>
          <p:nvPr/>
        </p:nvSpPr>
        <p:spPr>
          <a:xfrm>
            <a:off x="4937760" y="2852928"/>
            <a:ext cx="201168" cy="20116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94560" y="3108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data packets (bits) travelling as signals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457200" y="3611880"/>
            <a:ext cx="26517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badge"/>
          <p:cNvSpPr/>
          <p:nvPr/>
        </p:nvSpPr>
        <p:spPr>
          <a:xfrm>
            <a:off x="594360" y="3749040"/>
            <a:ext cx="365760" cy="36576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3749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" y="37033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Electrical signals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" y="40416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Copper cables: coaxial &amp; twisted pair</a:t>
            </a:r>
            <a:endParaRPr lang="en-US" sz="1300" dirty="0"/>
          </a:p>
        </p:txBody>
      </p:sp>
      <p:sp>
        <p:nvSpPr>
          <p:cNvPr id="20" name="card"/>
          <p:cNvSpPr/>
          <p:nvPr/>
        </p:nvSpPr>
        <p:spPr>
          <a:xfrm>
            <a:off x="3291840" y="3611880"/>
            <a:ext cx="26517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1" name="badge"/>
          <p:cNvSpPr/>
          <p:nvPr/>
        </p:nvSpPr>
        <p:spPr>
          <a:xfrm>
            <a:off x="3429000" y="374904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429000" y="3749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886200" y="37033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Light pulses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3886200" y="40416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Optical fiber: glass or plastic strands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6126480" y="3611880"/>
            <a:ext cx="26517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6" name="badge"/>
          <p:cNvSpPr/>
          <p:nvPr/>
        </p:nvSpPr>
        <p:spPr>
          <a:xfrm>
            <a:off x="6263640" y="3749040"/>
            <a:ext cx="365760" cy="36576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263640" y="3749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720840" y="37033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Radio / EM waves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720840" y="40416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Wireless: Wi-Fi, microwave, infrared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Types of communication media</a:t>
            </a:r>
            <a:endParaRPr lang="en-US" sz="3200" dirty="0"/>
          </a:p>
        </p:txBody>
      </p:sp>
      <p:sp>
        <p:nvSpPr>
          <p:cNvPr id="4" name="node"/>
          <p:cNvSpPr/>
          <p:nvPr/>
        </p:nvSpPr>
        <p:spPr>
          <a:xfrm>
            <a:off x="365760" y="2084832"/>
            <a:ext cx="1371600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365760" y="2084832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Communication media</a:t>
            </a:r>
            <a:endParaRPr lang="en-US" sz="1400" dirty="0"/>
          </a:p>
        </p:txBody>
      </p:sp>
      <p:sp>
        <p:nvSpPr>
          <p:cNvPr id="6" name="node"/>
          <p:cNvSpPr/>
          <p:nvPr/>
        </p:nvSpPr>
        <p:spPr>
          <a:xfrm>
            <a:off x="2194560" y="1353312"/>
            <a:ext cx="1554480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2194560" y="13533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Wired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Guided / Bounded</a:t>
            </a:r>
            <a:endParaRPr lang="en-US" sz="1200" dirty="0"/>
          </a:p>
        </p:txBody>
      </p:sp>
      <p:sp>
        <p:nvSpPr>
          <p:cNvPr id="8" name="node"/>
          <p:cNvSpPr/>
          <p:nvPr/>
        </p:nvSpPr>
        <p:spPr>
          <a:xfrm>
            <a:off x="2194560" y="3090672"/>
            <a:ext cx="1554480" cy="54864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194560" y="30906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Wireless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Unguided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 flipV="1">
            <a:off x="1737360" y="1627632"/>
            <a:ext cx="457200" cy="86868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37360" y="2496312"/>
            <a:ext cx="457200" cy="86868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3749040" y="1325880"/>
            <a:ext cx="365760" cy="30175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13" name="node"/>
          <p:cNvSpPr/>
          <p:nvPr/>
        </p:nvSpPr>
        <p:spPr>
          <a:xfrm>
            <a:off x="4114800" y="1097280"/>
            <a:ext cx="2194560" cy="45720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114800" y="1097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Coaxial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309360" y="1325880"/>
            <a:ext cx="2743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16" name="node"/>
          <p:cNvSpPr/>
          <p:nvPr/>
        </p:nvSpPr>
        <p:spPr>
          <a:xfrm>
            <a:off x="6583680" y="1097280"/>
            <a:ext cx="210312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583680" y="1097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Cable TV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3749040" y="1627632"/>
            <a:ext cx="365760" cy="22860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19" name="node"/>
          <p:cNvSpPr/>
          <p:nvPr/>
        </p:nvSpPr>
        <p:spPr>
          <a:xfrm>
            <a:off x="4114800" y="1627632"/>
            <a:ext cx="2194560" cy="45720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4114800" y="16276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Twisted pair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09360" y="1856232"/>
            <a:ext cx="2743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22" name="node"/>
          <p:cNvSpPr/>
          <p:nvPr/>
        </p:nvSpPr>
        <p:spPr>
          <a:xfrm>
            <a:off x="6583680" y="1627632"/>
            <a:ext cx="210312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83680" y="16276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LAN, Metro Ethernet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3749040" y="1627632"/>
            <a:ext cx="365760" cy="75895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25" name="node"/>
          <p:cNvSpPr/>
          <p:nvPr/>
        </p:nvSpPr>
        <p:spPr>
          <a:xfrm>
            <a:off x="4114800" y="2157984"/>
            <a:ext cx="2194560" cy="45720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4114800" y="21579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Optical fiber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309360" y="2386584"/>
            <a:ext cx="2743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28" name="node"/>
          <p:cNvSpPr/>
          <p:nvPr/>
        </p:nvSpPr>
        <p:spPr>
          <a:xfrm>
            <a:off x="6583680" y="2157984"/>
            <a:ext cx="210312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583680" y="215798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CAN, MAN, WAN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 flipV="1">
            <a:off x="3749040" y="3063240"/>
            <a:ext cx="365760" cy="30175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31" name="node"/>
          <p:cNvSpPr/>
          <p:nvPr/>
        </p:nvSpPr>
        <p:spPr>
          <a:xfrm>
            <a:off x="4114800" y="2834640"/>
            <a:ext cx="2194560" cy="45720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411480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Radio waves (2.4 &amp; 5 GHz)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309360" y="3063240"/>
            <a:ext cx="2743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34" name="node"/>
          <p:cNvSpPr/>
          <p:nvPr/>
        </p:nvSpPr>
        <p:spPr>
          <a:xfrm>
            <a:off x="6583680" y="2834640"/>
            <a:ext cx="210312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6583680" y="28346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Wireless LAN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3749040" y="3364992"/>
            <a:ext cx="365760" cy="22860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37" name="node"/>
          <p:cNvSpPr/>
          <p:nvPr/>
        </p:nvSpPr>
        <p:spPr>
          <a:xfrm>
            <a:off x="4114800" y="3364992"/>
            <a:ext cx="2194560" cy="45720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4114800" y="33649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Microwave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6309360" y="3593592"/>
            <a:ext cx="2743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40" name="node"/>
          <p:cNvSpPr/>
          <p:nvPr/>
        </p:nvSpPr>
        <p:spPr>
          <a:xfrm>
            <a:off x="6583680" y="3364992"/>
            <a:ext cx="210312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6583680" y="336499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SATCOM / VSAT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3749040" y="3364992"/>
            <a:ext cx="365760" cy="75895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43" name="node"/>
          <p:cNvSpPr/>
          <p:nvPr/>
        </p:nvSpPr>
        <p:spPr>
          <a:xfrm>
            <a:off x="4114800" y="3895344"/>
            <a:ext cx="2194560" cy="45720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4114800" y="389534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Infrared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6309360" y="4123944"/>
            <a:ext cx="2743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46" name="node"/>
          <p:cNvSpPr/>
          <p:nvPr/>
        </p:nvSpPr>
        <p:spPr>
          <a:xfrm>
            <a:off x="6583680" y="3895344"/>
            <a:ext cx="210312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6583680" y="389534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Remote control</a:t>
            </a:r>
            <a:endParaRPr lang="en-US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Guided = signal follows a physical path. Unguided = signal spreads through the air.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Wired (guided) media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697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Coaxial cable, twisted pair and fiber optic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Wired media at a glance</a:t>
            </a:r>
            <a:endParaRPr lang="en-US" sz="32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2011680"/>
                <a:gridCol w="1554480"/>
                <a:gridCol w="2011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Medium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Signal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Typical speed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Max distance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Typical use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Coaxial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Electrical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10-100 Mbps (classic)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up to 500 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Cable TV, old Ethernet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Twisted pair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Electrical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Mbps - 10 Gbps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LAN, Metro Ethernet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Optical fiber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Light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10 - 100+ Gbps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 km to 40+ km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CAN, MAN, WAN backbone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457200" y="3474720"/>
            <a:ext cx="402336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6" name="card"/>
          <p:cNvSpPr/>
          <p:nvPr/>
        </p:nvSpPr>
        <p:spPr>
          <a:xfrm>
            <a:off x="4663440" y="3474720"/>
            <a:ext cx="402336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640080" y="3566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Copper (coax, twisted pair)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913632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Cheap and easy to install, but limited distance and affected by electrical noise.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3566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Fiber (glass)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4846320" y="3913632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Costlier, but fastest, longest range, and immune to electrical interference.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Coaxial cable</a:t>
            </a:r>
            <a:endParaRPr lang="en-US" sz="3200" dirty="0"/>
          </a:p>
        </p:txBody>
      </p:sp>
      <p:sp>
        <p:nvSpPr>
          <p:cNvPr id="4" name="photo frame"/>
          <p:cNvSpPr/>
          <p:nvPr/>
        </p:nvSpPr>
        <p:spPr>
          <a:xfrm>
            <a:off x="457200" y="1143000"/>
            <a:ext cx="4023360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5" name="Image 0" descr="Coaxial cable cut-away: outer sheath, braided shield, foil shield, dielectric, inner conduc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43584"/>
            <a:ext cx="3840480" cy="1536192"/>
          </a:xfrm>
          <a:prstGeom prst="rect">
            <a:avLst/>
          </a:prstGeom>
        </p:spPr>
      </p:pic>
      <p:sp>
        <p:nvSpPr>
          <p:cNvPr id="6" name="card"/>
          <p:cNvSpPr/>
          <p:nvPr/>
        </p:nvSpPr>
        <p:spPr>
          <a:xfrm>
            <a:off x="4754880" y="1143000"/>
            <a:ext cx="393192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7" name="badge"/>
          <p:cNvSpPr/>
          <p:nvPr/>
        </p:nvSpPr>
        <p:spPr>
          <a:xfrm>
            <a:off x="4846320" y="1261872"/>
            <a:ext cx="365760" cy="36576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846320" y="1261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349240" y="1143000"/>
            <a:ext cx="3246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Inner conductor: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Copper core that carries the signal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4754880" y="1837944"/>
            <a:ext cx="393192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1" name="badge"/>
          <p:cNvSpPr/>
          <p:nvPr/>
        </p:nvSpPr>
        <p:spPr>
          <a:xfrm>
            <a:off x="4846320" y="1956816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846320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349240" y="1837944"/>
            <a:ext cx="3246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Dielectric: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Insulator that keeps the core centred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4754880" y="2532888"/>
            <a:ext cx="393192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5" name="badge"/>
          <p:cNvSpPr/>
          <p:nvPr/>
        </p:nvSpPr>
        <p:spPr>
          <a:xfrm>
            <a:off x="4846320" y="2651760"/>
            <a:ext cx="365760" cy="36576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46320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5349240" y="2532888"/>
            <a:ext cx="3246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Foil shield: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Blocks outside electrical noise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754880" y="3227832"/>
            <a:ext cx="393192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9" name="badge"/>
          <p:cNvSpPr/>
          <p:nvPr/>
        </p:nvSpPr>
        <p:spPr>
          <a:xfrm>
            <a:off x="4846320" y="3346704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846320" y="3346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349240" y="3227832"/>
            <a:ext cx="3246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Braided shield: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Second shield and the ground path</a:t>
            </a:r>
            <a:endParaRPr lang="en-US" sz="1300" dirty="0"/>
          </a:p>
        </p:txBody>
      </p:sp>
      <p:sp>
        <p:nvSpPr>
          <p:cNvPr id="22" name="card"/>
          <p:cNvSpPr/>
          <p:nvPr/>
        </p:nvSpPr>
        <p:spPr>
          <a:xfrm>
            <a:off x="4754880" y="3922776"/>
            <a:ext cx="393192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3" name="badge"/>
          <p:cNvSpPr/>
          <p:nvPr/>
        </p:nvSpPr>
        <p:spPr>
          <a:xfrm>
            <a:off x="4846320" y="4041648"/>
            <a:ext cx="365760" cy="36576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846320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5349240" y="3922776"/>
            <a:ext cx="3246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Outer sheath: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Plastic jacket that protects the cable</a:t>
            </a:r>
            <a:endParaRPr lang="en-US" sz="1300" dirty="0"/>
          </a:p>
        </p:txBody>
      </p:sp>
      <p:sp>
        <p:nvSpPr>
          <p:cNvPr id="26" name="card"/>
          <p:cNvSpPr/>
          <p:nvPr/>
        </p:nvSpPr>
        <p:spPr>
          <a:xfrm>
            <a:off x="457200" y="3063240"/>
            <a:ext cx="19659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7" name="card"/>
          <p:cNvSpPr/>
          <p:nvPr/>
        </p:nvSpPr>
        <p:spPr>
          <a:xfrm>
            <a:off x="2514600" y="3063240"/>
            <a:ext cx="19659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594360" y="31272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Pros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594360" y="342900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Good noise shielding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Long cable runs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2651760" y="31272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Cons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2651760" y="342900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Thick, less flexible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Low speed today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4754880" y="45720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Uses: cable TV, CCTV, antennas. Connector: BNC.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Twisted pair cable</a:t>
            </a:r>
            <a:endParaRPr lang="en-US" sz="3200" dirty="0"/>
          </a:p>
        </p:txBody>
      </p:sp>
      <p:sp>
        <p:nvSpPr>
          <p:cNvPr id="4" name="photo frame"/>
          <p:cNvSpPr/>
          <p:nvPr/>
        </p:nvSpPr>
        <p:spPr>
          <a:xfrm>
            <a:off x="457200" y="1143000"/>
            <a:ext cx="2194560" cy="18288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5" name="Image 0" descr="Twisted pair cable with four colour-coded pai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9883" y="1188720"/>
            <a:ext cx="2049194" cy="1737360"/>
          </a:xfrm>
          <a:prstGeom prst="rect">
            <a:avLst/>
          </a:prstGeom>
        </p:spPr>
      </p:pic>
      <p:sp>
        <p:nvSpPr>
          <p:cNvPr id="6" name="card"/>
          <p:cNvSpPr/>
          <p:nvPr/>
        </p:nvSpPr>
        <p:spPr>
          <a:xfrm>
            <a:off x="2834640" y="1143000"/>
            <a:ext cx="58521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301752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Why are the wires twisted?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3017520" y="1627632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 pairs = 8 copper wires, each pair twisted together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Twisting cancels electrical noise (EMI) and crosstalk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Tighter twist = better performance (Cat6 &gt; Cat5e)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57200" y="3200400"/>
            <a:ext cx="4023360" cy="1417320"/>
          </a:xfrm>
          <a:prstGeom prst="roundRect">
            <a:avLst>
              <a:gd name="adj" fmla="val 6452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card"/>
          <p:cNvSpPr/>
          <p:nvPr/>
        </p:nvSpPr>
        <p:spPr>
          <a:xfrm>
            <a:off x="4663440" y="3200400"/>
            <a:ext cx="4023360" cy="1417320"/>
          </a:xfrm>
          <a:prstGeom prst="roundRect">
            <a:avLst>
              <a:gd name="adj" fmla="val 6452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40080" y="32735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STP - Shielded Twisted Pair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36118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Foil or braid around the pairs. Best for noisy places: industrial networks and R&amp;D labs. Costlier, needs grounding.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846320" y="32735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UTP - Unshielded Twisted Pair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846320" y="36118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No shield, thin and cheap. Used in general networks such as home, school and office LANs. Most common cable.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UTP categories: Cat5e to Cat8</a:t>
            </a:r>
            <a:endParaRPr lang="en-US" sz="32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2286000"/>
                <a:gridCol w="2103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Category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Max speed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Bandwidth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Max length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Where used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Cat5e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 Gbps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MHz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Home / office Gigabit LAN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Cat6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 Gbps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250 MHz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 m at 10G (100 m at 1G)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High-speed, short runs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Cat6a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 Gbps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500 MHz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10G over full distance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Cat8 (bonus)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 / 40 Gbps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2000 MHz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 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Data-centre racks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457200" y="3657600"/>
            <a:ext cx="402336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6" name="card"/>
          <p:cNvSpPr/>
          <p:nvPr/>
        </p:nvSpPr>
        <p:spPr>
          <a:xfrm>
            <a:off x="4663440" y="3657600"/>
            <a:ext cx="402336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640080" y="37033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100 m rule: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copper Ethernet runs should not exceed 100 m (90 m wall cable + 10 m patch cords).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4846320" y="37033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Higher category =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more speed, tighter twist, more shielding, higher cost.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Optical fiber cable</a:t>
            </a:r>
            <a:endParaRPr lang="en-US" sz="3200" dirty="0"/>
          </a:p>
        </p:txBody>
      </p:sp>
      <p:sp>
        <p:nvSpPr>
          <p:cNvPr id="4" name="jacket"/>
          <p:cNvSpPr/>
          <p:nvPr/>
        </p:nvSpPr>
        <p:spPr>
          <a:xfrm>
            <a:off x="502920" y="1280160"/>
            <a:ext cx="2011680" cy="20116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coating"/>
          <p:cNvSpPr/>
          <p:nvPr/>
        </p:nvSpPr>
        <p:spPr>
          <a:xfrm>
            <a:off x="704088" y="1481328"/>
            <a:ext cx="1609344" cy="160934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cladding"/>
          <p:cNvSpPr/>
          <p:nvPr/>
        </p:nvSpPr>
        <p:spPr>
          <a:xfrm>
            <a:off x="960120" y="173736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core"/>
          <p:cNvSpPr/>
          <p:nvPr/>
        </p:nvSpPr>
        <p:spPr>
          <a:xfrm>
            <a:off x="1307592" y="2084832"/>
            <a:ext cx="402336" cy="40233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legend dot"/>
          <p:cNvSpPr/>
          <p:nvPr/>
        </p:nvSpPr>
        <p:spPr>
          <a:xfrm>
            <a:off x="2743200" y="1261872"/>
            <a:ext cx="219456" cy="21945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63240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Core: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glass that carries the light</a:t>
            </a:r>
            <a:endParaRPr lang="en-US" sz="1300" dirty="0"/>
          </a:p>
        </p:txBody>
      </p:sp>
      <p:sp>
        <p:nvSpPr>
          <p:cNvPr id="10" name="legend dot"/>
          <p:cNvSpPr/>
          <p:nvPr/>
        </p:nvSpPr>
        <p:spPr>
          <a:xfrm>
            <a:off x="2743200" y="1792224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63240" y="17190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Cladding: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reflects light back into core</a:t>
            </a:r>
            <a:endParaRPr lang="en-US" sz="1300" dirty="0"/>
          </a:p>
        </p:txBody>
      </p:sp>
      <p:sp>
        <p:nvSpPr>
          <p:cNvPr id="12" name="legend dot"/>
          <p:cNvSpPr/>
          <p:nvPr/>
        </p:nvSpPr>
        <p:spPr>
          <a:xfrm>
            <a:off x="2743200" y="2322576"/>
            <a:ext cx="219456" cy="21945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063240" y="224942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Coating: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protects the glass</a:t>
            </a:r>
            <a:endParaRPr lang="en-US" sz="1300" dirty="0"/>
          </a:p>
        </p:txBody>
      </p:sp>
      <p:sp>
        <p:nvSpPr>
          <p:cNvPr id="14" name="legend dot"/>
          <p:cNvSpPr/>
          <p:nvPr/>
        </p:nvSpPr>
        <p:spPr>
          <a:xfrm>
            <a:off x="2743200" y="2852928"/>
            <a:ext cx="219456" cy="21945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063240" y="277977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Jacket: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outer plastic cover</a:t>
            </a:r>
            <a:endParaRPr lang="en-US" sz="1300" dirty="0"/>
          </a:p>
        </p:txBody>
      </p:sp>
      <p:sp>
        <p:nvSpPr>
          <p:cNvPr id="16" name="cladding strip"/>
          <p:cNvSpPr/>
          <p:nvPr/>
        </p:nvSpPr>
        <p:spPr>
          <a:xfrm>
            <a:off x="5212080" y="1234440"/>
            <a:ext cx="3474720" cy="100584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core strip"/>
          <p:cNvSpPr/>
          <p:nvPr/>
        </p:nvSpPr>
        <p:spPr>
          <a:xfrm>
            <a:off x="5212080" y="1508760"/>
            <a:ext cx="3474720" cy="4572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5212080" y="1527048"/>
            <a:ext cx="731520" cy="210312"/>
          </a:xfrm>
          <a:prstGeom prst="line">
            <a:avLst/>
          </a:prstGeom>
          <a:noFill/>
          <a:ln w="31750">
            <a:solidFill>
              <a:srgbClr val="F28C2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43600" y="1527048"/>
            <a:ext cx="731520" cy="420624"/>
          </a:xfrm>
          <a:prstGeom prst="line">
            <a:avLst/>
          </a:prstGeom>
          <a:noFill/>
          <a:ln w="31750">
            <a:solidFill>
              <a:srgbClr val="F28C2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6675120" y="1527048"/>
            <a:ext cx="731520" cy="420624"/>
          </a:xfrm>
          <a:prstGeom prst="line">
            <a:avLst/>
          </a:prstGeom>
          <a:noFill/>
          <a:ln w="31750">
            <a:solidFill>
              <a:srgbClr val="F28C2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06640" y="1527048"/>
            <a:ext cx="731520" cy="420624"/>
          </a:xfrm>
          <a:prstGeom prst="line">
            <a:avLst/>
          </a:prstGeom>
          <a:noFill/>
          <a:ln w="31750">
            <a:solidFill>
              <a:srgbClr val="F28C2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8138160" y="1627632"/>
            <a:ext cx="548640" cy="320040"/>
          </a:xfrm>
          <a:prstGeom prst="line">
            <a:avLst/>
          </a:prstGeom>
          <a:noFill/>
          <a:ln w="3175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212080" y="2286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Total internal reflection: light bounces along the core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5212080" y="2697480"/>
            <a:ext cx="3474720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5303520" y="26974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Uses light, so no electrical noise, very high speed (100 Gbps+) and very long distance.</a:t>
            </a:r>
            <a:endParaRPr lang="en-US" sz="1300" dirty="0"/>
          </a:p>
        </p:txBody>
      </p:sp>
      <p:sp>
        <p:nvSpPr>
          <p:cNvPr id="26" name="card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8696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7" name="card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8696"/>
            </a:avLst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4008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Single-mode (SMF)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" y="395020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Core about 9 micron, laser light, 40+ km. Used for WAN, MAN and long backbones.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484632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Multi-mode (MMF)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846320" y="395020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Core 50 or 62.5 micron, LED or VCSEL, up to about 550 m. Used inside buildings and campuses.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UTP cables and wiring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697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Rollover, straight-through, crossover and the T568A / T568B standards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Three kinds of UTP cable</a:t>
            </a:r>
            <a:endParaRPr lang="en-US" sz="3200" dirty="0"/>
          </a:p>
        </p:txBody>
      </p:sp>
      <p:sp>
        <p:nvSpPr>
          <p:cNvPr id="4" name="photo frame"/>
          <p:cNvSpPr/>
          <p:nvPr/>
        </p:nvSpPr>
        <p:spPr>
          <a:xfrm>
            <a:off x="457200" y="1097280"/>
            <a:ext cx="4572000" cy="160020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5" name="Image 0" descr="Blue rollover console cables with RJ-45 to DB9 and RJ-45 to USB e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09420"/>
            <a:ext cx="4480560" cy="1375920"/>
          </a:xfrm>
          <a:prstGeom prst="rect">
            <a:avLst/>
          </a:prstGeom>
        </p:spPr>
      </p:pic>
      <p:sp>
        <p:nvSpPr>
          <p:cNvPr id="6" name="photo frame"/>
          <p:cNvSpPr/>
          <p:nvPr/>
        </p:nvSpPr>
        <p:spPr>
          <a:xfrm>
            <a:off x="5212080" y="1097280"/>
            <a:ext cx="3474720" cy="201168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Image 1" descr="Straight-through and crossover cable wiring diagram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799" y="1143000"/>
            <a:ext cx="3123282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57200" y="2788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Same wire, different ends. Match the cable to the devices you connect.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57200" y="3291840"/>
            <a:ext cx="2651760" cy="1371600"/>
          </a:xfrm>
          <a:prstGeom prst="roundRect">
            <a:avLst>
              <a:gd name="adj" fmla="val 6667"/>
            </a:avLst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>
            <a:off x="594360" y="33649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Rollover (console)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594360" y="37033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PC to Switch console port, PC to Router console port. Flat light-blue cable.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3291840" y="3291840"/>
            <a:ext cx="2651760" cy="137160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3429000" y="33649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Straight-through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3429000" y="37033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Different devices: Switch to PC, Router to Switch.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6126480" y="3291840"/>
            <a:ext cx="2651760" cy="1371600"/>
          </a:xfrm>
          <a:prstGeom prst="roundRect">
            <a:avLst>
              <a:gd name="adj" fmla="val 6667"/>
            </a:avLst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6263640" y="33649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Crossover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63640" y="37033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Same devices: Switch to Switch, PC to PC.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T568B and T568A pin-outs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457200" y="1051560"/>
            <a:ext cx="4023360" cy="36576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457200" y="1051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T568B (most common)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481328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wire 1"/>
          <p:cNvSpPr/>
          <p:nvPr/>
        </p:nvSpPr>
        <p:spPr>
          <a:xfrm>
            <a:off x="868680" y="1481328"/>
            <a:ext cx="914400" cy="301752"/>
          </a:xfrm>
          <a:prstGeom prst="rect">
            <a:avLst/>
          </a:prstGeom>
          <a:solidFill>
            <a:srgbClr val="FFFFFF"/>
          </a:solidFill>
          <a:ln w="19050">
            <a:solidFill>
              <a:srgbClr val="F28C28"/>
            </a:solidFill>
            <a:prstDash val="solid"/>
          </a:ln>
        </p:spPr>
      </p:sp>
      <p:sp>
        <p:nvSpPr>
          <p:cNvPr id="8" name="stripe 1"/>
          <p:cNvSpPr/>
          <p:nvPr/>
        </p:nvSpPr>
        <p:spPr>
          <a:xfrm>
            <a:off x="868680" y="1581912"/>
            <a:ext cx="914400" cy="100584"/>
          </a:xfrm>
          <a:prstGeom prst="rect">
            <a:avLst/>
          </a:prstGeom>
          <a:solidFill>
            <a:srgbClr val="F28C28"/>
          </a:solidFill>
          <a:ln w="6350">
            <a:solidFill>
              <a:srgbClr val="F28C2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20240" y="14813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White/Orange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474720" y="148132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TX+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1824228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wire 2"/>
          <p:cNvSpPr/>
          <p:nvPr/>
        </p:nvSpPr>
        <p:spPr>
          <a:xfrm>
            <a:off x="868680" y="1824228"/>
            <a:ext cx="914400" cy="301752"/>
          </a:xfrm>
          <a:prstGeom prst="rect">
            <a:avLst/>
          </a:prstGeom>
          <a:solidFill>
            <a:srgbClr val="F28C28"/>
          </a:solidFill>
          <a:ln w="6350">
            <a:solidFill>
              <a:srgbClr val="F28C2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920240" y="18242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Orange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182422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TX-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2167128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wire 3"/>
          <p:cNvSpPr/>
          <p:nvPr/>
        </p:nvSpPr>
        <p:spPr>
          <a:xfrm>
            <a:off x="868680" y="2167128"/>
            <a:ext cx="914400" cy="301752"/>
          </a:xfrm>
          <a:prstGeom prst="rect">
            <a:avLst/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17" name="stripe 3"/>
          <p:cNvSpPr/>
          <p:nvPr/>
        </p:nvSpPr>
        <p:spPr>
          <a:xfrm>
            <a:off x="868680" y="2267712"/>
            <a:ext cx="914400" cy="100584"/>
          </a:xfrm>
          <a:prstGeom prst="rect">
            <a:avLst/>
          </a:prstGeom>
          <a:solidFill>
            <a:srgbClr val="2E9E5B"/>
          </a:solidFill>
          <a:ln w="6350">
            <a:solidFill>
              <a:srgbClr val="2E9E5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920240" y="21671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White/Green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3474720" y="216712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RX+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2510028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wire 4"/>
          <p:cNvSpPr/>
          <p:nvPr/>
        </p:nvSpPr>
        <p:spPr>
          <a:xfrm>
            <a:off x="868680" y="2510028"/>
            <a:ext cx="914400" cy="301752"/>
          </a:xfrm>
          <a:prstGeom prst="rect">
            <a:avLst/>
          </a:prstGeom>
          <a:solidFill>
            <a:srgbClr val="2B6CB0"/>
          </a:solidFill>
          <a:ln w="6350">
            <a:solidFill>
              <a:srgbClr val="2B6C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920240" y="25100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Blue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3474720" y="251002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(Gigabit)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2852928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</a:t>
            </a:r>
            <a:endParaRPr lang="en-US" sz="1400" dirty="0"/>
          </a:p>
        </p:txBody>
      </p:sp>
      <p:sp>
        <p:nvSpPr>
          <p:cNvPr id="25" name="wire 5"/>
          <p:cNvSpPr/>
          <p:nvPr/>
        </p:nvSpPr>
        <p:spPr>
          <a:xfrm>
            <a:off x="868680" y="2852928"/>
            <a:ext cx="914400" cy="301752"/>
          </a:xfrm>
          <a:prstGeom prst="rect">
            <a:avLst/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26" name="stripe 5"/>
          <p:cNvSpPr/>
          <p:nvPr/>
        </p:nvSpPr>
        <p:spPr>
          <a:xfrm>
            <a:off x="868680" y="2953512"/>
            <a:ext cx="914400" cy="100584"/>
          </a:xfrm>
          <a:prstGeom prst="rect">
            <a:avLst/>
          </a:prstGeom>
          <a:solidFill>
            <a:srgbClr val="2B6CB0"/>
          </a:solidFill>
          <a:ln w="6350">
            <a:solidFill>
              <a:srgbClr val="2B6CB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920240" y="28529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White/Blue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3474720" y="285292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(Gigabit)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3195828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30" name="wire 6"/>
          <p:cNvSpPr/>
          <p:nvPr/>
        </p:nvSpPr>
        <p:spPr>
          <a:xfrm>
            <a:off x="868680" y="3195828"/>
            <a:ext cx="914400" cy="301752"/>
          </a:xfrm>
          <a:prstGeom prst="rect">
            <a:avLst/>
          </a:prstGeom>
          <a:solidFill>
            <a:srgbClr val="2E9E5B"/>
          </a:solidFill>
          <a:ln w="6350">
            <a:solidFill>
              <a:srgbClr val="2E9E5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920240" y="31958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Green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3474720" y="319582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RX-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3538728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7</a:t>
            </a:r>
            <a:endParaRPr lang="en-US" sz="1400" dirty="0"/>
          </a:p>
        </p:txBody>
      </p:sp>
      <p:sp>
        <p:nvSpPr>
          <p:cNvPr id="34" name="wire 7"/>
          <p:cNvSpPr/>
          <p:nvPr/>
        </p:nvSpPr>
        <p:spPr>
          <a:xfrm>
            <a:off x="868680" y="3538728"/>
            <a:ext cx="914400" cy="30175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A2B"/>
            </a:solidFill>
            <a:prstDash val="solid"/>
          </a:ln>
        </p:spPr>
      </p:sp>
      <p:sp>
        <p:nvSpPr>
          <p:cNvPr id="35" name="stripe 7"/>
          <p:cNvSpPr/>
          <p:nvPr/>
        </p:nvSpPr>
        <p:spPr>
          <a:xfrm>
            <a:off x="868680" y="3639312"/>
            <a:ext cx="914400" cy="100584"/>
          </a:xfrm>
          <a:prstGeom prst="rect">
            <a:avLst/>
          </a:prstGeom>
          <a:solidFill>
            <a:srgbClr val="8B5A2B"/>
          </a:solidFill>
          <a:ln w="6350">
            <a:solidFill>
              <a:srgbClr val="8B5A2B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920240" y="35387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White/Brown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3474720" y="353872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(Gigabit)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3881628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8</a:t>
            </a:r>
            <a:endParaRPr lang="en-US" sz="1400" dirty="0"/>
          </a:p>
        </p:txBody>
      </p:sp>
      <p:sp>
        <p:nvSpPr>
          <p:cNvPr id="39" name="wire 8"/>
          <p:cNvSpPr/>
          <p:nvPr/>
        </p:nvSpPr>
        <p:spPr>
          <a:xfrm>
            <a:off x="868680" y="3881628"/>
            <a:ext cx="914400" cy="301752"/>
          </a:xfrm>
          <a:prstGeom prst="rect">
            <a:avLst/>
          </a:prstGeom>
          <a:solidFill>
            <a:srgbClr val="8B5A2B"/>
          </a:solidFill>
          <a:ln w="6350">
            <a:solidFill>
              <a:srgbClr val="8B5A2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920240" y="38816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Brown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3474720" y="388162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(Gigabit)</a:t>
            </a:r>
            <a:endParaRPr lang="en-US" sz="1300" dirty="0"/>
          </a:p>
        </p:txBody>
      </p:sp>
      <p:sp>
        <p:nvSpPr>
          <p:cNvPr id="42" name="card"/>
          <p:cNvSpPr/>
          <p:nvPr/>
        </p:nvSpPr>
        <p:spPr>
          <a:xfrm>
            <a:off x="4663440" y="1051560"/>
            <a:ext cx="4023360" cy="365760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4663440" y="1051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T568A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4663440" y="1481328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45" name="wire 1"/>
          <p:cNvSpPr/>
          <p:nvPr/>
        </p:nvSpPr>
        <p:spPr>
          <a:xfrm>
            <a:off x="5074920" y="1481328"/>
            <a:ext cx="914400" cy="301752"/>
          </a:xfrm>
          <a:prstGeom prst="rect">
            <a:avLst/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46" name="stripe 1"/>
          <p:cNvSpPr/>
          <p:nvPr/>
        </p:nvSpPr>
        <p:spPr>
          <a:xfrm>
            <a:off x="5074920" y="1581912"/>
            <a:ext cx="914400" cy="100584"/>
          </a:xfrm>
          <a:prstGeom prst="rect">
            <a:avLst/>
          </a:prstGeom>
          <a:solidFill>
            <a:srgbClr val="2E9E5B"/>
          </a:solidFill>
          <a:ln w="6350">
            <a:solidFill>
              <a:srgbClr val="2E9E5B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126480" y="14813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White/Green</a:t>
            </a:r>
            <a:endParaRPr lang="en-US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7680960" y="148132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TX+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4663440" y="1824228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50" name="wire 2"/>
          <p:cNvSpPr/>
          <p:nvPr/>
        </p:nvSpPr>
        <p:spPr>
          <a:xfrm>
            <a:off x="5074920" y="1824228"/>
            <a:ext cx="914400" cy="301752"/>
          </a:xfrm>
          <a:prstGeom prst="rect">
            <a:avLst/>
          </a:prstGeom>
          <a:solidFill>
            <a:srgbClr val="2E9E5B"/>
          </a:solidFill>
          <a:ln w="6350">
            <a:solidFill>
              <a:srgbClr val="2E9E5B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126480" y="18242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Green</a:t>
            </a:r>
            <a:endParaRPr lang="en-US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7680960" y="182422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TX-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4663440" y="2167128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54" name="wire 3"/>
          <p:cNvSpPr/>
          <p:nvPr/>
        </p:nvSpPr>
        <p:spPr>
          <a:xfrm>
            <a:off x="5074920" y="2167128"/>
            <a:ext cx="914400" cy="301752"/>
          </a:xfrm>
          <a:prstGeom prst="rect">
            <a:avLst/>
          </a:prstGeom>
          <a:solidFill>
            <a:srgbClr val="FFFFFF"/>
          </a:solidFill>
          <a:ln w="19050">
            <a:solidFill>
              <a:srgbClr val="F28C28"/>
            </a:solidFill>
            <a:prstDash val="solid"/>
          </a:ln>
        </p:spPr>
      </p:sp>
      <p:sp>
        <p:nvSpPr>
          <p:cNvPr id="55" name="stripe 3"/>
          <p:cNvSpPr/>
          <p:nvPr/>
        </p:nvSpPr>
        <p:spPr>
          <a:xfrm>
            <a:off x="5074920" y="2267712"/>
            <a:ext cx="914400" cy="100584"/>
          </a:xfrm>
          <a:prstGeom prst="rect">
            <a:avLst/>
          </a:prstGeom>
          <a:solidFill>
            <a:srgbClr val="F28C28"/>
          </a:solidFill>
          <a:ln w="6350">
            <a:solidFill>
              <a:srgbClr val="F28C28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126480" y="21671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White/Orange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7680960" y="216712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RX+</a:t>
            </a:r>
            <a:endParaRPr lang="en-US" sz="1300" dirty="0"/>
          </a:p>
        </p:txBody>
      </p:sp>
      <p:sp>
        <p:nvSpPr>
          <p:cNvPr id="58" name="Text 55"/>
          <p:cNvSpPr txBox="1"/>
          <p:nvPr/>
        </p:nvSpPr>
        <p:spPr>
          <a:xfrm>
            <a:off x="4663440" y="2510028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59" name="wire 4"/>
          <p:cNvSpPr/>
          <p:nvPr/>
        </p:nvSpPr>
        <p:spPr>
          <a:xfrm>
            <a:off x="5074920" y="2510028"/>
            <a:ext cx="914400" cy="301752"/>
          </a:xfrm>
          <a:prstGeom prst="rect">
            <a:avLst/>
          </a:prstGeom>
          <a:solidFill>
            <a:srgbClr val="2B6CB0"/>
          </a:solidFill>
          <a:ln w="6350">
            <a:solidFill>
              <a:srgbClr val="2B6CB0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126480" y="25100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Blue</a:t>
            </a:r>
            <a:endParaRPr lang="en-US" sz="1300" dirty="0"/>
          </a:p>
        </p:txBody>
      </p:sp>
      <p:sp>
        <p:nvSpPr>
          <p:cNvPr id="61" name="Text 58"/>
          <p:cNvSpPr txBox="1"/>
          <p:nvPr/>
        </p:nvSpPr>
        <p:spPr>
          <a:xfrm>
            <a:off x="7680960" y="251002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(Gigabit)</a:t>
            </a:r>
            <a:endParaRPr lang="en-US" sz="1300" dirty="0"/>
          </a:p>
        </p:txBody>
      </p:sp>
      <p:sp>
        <p:nvSpPr>
          <p:cNvPr id="62" name="Text 59"/>
          <p:cNvSpPr txBox="1"/>
          <p:nvPr/>
        </p:nvSpPr>
        <p:spPr>
          <a:xfrm>
            <a:off x="4663440" y="2852928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</a:t>
            </a:r>
            <a:endParaRPr lang="en-US" sz="1400" dirty="0"/>
          </a:p>
        </p:txBody>
      </p:sp>
      <p:sp>
        <p:nvSpPr>
          <p:cNvPr id="63" name="wire 5"/>
          <p:cNvSpPr/>
          <p:nvPr/>
        </p:nvSpPr>
        <p:spPr>
          <a:xfrm>
            <a:off x="5074920" y="2852928"/>
            <a:ext cx="914400" cy="301752"/>
          </a:xfrm>
          <a:prstGeom prst="rect">
            <a:avLst/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64" name="stripe 5"/>
          <p:cNvSpPr/>
          <p:nvPr/>
        </p:nvSpPr>
        <p:spPr>
          <a:xfrm>
            <a:off x="5074920" y="2953512"/>
            <a:ext cx="914400" cy="100584"/>
          </a:xfrm>
          <a:prstGeom prst="rect">
            <a:avLst/>
          </a:prstGeom>
          <a:solidFill>
            <a:srgbClr val="2B6CB0"/>
          </a:solidFill>
          <a:ln w="6350">
            <a:solidFill>
              <a:srgbClr val="2B6CB0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6126480" y="28529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White/Blue</a:t>
            </a:r>
            <a:endParaRPr lang="en-US" sz="1300" dirty="0"/>
          </a:p>
        </p:txBody>
      </p:sp>
      <p:sp>
        <p:nvSpPr>
          <p:cNvPr id="66" name="Text 63"/>
          <p:cNvSpPr txBox="1"/>
          <p:nvPr/>
        </p:nvSpPr>
        <p:spPr>
          <a:xfrm>
            <a:off x="7680960" y="285292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(Gigabit)</a:t>
            </a:r>
            <a:endParaRPr lang="en-US" sz="1300" dirty="0"/>
          </a:p>
        </p:txBody>
      </p:sp>
      <p:sp>
        <p:nvSpPr>
          <p:cNvPr id="67" name="Text 64"/>
          <p:cNvSpPr txBox="1"/>
          <p:nvPr/>
        </p:nvSpPr>
        <p:spPr>
          <a:xfrm>
            <a:off x="4663440" y="3195828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68" name="wire 6"/>
          <p:cNvSpPr/>
          <p:nvPr/>
        </p:nvSpPr>
        <p:spPr>
          <a:xfrm>
            <a:off x="5074920" y="3195828"/>
            <a:ext cx="914400" cy="301752"/>
          </a:xfrm>
          <a:prstGeom prst="rect">
            <a:avLst/>
          </a:prstGeom>
          <a:solidFill>
            <a:srgbClr val="F28C28"/>
          </a:solidFill>
          <a:ln w="6350">
            <a:solidFill>
              <a:srgbClr val="F28C28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6126480" y="31958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Orange</a:t>
            </a:r>
            <a:endParaRPr lang="en-US" sz="1300" dirty="0"/>
          </a:p>
        </p:txBody>
      </p:sp>
      <p:sp>
        <p:nvSpPr>
          <p:cNvPr id="70" name="Text 67"/>
          <p:cNvSpPr txBox="1"/>
          <p:nvPr/>
        </p:nvSpPr>
        <p:spPr>
          <a:xfrm>
            <a:off x="7680960" y="319582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RX-</a:t>
            </a:r>
            <a:endParaRPr lang="en-US" sz="1300" dirty="0"/>
          </a:p>
        </p:txBody>
      </p:sp>
      <p:sp>
        <p:nvSpPr>
          <p:cNvPr id="71" name="Text 68"/>
          <p:cNvSpPr txBox="1"/>
          <p:nvPr/>
        </p:nvSpPr>
        <p:spPr>
          <a:xfrm>
            <a:off x="4663440" y="3538728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7</a:t>
            </a:r>
            <a:endParaRPr lang="en-US" sz="1400" dirty="0"/>
          </a:p>
        </p:txBody>
      </p:sp>
      <p:sp>
        <p:nvSpPr>
          <p:cNvPr id="72" name="wire 7"/>
          <p:cNvSpPr/>
          <p:nvPr/>
        </p:nvSpPr>
        <p:spPr>
          <a:xfrm>
            <a:off x="5074920" y="3538728"/>
            <a:ext cx="914400" cy="30175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A2B"/>
            </a:solidFill>
            <a:prstDash val="solid"/>
          </a:ln>
        </p:spPr>
      </p:sp>
      <p:sp>
        <p:nvSpPr>
          <p:cNvPr id="73" name="stripe 7"/>
          <p:cNvSpPr/>
          <p:nvPr/>
        </p:nvSpPr>
        <p:spPr>
          <a:xfrm>
            <a:off x="5074920" y="3639312"/>
            <a:ext cx="914400" cy="100584"/>
          </a:xfrm>
          <a:prstGeom prst="rect">
            <a:avLst/>
          </a:prstGeom>
          <a:solidFill>
            <a:srgbClr val="8B5A2B"/>
          </a:solidFill>
          <a:ln w="6350">
            <a:solidFill>
              <a:srgbClr val="8B5A2B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6126480" y="35387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White/Brown</a:t>
            </a:r>
            <a:endParaRPr lang="en-US" sz="1300" dirty="0"/>
          </a:p>
        </p:txBody>
      </p:sp>
      <p:sp>
        <p:nvSpPr>
          <p:cNvPr id="75" name="Text 72"/>
          <p:cNvSpPr txBox="1"/>
          <p:nvPr/>
        </p:nvSpPr>
        <p:spPr>
          <a:xfrm>
            <a:off x="7680960" y="353872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(Gigabit)</a:t>
            </a:r>
            <a:endParaRPr lang="en-US" sz="1300" dirty="0"/>
          </a:p>
        </p:txBody>
      </p:sp>
      <p:sp>
        <p:nvSpPr>
          <p:cNvPr id="76" name="Text 73"/>
          <p:cNvSpPr txBox="1"/>
          <p:nvPr/>
        </p:nvSpPr>
        <p:spPr>
          <a:xfrm>
            <a:off x="4663440" y="3881628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8</a:t>
            </a:r>
            <a:endParaRPr lang="en-US" sz="1400" dirty="0"/>
          </a:p>
        </p:txBody>
      </p:sp>
      <p:sp>
        <p:nvSpPr>
          <p:cNvPr id="77" name="wire 8"/>
          <p:cNvSpPr/>
          <p:nvPr/>
        </p:nvSpPr>
        <p:spPr>
          <a:xfrm>
            <a:off x="5074920" y="3881628"/>
            <a:ext cx="914400" cy="301752"/>
          </a:xfrm>
          <a:prstGeom prst="rect">
            <a:avLst/>
          </a:prstGeom>
          <a:solidFill>
            <a:srgbClr val="8B5A2B"/>
          </a:solidFill>
          <a:ln w="6350">
            <a:solidFill>
              <a:srgbClr val="8B5A2B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6126480" y="38816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Brown</a:t>
            </a:r>
            <a:endParaRPr lang="en-US" sz="1300" dirty="0"/>
          </a:p>
        </p:txBody>
      </p:sp>
      <p:sp>
        <p:nvSpPr>
          <p:cNvPr id="79" name="Text 76"/>
          <p:cNvSpPr txBox="1"/>
          <p:nvPr/>
        </p:nvSpPr>
        <p:spPr>
          <a:xfrm>
            <a:off x="7680960" y="388162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(Gigabit)</a:t>
            </a:r>
            <a:endParaRPr lang="en-US" sz="1300" dirty="0"/>
          </a:p>
        </p:txBody>
      </p:sp>
      <p:sp>
        <p:nvSpPr>
          <p:cNvPr id="80" name="card"/>
          <p:cNvSpPr/>
          <p:nvPr/>
        </p:nvSpPr>
        <p:spPr>
          <a:xfrm>
            <a:off x="457200" y="4297680"/>
            <a:ext cx="8229600" cy="411480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81" name="Text 78"/>
          <p:cNvSpPr txBox="1"/>
          <p:nvPr/>
        </p:nvSpPr>
        <p:spPr>
          <a:xfrm>
            <a:off x="548640" y="42976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Straight-through: </a:t>
            </a:r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same standard on both ends (B-B).  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Crossover: </a:t>
            </a:r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on one end, B on the other.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Straight-through vs crossover</a:t>
            </a:r>
            <a:endParaRPr lang="en-US" sz="3200" dirty="0"/>
          </a:p>
        </p:txBody>
      </p:sp>
      <p:sp>
        <p:nvSpPr>
          <p:cNvPr id="4" name="photo frame"/>
          <p:cNvSpPr/>
          <p:nvPr/>
        </p:nvSpPr>
        <p:spPr>
          <a:xfrm>
            <a:off x="365760" y="1097280"/>
            <a:ext cx="5394960" cy="3108960"/>
          </a:xfrm>
          <a:prstGeom prst="roundRect">
            <a:avLst>
              <a:gd name="adj" fmla="val 2941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5" name="Image 0" descr="RJ-45 plugs with T568A and T568B colours, straight-through and crossover wi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47226"/>
            <a:ext cx="5303520" cy="2809068"/>
          </a:xfrm>
          <a:prstGeom prst="rect">
            <a:avLst/>
          </a:prstGeom>
        </p:spPr>
      </p:pic>
      <p:sp>
        <p:nvSpPr>
          <p:cNvPr id="6" name="card"/>
          <p:cNvSpPr/>
          <p:nvPr/>
        </p:nvSpPr>
        <p:spPr>
          <a:xfrm>
            <a:off x="5943600" y="1097280"/>
            <a:ext cx="274320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6080760" y="115214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Straight-through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080760" y="14447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TX+ meets RX+ through a hub or switch. Pin 1 to 1, 2 to 2, 3 to 3, 6 to 6.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5943600" y="2212848"/>
            <a:ext cx="2743200" cy="1005840"/>
          </a:xfrm>
          <a:prstGeom prst="roundRect">
            <a:avLst>
              <a:gd name="adj" fmla="val 9091"/>
            </a:avLst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60807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Crossover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080760" y="25603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Pins 1 and 3 swap, 2 and 6 swap, so TX on one PC meets RX on the other.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5943600" y="3328416"/>
            <a:ext cx="2743200" cy="1005840"/>
          </a:xfrm>
          <a:prstGeom prst="roundRect">
            <a:avLst>
              <a:gd name="adj" fmla="val 9091"/>
            </a:avLst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6080760" y="3383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Auto-MDIX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080760" y="367588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Modern ports detect the cable and swap pairs themselves.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Remember: TX (transmit) must always meet RX (receive).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Which cable do I use?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457200" y="1097280"/>
            <a:ext cx="155448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457200" y="10972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PC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2011680" y="1371600"/>
            <a:ext cx="128016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7" name="card"/>
          <p:cNvSpPr/>
          <p:nvPr/>
        </p:nvSpPr>
        <p:spPr>
          <a:xfrm>
            <a:off x="3291840" y="1097280"/>
            <a:ext cx="155448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291840" y="10972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Switch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120640" y="1097280"/>
            <a:ext cx="1828800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120640" y="1097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Straight-through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1097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Different devices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457200" y="1810512"/>
            <a:ext cx="155448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7200" y="18105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Router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2011680" y="2084832"/>
            <a:ext cx="128016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15" name="card"/>
          <p:cNvSpPr/>
          <p:nvPr/>
        </p:nvSpPr>
        <p:spPr>
          <a:xfrm>
            <a:off x="3291840" y="1810512"/>
            <a:ext cx="155448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291840" y="18105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Switch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5120640" y="1810512"/>
            <a:ext cx="1828800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120640" y="181051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Straight-through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132320" y="18105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Different devices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457200" y="2523744"/>
            <a:ext cx="155448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457200" y="25237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Switch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2011680" y="2798064"/>
            <a:ext cx="128016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23" name="card"/>
          <p:cNvSpPr/>
          <p:nvPr/>
        </p:nvSpPr>
        <p:spPr>
          <a:xfrm>
            <a:off x="3291840" y="2523744"/>
            <a:ext cx="155448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3291840" y="25237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Switch</a:t>
            </a:r>
            <a:endParaRPr lang="en-US" sz="1500" dirty="0"/>
          </a:p>
        </p:txBody>
      </p:sp>
      <p:sp>
        <p:nvSpPr>
          <p:cNvPr id="25" name="card"/>
          <p:cNvSpPr/>
          <p:nvPr/>
        </p:nvSpPr>
        <p:spPr>
          <a:xfrm>
            <a:off x="5120640" y="2523744"/>
            <a:ext cx="1828800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5120640" y="252374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Crossover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0" y="252374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Same devices</a:t>
            </a:r>
            <a:endParaRPr lang="en-US" sz="1400" dirty="0"/>
          </a:p>
        </p:txBody>
      </p:sp>
      <p:sp>
        <p:nvSpPr>
          <p:cNvPr id="28" name="card"/>
          <p:cNvSpPr/>
          <p:nvPr/>
        </p:nvSpPr>
        <p:spPr>
          <a:xfrm>
            <a:off x="457200" y="3236976"/>
            <a:ext cx="155448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457200" y="32369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PC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2011680" y="3511296"/>
            <a:ext cx="128016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31" name="card"/>
          <p:cNvSpPr/>
          <p:nvPr/>
        </p:nvSpPr>
        <p:spPr>
          <a:xfrm>
            <a:off x="3291840" y="3236976"/>
            <a:ext cx="155448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3291840" y="32369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PC</a:t>
            </a:r>
            <a:endParaRPr lang="en-US" sz="1500" dirty="0"/>
          </a:p>
        </p:txBody>
      </p:sp>
      <p:sp>
        <p:nvSpPr>
          <p:cNvPr id="33" name="card"/>
          <p:cNvSpPr/>
          <p:nvPr/>
        </p:nvSpPr>
        <p:spPr>
          <a:xfrm>
            <a:off x="5120640" y="3236976"/>
            <a:ext cx="1828800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5120640" y="323697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Crossover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32320" y="323697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Same devices</a:t>
            </a:r>
            <a:endParaRPr lang="en-US" sz="1400" dirty="0"/>
          </a:p>
        </p:txBody>
      </p:sp>
      <p:sp>
        <p:nvSpPr>
          <p:cNvPr id="36" name="card"/>
          <p:cNvSpPr/>
          <p:nvPr/>
        </p:nvSpPr>
        <p:spPr>
          <a:xfrm>
            <a:off x="457200" y="3950208"/>
            <a:ext cx="155448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457200" y="395020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PC (COM)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2011680" y="4224528"/>
            <a:ext cx="1280160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9" name="card"/>
          <p:cNvSpPr/>
          <p:nvPr/>
        </p:nvSpPr>
        <p:spPr>
          <a:xfrm>
            <a:off x="3291840" y="3950208"/>
            <a:ext cx="155448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3291840" y="395020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Console port</a:t>
            </a:r>
            <a:endParaRPr lang="en-US" sz="1500" dirty="0"/>
          </a:p>
        </p:txBody>
      </p:sp>
      <p:sp>
        <p:nvSpPr>
          <p:cNvPr id="41" name="card"/>
          <p:cNvSpPr/>
          <p:nvPr/>
        </p:nvSpPr>
        <p:spPr>
          <a:xfrm>
            <a:off x="5120640" y="3950208"/>
            <a:ext cx="1828800" cy="54864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5120640" y="39502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Rollover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132320" y="395020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Management access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Tools to make and test a cable</a:t>
            </a:r>
            <a:endParaRPr lang="en-US" sz="3200" dirty="0"/>
          </a:p>
        </p:txBody>
      </p:sp>
      <p:sp>
        <p:nvSpPr>
          <p:cNvPr id="4" name="photo frame"/>
          <p:cNvSpPr/>
          <p:nvPr/>
        </p:nvSpPr>
        <p:spPr>
          <a:xfrm>
            <a:off x="457200" y="1097280"/>
            <a:ext cx="2103120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5" name="Image 0" descr="RJ-45 crimping to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419" y="1143000"/>
            <a:ext cx="1954682" cy="2011680"/>
          </a:xfrm>
          <a:prstGeom prst="rect">
            <a:avLst/>
          </a:prstGeom>
        </p:spPr>
      </p:pic>
      <p:sp>
        <p:nvSpPr>
          <p:cNvPr id="6" name="photo frame"/>
          <p:cNvSpPr/>
          <p:nvPr/>
        </p:nvSpPr>
        <p:spPr>
          <a:xfrm>
            <a:off x="2743200" y="1097280"/>
            <a:ext cx="2834640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Image 1" descr="LAN cable tester with two uni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226127"/>
            <a:ext cx="2743200" cy="1845425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5760720" y="1097280"/>
            <a:ext cx="292608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9" name="card"/>
          <p:cNvSpPr/>
          <p:nvPr/>
        </p:nvSpPr>
        <p:spPr>
          <a:xfrm>
            <a:off x="5760720" y="2240280"/>
            <a:ext cx="292608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>
            <a:off x="5852160" y="10972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Crimping tool: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presses the plug onto the wires; also strips and cuts.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852160" y="22402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Cable tester: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LEDs light pin 1 to 8 in order if the cable is good.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457200" y="3429000"/>
            <a:ext cx="1554480" cy="1234440"/>
          </a:xfrm>
          <a:prstGeom prst="roundRect">
            <a:avLst>
              <a:gd name="adj" fmla="val 740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3" name="badge"/>
          <p:cNvSpPr/>
          <p:nvPr/>
        </p:nvSpPr>
        <p:spPr>
          <a:xfrm>
            <a:off x="548640" y="352044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48640" y="3520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3931920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Strip about 2.5 cm of jacket</a:t>
            </a:r>
            <a:endParaRPr lang="en-US" sz="1300" dirty="0"/>
          </a:p>
        </p:txBody>
      </p:sp>
      <p:sp>
        <p:nvSpPr>
          <p:cNvPr id="16" name="card"/>
          <p:cNvSpPr/>
          <p:nvPr/>
        </p:nvSpPr>
        <p:spPr>
          <a:xfrm>
            <a:off x="2121408" y="3429000"/>
            <a:ext cx="1554480" cy="1234440"/>
          </a:xfrm>
          <a:prstGeom prst="roundRect">
            <a:avLst>
              <a:gd name="adj" fmla="val 740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7" name="badge"/>
          <p:cNvSpPr/>
          <p:nvPr/>
        </p:nvSpPr>
        <p:spPr>
          <a:xfrm>
            <a:off x="2212848" y="352044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212848" y="3520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2212848" y="3931920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Untwist and arrange T568B</a:t>
            </a:r>
            <a:endParaRPr lang="en-US" sz="1300" dirty="0"/>
          </a:p>
        </p:txBody>
      </p:sp>
      <p:sp>
        <p:nvSpPr>
          <p:cNvPr id="20" name="card"/>
          <p:cNvSpPr/>
          <p:nvPr/>
        </p:nvSpPr>
        <p:spPr>
          <a:xfrm>
            <a:off x="3785616" y="3429000"/>
            <a:ext cx="1554480" cy="1234440"/>
          </a:xfrm>
          <a:prstGeom prst="roundRect">
            <a:avLst>
              <a:gd name="adj" fmla="val 740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1" name="badge"/>
          <p:cNvSpPr/>
          <p:nvPr/>
        </p:nvSpPr>
        <p:spPr>
          <a:xfrm>
            <a:off x="3877056" y="352044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877056" y="3520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3877056" y="3931920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Trim flat and insert to the end</a:t>
            </a:r>
            <a:endParaRPr lang="en-US" sz="1300" dirty="0"/>
          </a:p>
        </p:txBody>
      </p:sp>
      <p:sp>
        <p:nvSpPr>
          <p:cNvPr id="24" name="card"/>
          <p:cNvSpPr/>
          <p:nvPr/>
        </p:nvSpPr>
        <p:spPr>
          <a:xfrm>
            <a:off x="5449824" y="3429000"/>
            <a:ext cx="1554480" cy="1234440"/>
          </a:xfrm>
          <a:prstGeom prst="roundRect">
            <a:avLst>
              <a:gd name="adj" fmla="val 740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5" name="badge"/>
          <p:cNvSpPr/>
          <p:nvPr/>
        </p:nvSpPr>
        <p:spPr>
          <a:xfrm>
            <a:off x="5541264" y="352044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541264" y="3520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5541264" y="3931920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Crimp with the tool</a:t>
            </a:r>
            <a:endParaRPr lang="en-US" sz="1300" dirty="0"/>
          </a:p>
        </p:txBody>
      </p:sp>
      <p:sp>
        <p:nvSpPr>
          <p:cNvPr id="28" name="card"/>
          <p:cNvSpPr/>
          <p:nvPr/>
        </p:nvSpPr>
        <p:spPr>
          <a:xfrm>
            <a:off x="7114032" y="3429000"/>
            <a:ext cx="1554480" cy="1234440"/>
          </a:xfrm>
          <a:prstGeom prst="roundRect">
            <a:avLst>
              <a:gd name="adj" fmla="val 7407"/>
            </a:avLst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9" name="badge"/>
          <p:cNvSpPr/>
          <p:nvPr/>
        </p:nvSpPr>
        <p:spPr>
          <a:xfrm>
            <a:off x="7205472" y="352044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205472" y="3520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7205472" y="3931920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Test with the tester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Common connectors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457200" y="1097280"/>
            <a:ext cx="1965960" cy="35661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photo frame"/>
          <p:cNvSpPr/>
          <p:nvPr/>
        </p:nvSpPr>
        <p:spPr>
          <a:xfrm>
            <a:off x="548640" y="1188720"/>
            <a:ext cx="1783080" cy="1554480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6" name="Image 0" descr="RJ-45 connec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7862" y="1216152"/>
            <a:ext cx="1424635" cy="149961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2880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RJ-45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94360" y="329184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 pins. Ethernet / UTP LAN cables.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2560320" y="1097280"/>
            <a:ext cx="1965960" cy="35661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photo frame"/>
          <p:cNvSpPr/>
          <p:nvPr/>
        </p:nvSpPr>
        <p:spPr>
          <a:xfrm>
            <a:off x="2651760" y="1188720"/>
            <a:ext cx="1783080" cy="1554480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1" name="Image 1" descr="RJ-11 connec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3492" y="1216152"/>
            <a:ext cx="1499616" cy="149961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697480" y="2880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RJ-11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2697480" y="329184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 position. Telephone and DSL lines.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4663440" y="1097280"/>
            <a:ext cx="1965960" cy="35661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5" name="photo frame"/>
          <p:cNvSpPr/>
          <p:nvPr/>
        </p:nvSpPr>
        <p:spPr>
          <a:xfrm>
            <a:off x="4754880" y="1188720"/>
            <a:ext cx="1783080" cy="1554480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6" name="Image 2" descr="DB9 connect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1557909"/>
            <a:ext cx="1728216" cy="81610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800600" y="2880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DB9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4800600" y="329184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 pins, male or female. Serial and console.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6766560" y="1097280"/>
            <a:ext cx="1965960" cy="35661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0" name="photo frame"/>
          <p:cNvSpPr/>
          <p:nvPr/>
        </p:nvSpPr>
        <p:spPr>
          <a:xfrm>
            <a:off x="6858000" y="1188720"/>
            <a:ext cx="1783080" cy="1554480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1" name="Image 3" descr="BNC connect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5432" y="1672331"/>
            <a:ext cx="1728216" cy="58725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903720" y="2880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BNC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6903720" y="329184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Twist-lock plug and T-piece for coaxial.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Router serial (WAN) connections</a:t>
            </a:r>
            <a:endParaRPr lang="en-US" sz="3200" dirty="0"/>
          </a:p>
        </p:txBody>
      </p:sp>
      <p:sp>
        <p:nvSpPr>
          <p:cNvPr id="4" name="photo frame"/>
          <p:cNvSpPr/>
          <p:nvPr/>
        </p:nvSpPr>
        <p:spPr>
          <a:xfrm>
            <a:off x="365760" y="1097280"/>
            <a:ext cx="5120640" cy="2834640"/>
          </a:xfrm>
          <a:prstGeom prst="roundRect">
            <a:avLst>
              <a:gd name="adj" fmla="val 3226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5" name="Image 0" descr="Router serial cables with EIA/TIA-232, 449, V.35, X.21 and EIA-530 modem-end connec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30187"/>
            <a:ext cx="5029200" cy="236882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65760" y="40233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Router end is the same. The modem / CSU-DSU end changes.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760720" y="1097280"/>
            <a:ext cx="2926080" cy="475488"/>
          </a:xfrm>
          <a:prstGeom prst="roundRect">
            <a:avLst>
              <a:gd name="adj" fmla="val 19231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5760720" y="109728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EIA/TIA-232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760720" y="1664208"/>
            <a:ext cx="292608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760720" y="166420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EIA/TIA-449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5760720" y="2231136"/>
            <a:ext cx="2926080" cy="475488"/>
          </a:xfrm>
          <a:prstGeom prst="roundRect">
            <a:avLst>
              <a:gd name="adj" fmla="val 19231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5760720" y="223113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V.35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5760720" y="2798064"/>
            <a:ext cx="292608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760720" y="2798064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X.21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5760720" y="3364992"/>
            <a:ext cx="2926080" cy="475488"/>
          </a:xfrm>
          <a:prstGeom prst="roundRect">
            <a:avLst>
              <a:gd name="adj" fmla="val 19231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5760720" y="3364992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EIA-530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760720" y="4023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Used for leased lines to your provider.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Wireless (unguided) media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697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Radio waves, microwave and infrared - then compare everything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Wireless media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457200" y="1097280"/>
            <a:ext cx="265176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badge"/>
          <p:cNvSpPr/>
          <p:nvPr/>
        </p:nvSpPr>
        <p:spPr>
          <a:xfrm>
            <a:off x="594360" y="123444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1234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Radio waves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737360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2.4 GHz and 5 GHz. Wi-Fi (wireless LAN), Bluetooth. Pass through walls; shared and prone to interference.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3291840" y="1097280"/>
            <a:ext cx="265176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badge"/>
          <p:cNvSpPr/>
          <p:nvPr/>
        </p:nvSpPr>
        <p:spPr>
          <a:xfrm>
            <a:off x="3429000" y="123444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290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931920" y="1234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Microwave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1737360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SATCOM / VSAT, point-to-point links. Needs line of sight; weather can weaken it.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6126480" y="1097280"/>
            <a:ext cx="265176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5" name="badge"/>
          <p:cNvSpPr/>
          <p:nvPr/>
        </p:nvSpPr>
        <p:spPr>
          <a:xfrm>
            <a:off x="6263640" y="1234440"/>
            <a:ext cx="384048" cy="384048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6364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766560" y="1234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Infrared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263640" y="1737360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TV remote controls. Very short range, line of sight, blocked by walls.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Electromagnetic spectrum (frequency increases to the right)</a:t>
            </a:r>
            <a:endParaRPr lang="en-US" sz="1400" dirty="0"/>
          </a:p>
        </p:txBody>
      </p:sp>
      <p:sp>
        <p:nvSpPr>
          <p:cNvPr id="20" name="spectrum Radio"/>
          <p:cNvSpPr/>
          <p:nvPr/>
        </p:nvSpPr>
        <p:spPr>
          <a:xfrm>
            <a:off x="457200" y="3749040"/>
            <a:ext cx="1371600" cy="5029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7200" y="3749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Radio</a:t>
            </a:r>
            <a:endParaRPr lang="en-US" sz="1400" dirty="0"/>
          </a:p>
        </p:txBody>
      </p:sp>
      <p:sp>
        <p:nvSpPr>
          <p:cNvPr id="22" name="spectrum Microwave"/>
          <p:cNvSpPr/>
          <p:nvPr/>
        </p:nvSpPr>
        <p:spPr>
          <a:xfrm>
            <a:off x="1828800" y="3749040"/>
            <a:ext cx="1371600" cy="50292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828800" y="3749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Microwave</a:t>
            </a:r>
            <a:endParaRPr lang="en-US" sz="1400" dirty="0"/>
          </a:p>
        </p:txBody>
      </p:sp>
      <p:sp>
        <p:nvSpPr>
          <p:cNvPr id="24" name="spectrum Infrared"/>
          <p:cNvSpPr/>
          <p:nvPr/>
        </p:nvSpPr>
        <p:spPr>
          <a:xfrm>
            <a:off x="3200400" y="3749040"/>
            <a:ext cx="1371600" cy="50292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00400" y="3749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Infrared</a:t>
            </a:r>
            <a:endParaRPr lang="en-US" sz="1400" dirty="0"/>
          </a:p>
        </p:txBody>
      </p:sp>
      <p:sp>
        <p:nvSpPr>
          <p:cNvPr id="26" name="spectrum Visible"/>
          <p:cNvSpPr/>
          <p:nvPr/>
        </p:nvSpPr>
        <p:spPr>
          <a:xfrm>
            <a:off x="4572000" y="3749040"/>
            <a:ext cx="1371600" cy="50292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3749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Visible</a:t>
            </a:r>
            <a:endParaRPr lang="en-US" sz="1400" dirty="0"/>
          </a:p>
        </p:txBody>
      </p:sp>
      <p:sp>
        <p:nvSpPr>
          <p:cNvPr id="28" name="spectrum Ultraviolet"/>
          <p:cNvSpPr/>
          <p:nvPr/>
        </p:nvSpPr>
        <p:spPr>
          <a:xfrm>
            <a:off x="5943600" y="3749040"/>
            <a:ext cx="1371600" cy="50292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943600" y="3749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Ultraviolet</a:t>
            </a:r>
            <a:endParaRPr lang="en-US" sz="1400" dirty="0"/>
          </a:p>
        </p:txBody>
      </p:sp>
      <p:sp>
        <p:nvSpPr>
          <p:cNvPr id="30" name="spectrum X-ray"/>
          <p:cNvSpPr/>
          <p:nvPr/>
        </p:nvSpPr>
        <p:spPr>
          <a:xfrm>
            <a:off x="7315200" y="3749040"/>
            <a:ext cx="1371600" cy="502920"/>
          </a:xfrm>
          <a:prstGeom prst="rect">
            <a:avLst/>
          </a:prstGeom>
          <a:solidFill>
            <a:schemeClr val="tx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315200" y="3749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X-ray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Wi-Fi, microwave and infrared are all on the left side.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All media compared</a:t>
            </a:r>
            <a:endParaRPr lang="en-US" sz="3200" dirty="0"/>
          </a:p>
        </p:txBody>
      </p:sp>
      <p:graphicFrame>
        <p:nvGraphicFramePr>
          <p:cNvPr id="2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280160"/>
                <a:gridCol w="1188720"/>
                <a:gridCol w="1371600"/>
                <a:gridCol w="17373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Medium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Speed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Distance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Cost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Noise (EMI)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Security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Coaxial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Low-Med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Medium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Good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Medium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UTP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High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Low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Fair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Medium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STP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High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Medium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Good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Medium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Fiber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Very high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Km+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High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Immune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High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Radio (Wi-Fi)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Medium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10s of 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Low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Prone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Needs encryption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Microwave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Med-High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Km (LoS)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High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Weather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Medium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Infrared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Low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 few 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Very low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Light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Stays in room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Speed ladder: copper to fiber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"/>
          <p:cNvSpPr/>
          <p:nvPr/>
        </p:nvSpPr>
        <p:spPr>
          <a:xfrm>
            <a:off x="5852160" y="1097280"/>
            <a:ext cx="283464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5943600" y="11430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1000x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5943600" y="175564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Fiber vs classic coax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5852160" y="2313432"/>
            <a:ext cx="283464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5943600" y="2359152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10x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5943600" y="2971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jump up the ladder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5852160" y="3529584"/>
            <a:ext cx="283464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5943600" y="3575304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m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5943600" y="41879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copper limit, fiber goes km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Which medium for which job?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457200" y="1143000"/>
            <a:ext cx="26517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badge"/>
          <p:cNvSpPr/>
          <p:nvPr/>
        </p:nvSpPr>
        <p:spPr>
          <a:xfrm>
            <a:off x="594360" y="128016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12801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Home / office LAN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920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Cat6 UTP</a:t>
            </a:r>
            <a:endParaRPr lang="en-US" sz="2000" dirty="0"/>
          </a:p>
        </p:txBody>
      </p:sp>
      <p:sp>
        <p:nvSpPr>
          <p:cNvPr id="9" name="card"/>
          <p:cNvSpPr/>
          <p:nvPr/>
        </p:nvSpPr>
        <p:spPr>
          <a:xfrm>
            <a:off x="3291840" y="1143000"/>
            <a:ext cx="26517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badge"/>
          <p:cNvSpPr/>
          <p:nvPr/>
        </p:nvSpPr>
        <p:spPr>
          <a:xfrm>
            <a:off x="3429000" y="128016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290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931920" y="12801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Noisy factory or lab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1920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STP</a:t>
            </a:r>
            <a:endParaRPr lang="en-US" sz="2000" dirty="0"/>
          </a:p>
        </p:txBody>
      </p:sp>
      <p:sp>
        <p:nvSpPr>
          <p:cNvPr id="14" name="card"/>
          <p:cNvSpPr/>
          <p:nvPr/>
        </p:nvSpPr>
        <p:spPr>
          <a:xfrm>
            <a:off x="6126480" y="1143000"/>
            <a:ext cx="26517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5" name="badge"/>
          <p:cNvSpPr/>
          <p:nvPr/>
        </p:nvSpPr>
        <p:spPr>
          <a:xfrm>
            <a:off x="6263640" y="128016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6364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766560" y="12801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Campus or city backbone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263640" y="1920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Single-mode fiber</a:t>
            </a:r>
            <a:endParaRPr lang="en-US" sz="2000" dirty="0"/>
          </a:p>
        </p:txBody>
      </p:sp>
      <p:sp>
        <p:nvSpPr>
          <p:cNvPr id="19" name="card"/>
          <p:cNvSpPr/>
          <p:nvPr/>
        </p:nvSpPr>
        <p:spPr>
          <a:xfrm>
            <a:off x="457200" y="2880360"/>
            <a:ext cx="26517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0" name="badge"/>
          <p:cNvSpPr/>
          <p:nvPr/>
        </p:nvSpPr>
        <p:spPr>
          <a:xfrm>
            <a:off x="594360" y="3017520"/>
            <a:ext cx="384048" cy="384048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9436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097280" y="3017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Cable TV and CCTV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Coaxial</a:t>
            </a:r>
            <a:endParaRPr lang="en-US" sz="2000" dirty="0"/>
          </a:p>
        </p:txBody>
      </p:sp>
      <p:sp>
        <p:nvSpPr>
          <p:cNvPr id="24" name="card"/>
          <p:cNvSpPr/>
          <p:nvPr/>
        </p:nvSpPr>
        <p:spPr>
          <a:xfrm>
            <a:off x="3291840" y="2880360"/>
            <a:ext cx="26517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5" name="badge"/>
          <p:cNvSpPr/>
          <p:nvPr/>
        </p:nvSpPr>
        <p:spPr>
          <a:xfrm>
            <a:off x="3429000" y="3017520"/>
            <a:ext cx="384048" cy="384048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2900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931920" y="3017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Laptops and phones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Wi-Fi (radio)</a:t>
            </a:r>
            <a:endParaRPr lang="en-US" sz="2000" dirty="0"/>
          </a:p>
        </p:txBody>
      </p:sp>
      <p:sp>
        <p:nvSpPr>
          <p:cNvPr id="29" name="card"/>
          <p:cNvSpPr/>
          <p:nvPr/>
        </p:nvSpPr>
        <p:spPr>
          <a:xfrm>
            <a:off x="6126480" y="2880360"/>
            <a:ext cx="26517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30" name="badge"/>
          <p:cNvSpPr/>
          <p:nvPr/>
        </p:nvSpPr>
        <p:spPr>
          <a:xfrm>
            <a:off x="6263640" y="3017520"/>
            <a:ext cx="384048" cy="384048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6364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766560" y="3017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Remote site or ship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VSAT (microwave)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45720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Decide with six factors: speed, distance, cost, interference, security, installation.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Memory tricks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457200" y="1143000"/>
            <a:ext cx="4023360" cy="1600200"/>
          </a:xfrm>
          <a:prstGeom prst="roundRect">
            <a:avLst>
              <a:gd name="adj" fmla="val 5714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85800" y="1325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 = Straight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745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Different devices use a Straight-through cable (PC to Switch).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663440" y="1143000"/>
            <a:ext cx="4023360" cy="1600200"/>
          </a:xfrm>
          <a:prstGeom prst="roundRect">
            <a:avLst>
              <a:gd name="adj" fmla="val 5714"/>
            </a:avLst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92040" y="1325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= Cross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18745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Same devices need a Crossover cable (Switch to Switch).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57200" y="2926080"/>
            <a:ext cx="4023360" cy="1600200"/>
          </a:xfrm>
          <a:prstGeom prst="roundRect">
            <a:avLst>
              <a:gd name="adj" fmla="val 5714"/>
            </a:avLst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85800" y="3108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Console = Roll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36576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Management access uses the Rollover cable (light blue).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4663440" y="2926080"/>
            <a:ext cx="4023360" cy="1600200"/>
          </a:xfrm>
          <a:prstGeom prst="roundRect">
            <a:avLst>
              <a:gd name="adj" fmla="val 5714"/>
            </a:avLst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892040" y="3108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Twist beats noise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36576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Twisted pairs cancel EMI. Fiber uses light, so nothing to cancel.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Test yourself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457200" y="114300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badge"/>
          <p:cNvSpPr/>
          <p:nvPr/>
        </p:nvSpPr>
        <p:spPr>
          <a:xfrm>
            <a:off x="640080" y="1444752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4447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1430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 is networking media?</a:t>
            </a:r>
            <a:endParaRPr lang="en-US" sz="1600" dirty="0"/>
          </a:p>
        </p:txBody>
      </p:sp>
      <p:sp>
        <p:nvSpPr>
          <p:cNvPr id="8" name="card"/>
          <p:cNvSpPr/>
          <p:nvPr/>
        </p:nvSpPr>
        <p:spPr>
          <a:xfrm>
            <a:off x="4663440" y="114300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9" name="badge"/>
          <p:cNvSpPr/>
          <p:nvPr/>
        </p:nvSpPr>
        <p:spPr>
          <a:xfrm>
            <a:off x="4846320" y="1444752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46320" y="14447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40680" y="11430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Name the three wired media.</a:t>
            </a:r>
            <a:endParaRPr lang="en-US" sz="1600" dirty="0"/>
          </a:p>
        </p:txBody>
      </p:sp>
      <p:sp>
        <p:nvSpPr>
          <p:cNvPr id="12" name="card"/>
          <p:cNvSpPr/>
          <p:nvPr/>
        </p:nvSpPr>
        <p:spPr>
          <a:xfrm>
            <a:off x="457200" y="233172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3" name="badge"/>
          <p:cNvSpPr/>
          <p:nvPr/>
        </p:nvSpPr>
        <p:spPr>
          <a:xfrm>
            <a:off x="640080" y="2633472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633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Which UTP cable joins two switches?</a:t>
            </a:r>
            <a:endParaRPr lang="en-US" sz="1600" dirty="0"/>
          </a:p>
        </p:txBody>
      </p:sp>
      <p:sp>
        <p:nvSpPr>
          <p:cNvPr id="16" name="card"/>
          <p:cNvSpPr/>
          <p:nvPr/>
        </p:nvSpPr>
        <p:spPr>
          <a:xfrm>
            <a:off x="4663440" y="233172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7" name="badge"/>
          <p:cNvSpPr/>
          <p:nvPr/>
        </p:nvSpPr>
        <p:spPr>
          <a:xfrm>
            <a:off x="4846320" y="2633472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46320" y="2633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4068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Why are twisted-pair wires twisted?</a:t>
            </a:r>
            <a:endParaRPr lang="en-US" sz="1600" dirty="0"/>
          </a:p>
        </p:txBody>
      </p:sp>
      <p:sp>
        <p:nvSpPr>
          <p:cNvPr id="20" name="card"/>
          <p:cNvSpPr/>
          <p:nvPr/>
        </p:nvSpPr>
        <p:spPr>
          <a:xfrm>
            <a:off x="457200" y="352044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1" name="badge"/>
          <p:cNvSpPr/>
          <p:nvPr/>
        </p:nvSpPr>
        <p:spPr>
          <a:xfrm>
            <a:off x="640080" y="3822192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" y="3822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Which tool attaches the RJ-45 plug?</a:t>
            </a:r>
            <a:endParaRPr lang="en-US" sz="1600" dirty="0"/>
          </a:p>
        </p:txBody>
      </p:sp>
      <p:sp>
        <p:nvSpPr>
          <p:cNvPr id="24" name="card"/>
          <p:cNvSpPr/>
          <p:nvPr/>
        </p:nvSpPr>
        <p:spPr>
          <a:xfrm>
            <a:off x="4663440" y="352044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5" name="badge"/>
          <p:cNvSpPr/>
          <p:nvPr/>
        </p:nvSpPr>
        <p:spPr>
          <a:xfrm>
            <a:off x="4846320" y="3822192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46320" y="3822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44068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Which medium is immune to EMI?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Answers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457200" y="114300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badge"/>
          <p:cNvSpPr/>
          <p:nvPr/>
        </p:nvSpPr>
        <p:spPr>
          <a:xfrm>
            <a:off x="640080" y="1444752"/>
            <a:ext cx="411480" cy="41148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447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1430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The physical path or wireless channel that carries data signals.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663440" y="114300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8" name="badge"/>
          <p:cNvSpPr/>
          <p:nvPr/>
        </p:nvSpPr>
        <p:spPr>
          <a:xfrm>
            <a:off x="4846320" y="1444752"/>
            <a:ext cx="411480" cy="41148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4447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11430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Coaxial, twisted pair, optical fiber.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457200" y="233172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2" name="badge"/>
          <p:cNvSpPr/>
          <p:nvPr/>
        </p:nvSpPr>
        <p:spPr>
          <a:xfrm>
            <a:off x="640080" y="2633472"/>
            <a:ext cx="411480" cy="41148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633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Crossover cable (same devices).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4663440" y="233172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badge"/>
          <p:cNvSpPr/>
          <p:nvPr/>
        </p:nvSpPr>
        <p:spPr>
          <a:xfrm>
            <a:off x="4846320" y="2633472"/>
            <a:ext cx="411480" cy="41148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633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To cancel electrical interference and crosstalk.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457200" y="352044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0" name="badge"/>
          <p:cNvSpPr/>
          <p:nvPr/>
        </p:nvSpPr>
        <p:spPr>
          <a:xfrm>
            <a:off x="640080" y="3822192"/>
            <a:ext cx="411480" cy="41148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822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The crimping tool (then test with a cable tester).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4663440" y="352044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4" name="badge"/>
          <p:cNvSpPr/>
          <p:nvPr/>
        </p:nvSpPr>
        <p:spPr>
          <a:xfrm>
            <a:off x="4846320" y="3822192"/>
            <a:ext cx="411480" cy="41148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822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Optical fiber, because it carries light.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600" dirty="0"/>
          </a:p>
        </p:txBody>
      </p:sp>
      <p:sp>
        <p:nvSpPr>
          <p:cNvPr id="3" name="badge"/>
          <p:cNvSpPr/>
          <p:nvPr/>
        </p:nvSpPr>
        <p:spPr>
          <a:xfrm>
            <a:off x="640080" y="141732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371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Media = the path that carries signals: electrical, light or radio.</a:t>
            </a:r>
            <a:endParaRPr lang="en-US" sz="1700" dirty="0"/>
          </a:p>
        </p:txBody>
      </p:sp>
      <p:sp>
        <p:nvSpPr>
          <p:cNvPr id="6" name="badge"/>
          <p:cNvSpPr/>
          <p:nvPr/>
        </p:nvSpPr>
        <p:spPr>
          <a:xfrm>
            <a:off x="640080" y="2057400"/>
            <a:ext cx="411480" cy="41148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0116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Wired: coax (TV), twisted pair (LAN), fiber (backbone).</a:t>
            </a:r>
            <a:endParaRPr lang="en-US" sz="1700" dirty="0"/>
          </a:p>
        </p:txBody>
      </p:sp>
      <p:sp>
        <p:nvSpPr>
          <p:cNvPr id="9" name="badge"/>
          <p:cNvSpPr/>
          <p:nvPr/>
        </p:nvSpPr>
        <p:spPr>
          <a:xfrm>
            <a:off x="640080" y="2697480"/>
            <a:ext cx="411480" cy="411480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697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651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UTP: straight for different devices, crossover for same, rollover for console.</a:t>
            </a:r>
            <a:endParaRPr lang="en-US" sz="1700" dirty="0"/>
          </a:p>
        </p:txBody>
      </p:sp>
      <p:sp>
        <p:nvSpPr>
          <p:cNvPr id="12" name="badge"/>
          <p:cNvSpPr/>
          <p:nvPr/>
        </p:nvSpPr>
        <p:spPr>
          <a:xfrm>
            <a:off x="640080" y="3337560"/>
            <a:ext cx="411480" cy="41148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37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2918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T568B on both ends = straight-through; A and B = crossover.</a:t>
            </a:r>
            <a:endParaRPr lang="en-US" sz="1700" dirty="0"/>
          </a:p>
        </p:txBody>
      </p:sp>
      <p:sp>
        <p:nvSpPr>
          <p:cNvPr id="15" name="badge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9319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Fiber is fastest and longest; wireless is most flexible.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twork Cabling">
  <a:themeElements>
    <a:clrScheme name="Network Cabling">
      <a:dk1>
        <a:srgbClr val="0B1F33"/>
      </a:dk1>
      <a:lt1>
        <a:srgbClr val="FFFFFF"/>
      </a:lt1>
      <a:dk2>
        <a:srgbClr val="16385C"/>
      </a:dk2>
      <a:lt2>
        <a:srgbClr val="EAF2F8"/>
      </a:lt2>
      <a:accent1>
        <a:srgbClr val="0E9AA7"/>
      </a:accent1>
      <a:accent2>
        <a:srgbClr val="F28C28"/>
      </a:accent2>
      <a:accent3>
        <a:srgbClr val="2E9E5B"/>
      </a:accent3>
      <a:accent4>
        <a:srgbClr val="7A5AA6"/>
      </a:accent4>
      <a:accent5>
        <a:srgbClr val="D64545"/>
      </a:accent5>
      <a:accent6>
        <a:srgbClr val="5B7389"/>
      </a:accent6>
      <a:hlink>
        <a:srgbClr val="0E9AA7"/>
      </a:hlink>
      <a:folHlink>
        <a:srgbClr val="7A5AA6"/>
      </a:folHlink>
    </a:clrScheme>
    <a:fontScheme name="Network Cabli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Networking Media - Complete Guide</dc:title>
  <dc:subject>PptxGenJS Presentation</dc:subject>
  <dc:creator>PptxGenJS</dc:creator>
  <cp:lastModifiedBy>PptxGenJS</cp:lastModifiedBy>
  <cp:revision>1</cp:revision>
  <dcterms:created xsi:type="dcterms:W3CDTF">2026-10-27T18:16:18Z</dcterms:created>
  <dcterms:modified xsi:type="dcterms:W3CDTF">2026-10-27T18:16:18Z</dcterms:modified>
</cp:coreProperties>
</file>