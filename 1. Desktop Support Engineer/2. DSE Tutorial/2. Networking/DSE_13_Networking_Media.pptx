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9dc25f5-6875-b501-d139-ba0686a0ffb5}">
          <p14:sldIdLst>
            <p14:sldId id="256"/>
            <p14:sldId id="257"/>
            <p14:sldId id="258"/>
          </p14:sldIdLst>
        </p14:section>
        <p14:section name="Wired media" id="{79aaf69f-67d1-f034-ba60-81e4de29af9d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ireless and hardware" id="{80792cb7-4a7a-35e8-5689-1d5d85ccb539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Networking media is the channel between sender and receiver.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to class slide: fiber is not limited to 300 Mbps. That figure belongs to slower wireless technologies; fiber reaches 100 Gbps and beyond.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Media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C"/>
                </a:solidFill>
              </a:rPr>
              <a:t>Wired, wireless, connectors, cabling standards and tools: a complete guide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47472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474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Coax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347472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0" y="3474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UTP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347472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3474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Fiber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347472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3474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networking media?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physical or wireless path that carries data signals between devices on a network.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45720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Carries signals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Electrical pulses (copper), light (fiber) or radio waves (wireless) represent the bits 0 and 1.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011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3192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Sets the limits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514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 decides bandwidth, maximum distance, immunity to noise and cost.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12648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families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5146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Guided (bounded) media use a physical cable. Unguided (unbounded) media use open air.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of communication media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103120"/>
            <a:ext cx="164592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103120"/>
            <a:ext cx="1645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Communication media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03120" y="2560320"/>
            <a:ext cx="548640" cy="-685800"/>
          </a:xfrm>
          <a:prstGeom prst="line">
            <a:avLst/>
          </a:prstGeom>
          <a:noFill/>
          <a:ln w="19050">
            <a:solidFill>
              <a:srgbClr val="5B6F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118872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618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Wired: guided / bounded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6459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Coaxial: Cable TV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Twisted pair: LAN, Metro Ethernet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Optical fiber: CAN, MAN, WAN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2560320"/>
            <a:ext cx="548640" cy="1325880"/>
          </a:xfrm>
          <a:prstGeom prst="line">
            <a:avLst/>
          </a:prstGeom>
          <a:noFill/>
          <a:ln w="19050">
            <a:solidFill>
              <a:srgbClr val="5B6F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320040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32735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Wireless: unguided / unbounded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657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Radio waves (2.4 and 5 GHz): Wi-Fi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Microwave: SATCOM, VSAT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Infrared: remote controls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Coaxial cable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Outer jacket: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Protective PVC sheath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47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Braided shield: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Copper braid blocks interference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054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Foil shield: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 layer, higher frequency protection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638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Dielectric: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Insulator that keeps the center centred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22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Inner conductor: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Solid copper core carrying the signal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303520" y="1188720"/>
            <a:ext cx="33832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371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1325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Speed and distance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874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Classic Ethernet (10BASE5): 10 Mbps up to 500 m. 10BASE2: 185 m.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5303520" y="2926080"/>
            <a:ext cx="33832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31089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0" y="3063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Uses and connectors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Cable TV, CCTV, broadband (DOCSIS). BNC and F-type connectors.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Twisted pair cable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Pairs of copper wires are twisted together so that interference from each wire cancels out. A cable holds 4 pairs (8 wires). Maximum run: 100 m.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2011680"/>
            <a:ext cx="40233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STP: Shielded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Foil or braid shield around pairs.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Better noise immunity.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Used in industrial networks and R&amp;D labs.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Costlier, needs grounding.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2011680"/>
            <a:ext cx="40233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21945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UTP: Unshielded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6974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shield; relies on the twists.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Cheap, thin, easy to install.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Used in general networks, i.e. LAN, offices, homes.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Twisted pair categories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73736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Max speed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Bandwidth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Cat5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100 Mbps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100 MHz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Older Fast Ethernet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Cat5e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 Gbps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100 MHz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Fast and Gigabit Ethernet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Cat6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 Gbps (up to 55 m)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250 MHz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High-speed, short distances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Cat6a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 Gbps (100 m)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500 MHz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 Gigabit Ethernet, longer runs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Cat7 / Cat8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 / 25-40 Gbps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600 / 2000 MHz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Data centres (shielded)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All twisted pair categories are limited to 100 m per segment (Cat8: 30 m).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Fiber optic cable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Sends data as pulses of light through glass strands: highest speed, longest distance, immune to electrical interference.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Single-mode (SMF)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Multi-mode (MMF)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D"/>
                          </a:solidFill>
                        </a:rPr>
                        <a:t>Core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A3D"/>
                          </a:solidFill>
                        </a:rPr>
                        <a:t>About 9 µm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A3D"/>
                          </a:solidFill>
                        </a:rPr>
                        <a:t>50 or 62.5 µm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D"/>
                          </a:solidFill>
                        </a:rPr>
                        <a:t>Light source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A3D"/>
                          </a:solidFill>
                        </a:rPr>
                        <a:t>Laser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A3D"/>
                          </a:solidFill>
                        </a:rPr>
                        <a:t>LED / VCSEL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D"/>
                          </a:solidFill>
                        </a:rPr>
                        <a:t>Distance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A3D"/>
                          </a:solidFill>
                        </a:rPr>
                        <a:t>Up to 10-100+ km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A3D"/>
                          </a:solidFill>
                        </a:rPr>
                        <a:t>Up to 300-550 m at 10G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3D"/>
                          </a:solidFill>
                        </a:rPr>
                        <a:t>Use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A3D"/>
                          </a:solidFill>
                        </a:rPr>
                        <a:t>WAN, MAN, backbone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A3D"/>
                          </a:solidFill>
                        </a:rPr>
                        <a:t>CAN, data centres, buildings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852160" y="1920240"/>
            <a:ext cx="283464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21031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2057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Speed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6060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Commonly 10 to 400 Gbps per link, and far higher in labs. Not 300 Mbps.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UTP cable types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Cable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Connects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2A3D"/>
                          </a:solidFill>
                        </a:rPr>
                        <a:t>Straight-through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2A3D"/>
                          </a:solidFill>
                        </a:rPr>
                        <a:t>Different devices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2A3D"/>
                          </a:solidFill>
                        </a:rPr>
                        <a:t>PC to switch, router to switch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2A3D"/>
                          </a:solidFill>
                        </a:rPr>
                        <a:t>Crossover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2A3D"/>
                          </a:solidFill>
                        </a:rPr>
                        <a:t>Same devices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2A3D"/>
                          </a:solidFill>
                        </a:rPr>
                        <a:t>Switch to switch, PC to PC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2A3D"/>
                          </a:solidFill>
                        </a:rPr>
                        <a:t>Rollover (console)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2A3D"/>
                          </a:solidFill>
                        </a:rPr>
                        <a:t>Admin to device console port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2A3D"/>
                          </a:solidFill>
                        </a:rPr>
                        <a:t>PC to switch or router console</a:t>
                      </a:r>
                      <a:endParaRPr lang="en-US" sz="15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Modern NICs and switches support Auto-MDI/MDIX, so a straight-through cable usually works for both cases. Exams still ask the classic rule.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T568A vs T568B wiring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3D"/>
                          </a:solidFill>
                        </a:rPr>
                        <a:t>T568B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W-Orange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Orange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W-Green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Blue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W-Blue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Green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W-Brown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Brown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3D"/>
                          </a:solidFill>
                        </a:rPr>
                        <a:t>T568A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W-Green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Green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W-Orange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Blue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W-Blue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Orange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W-Brown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3D"/>
                          </a:solidFill>
                        </a:rPr>
                        <a:t>Brown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2743200"/>
            <a:ext cx="40233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2880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Straight-through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T568B on both ends (or A on both). Pin 1 to 1, 2 to 2, and so on.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2743200"/>
            <a:ext cx="40233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2926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0" y="28803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Crossover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T568A on one end, T568B on the other. Pairs 2 and 3 swap.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function: TX and RX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21945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PC (NIC) end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Hub/Switch end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Crossover result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TX+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RX+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Pin 1 meets pin 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TX-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RX-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Pin 2 meets pin 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RX+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TX+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Pin 3 meets pin 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RX-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TX-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Pin 6 meets pin 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4, 5, 7, 8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Unused in 10/100 Mbps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Unused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Straight (used in Gigabit)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transmitter must always connect to a receiver. Same devices both transmit on 1 and 2, so the cable must swap the pairs.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media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Radio waves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2.4 and 5 GHz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Wi-Fi, Bluetooth, passes through walls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28016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4630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Microwave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to 300 GHz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SATCOM, VSAT, line of sight, long distance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126480" y="128016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630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Infrared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659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Above microwave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Remote controls, short range, no walls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Easy to deploy and mobile, but prone to interference, eavesdropping and signal loss.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Connector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Pins / type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Used with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RJ-45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8 pins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Ethernet twisted pair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RJ-11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6 position (2 to 4 wires)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Telephone, DSL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DB9 (male / female)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9 pins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Serial and console (RS-232)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BNC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Twist-lock coaxial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Coax, CCTV, 10BASE2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V.35, X.21, EIA-530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Large serial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Router to modem or CSU/DSU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Cabling tools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Crimping tool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Presses the RJ-45 plug onto the wires. Most also strip and cut cable.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4630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Cable tester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Master and remote units. LEDs light pins 1 to 8 in order, showing opens, shorts or crossed wires.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126480" y="128016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630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Also needed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RJ-45 plugs, cable stripper, punch-down tool for patch panels.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 cable: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Strip about 2.5 cm of jacket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470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Untwist and arrange pairs in T568B or T568A order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0545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Flatten and trim wires evenly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638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Insert into RJ-45, clip facing away, pin 1 on the left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221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Crimp, repeat on the other end, test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comparison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737360"/>
                <a:gridCol w="13716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Distance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EMI immunity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Coaxial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 Mbps to Gbps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185-500 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Good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UTP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 Mbps to 40 Gbps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100 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Poor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STP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Same as UTP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100 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Good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Fiber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10 to 400+ Gbps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Up to 100+ km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Immune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A3D"/>
                          </a:solidFill>
                        </a:rPr>
                        <a:t>Wireless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Mbps to Gbps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Short to global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Low to high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A3D"/>
                          </a:solidFill>
                        </a:rPr>
                        <a:t>Poor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Guided media: coax, twisted pair, fiber. Unguided: radio, microwave, infrared.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UTP for LANs, fiber for backbones and distance, wireless for mobility.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Straight-through for different devices, crossover for same, rollover for console.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Crossover = T568A on one end and T568B on the other.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Always test the cable after crimping.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Media">
  <a:themeElements>
    <a:clrScheme name="NetMedia">
      <a:dk1>
        <a:srgbClr val="0F2A3D"/>
      </a:dk1>
      <a:lt1>
        <a:srgbClr val="FFFFFF"/>
      </a:lt1>
      <a:dk2>
        <a:srgbClr val="1C7C8C"/>
      </a:dk2>
      <a:lt2>
        <a:srgbClr val="EAF3F5"/>
      </a:lt2>
      <a:accent1>
        <a:srgbClr val="E8772E"/>
      </a:accent1>
      <a:accent2>
        <a:srgbClr val="1C7C8C"/>
      </a:accent2>
      <a:accent3>
        <a:srgbClr val="2E9E6B"/>
      </a:accent3>
      <a:accent4>
        <a:srgbClr val="7A5BB5"/>
      </a:accent4>
      <a:accent5>
        <a:srgbClr val="C9A227"/>
      </a:accent5>
      <a:accent6>
        <a:srgbClr val="5B6F7D"/>
      </a:accent6>
      <a:hlink>
        <a:srgbClr val="1C7C8C"/>
      </a:hlink>
      <a:folHlink>
        <a:srgbClr val="7A5BB5"/>
      </a:folHlink>
    </a:clrScheme>
    <a:fontScheme name="NetMed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2026-10-27T17:24:26Z</dcterms:created>
  <dcterms:modified xsi:type="dcterms:W3CDTF">2026-10-27T17:24:26Z</dcterms:modified>
</cp:coreProperties>
</file>