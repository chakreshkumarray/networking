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six network topologies, with how each works and its pros and cons.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 one shared cable. All PCs see every signal; only the addressed PC keeps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E3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371600"/>
            <a:ext cx="7863840" cy="100584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Network Topology</a:t>
            </a:r>
            <a:endParaRPr lang="en-US" sz="4800" dirty="0"/>
          </a:p>
        </p:txBody>
      </p:sp>
      <p:sp>
        <p:nvSpPr>
          <p:cNvPr id="3" name="Text 1"/>
          <p:cNvSpPr txBox="1"/>
          <p:nvPr/>
        </p:nvSpPr>
        <p:spPr>
          <a:xfrm>
            <a:off x="640080" y="2468880"/>
            <a:ext cx="5943600" cy="822960"/>
          </a:xfrm>
          <a:prstGeom prst="rect">
            <a:avLst/>
          </a:prstGeom>
          <a:noFill/>
          <a:ln/>
        </p:spPr>
        <p:txBody>
          <a:bodyPr wrap="square" lIns="0" tIns="0" rIns="0" bIns="0" rtlCol="0" anchor="t"/>
          <a:lstStyle/>
          <a:p>
            <a:pPr indent="0" marL="0">
              <a:buNone/>
            </a:pPr>
            <a:r>
              <a:rPr lang="en-US" sz="1800" dirty="0">
                <a:solidFill>
                  <a:srgbClr val="CFE6EB"/>
                </a:solidFill>
              </a:rPr>
              <a:t>How computers and devices are arranged and connected: bus, ring, star, tree, hybrid and mesh</a:t>
            </a:r>
            <a:endParaRPr lang="en-US" sz="1800" dirty="0"/>
          </a:p>
        </p:txBody>
      </p:sp>
      <p:sp>
        <p:nvSpPr>
          <p:cNvPr id="4" name="Text 2"/>
          <p:cNvSpPr/>
          <p:nvPr/>
        </p:nvSpPr>
        <p:spPr>
          <a:xfrm>
            <a:off x="7498080" y="548640"/>
            <a:ext cx="457200" cy="457200"/>
          </a:xfrm>
          <a:prstGeom prst="ellipse">
            <a:avLst/>
          </a:prstGeom>
          <a:solidFill>
            <a:srgbClr val="F28C28"/>
          </a:solidFill>
          <a:ln/>
        </p:spPr>
        <p:txBody>
          <a:bodyPr wrap="square" lIns="0" tIns="0" rIns="0" bIns="0" rtlCol="0" anchor="ctr"/>
          <a:lstStyle/>
          <a:p>
            <a:pPr algn="ctr" indent="0" marL="0">
              <a:buNone/>
            </a:pPr>
            <a:endParaRPr lang="en-US" sz="1600" dirty="0"/>
          </a:p>
        </p:txBody>
      </p:sp>
      <p:sp>
        <p:nvSpPr>
          <p:cNvPr id="5" name="Text 3"/>
          <p:cNvSpPr/>
          <p:nvPr/>
        </p:nvSpPr>
        <p:spPr>
          <a:xfrm>
            <a:off x="8046720" y="914400"/>
            <a:ext cx="274320" cy="274320"/>
          </a:xfrm>
          <a:prstGeom prst="ellipse">
            <a:avLst/>
          </a:prstGeom>
          <a:solidFill>
            <a:srgbClr val="1C7C8C"/>
          </a:solidFill>
          <a:ln/>
        </p:spPr>
        <p:txBody>
          <a:bodyPr wrap="square" lIns="0" tIns="0" rIns="0" bIns="0" rtlCol="0" anchor="ctr"/>
          <a:lstStyle/>
          <a:p>
            <a:pPr algn="ctr" indent="0" marL="0">
              <a:buNone/>
            </a:pPr>
            <a:endParaRPr lang="en-US" sz="1600" dirty="0"/>
          </a:p>
        </p:txBody>
      </p:sp>
      <p:sp>
        <p:nvSpPr>
          <p:cNvPr id="6" name="Text 4"/>
          <p:cNvSpPr/>
          <p:nvPr/>
        </p:nvSpPr>
        <p:spPr>
          <a:xfrm>
            <a:off x="7223760" y="1097280"/>
            <a:ext cx="274320" cy="274320"/>
          </a:xfrm>
          <a:prstGeom prst="ellipse">
            <a:avLst/>
          </a:prstGeom>
          <a:solidFill>
            <a:srgbClr val="1C7C8C"/>
          </a:solidFill>
          <a:ln/>
        </p:spPr>
        <p:txBody>
          <a:bodyPr wrap="square" lIns="0" tIns="0" rIns="0" bIns="0" rtlCol="0" anchor="ctr"/>
          <a:lstStyle/>
          <a:p>
            <a:pPr algn="ctr" indent="0" marL="0">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rgbClr val="0B2E3F"/>
                </a:solidFill>
                <a:latin typeface="Cambria" pitchFamily="34" charset="0"/>
                <a:ea typeface="Cambria" pitchFamily="34" charset="-122"/>
                <a:cs typeface="Cambria" pitchFamily="34" charset="-120"/>
              </a:rPr>
              <a:t>What is topology?</a:t>
            </a:r>
            <a:endParaRPr lang="en-US" sz="3400" dirty="0"/>
          </a:p>
        </p:txBody>
      </p:sp>
      <p:sp>
        <p:nvSpPr>
          <p:cNvPr id="3" name="Text 1"/>
          <p:cNvSpPr txBox="1"/>
          <p:nvPr/>
        </p:nvSpPr>
        <p:spPr>
          <a:xfrm>
            <a:off x="457200" y="1188720"/>
            <a:ext cx="4023360" cy="1005840"/>
          </a:xfrm>
          <a:prstGeom prst="rect">
            <a:avLst/>
          </a:prstGeom>
          <a:noFill/>
          <a:ln/>
        </p:spPr>
        <p:txBody>
          <a:bodyPr wrap="square" lIns="0" tIns="0" rIns="0" bIns="0" rtlCol="0" anchor="t"/>
          <a:lstStyle/>
          <a:p>
            <a:pPr indent="0" marL="0">
              <a:buNone/>
            </a:pPr>
            <a:r>
              <a:rPr lang="en-US" sz="1800" dirty="0">
                <a:solidFill>
                  <a:srgbClr val="0B2E3F"/>
                </a:solidFill>
              </a:rPr>
              <a:t>Topology is the way the devices in a network are arranged and connected to each other.</a:t>
            </a:r>
            <a:endParaRPr lang="en-US" sz="1800" dirty="0"/>
          </a:p>
        </p:txBody>
      </p:sp>
      <p:sp>
        <p:nvSpPr>
          <p:cNvPr id="4" name="Shape 2"/>
          <p:cNvSpPr/>
          <p:nvPr/>
        </p:nvSpPr>
        <p:spPr>
          <a:xfrm>
            <a:off x="457200" y="2377440"/>
            <a:ext cx="4023360" cy="2194560"/>
          </a:xfrm>
          <a:prstGeom prst="roundRect">
            <a:avLst>
              <a:gd name="adj" fmla="val 4167"/>
            </a:avLst>
          </a:prstGeom>
          <a:solidFill>
            <a:srgbClr val="EEF5F7"/>
          </a:solidFill>
          <a:ln w="12700">
            <a:solidFill>
              <a:srgbClr val="EEF5F7"/>
            </a:solidFill>
            <a:prstDash val="solid"/>
          </a:ln>
        </p:spPr>
      </p:sp>
      <p:sp>
        <p:nvSpPr>
          <p:cNvPr id="5" name="Text 3"/>
          <p:cNvSpPr txBox="1"/>
          <p:nvPr/>
        </p:nvSpPr>
        <p:spPr>
          <a:xfrm>
            <a:off x="640080" y="2514600"/>
            <a:ext cx="3657600" cy="1920240"/>
          </a:xfrm>
          <a:prstGeom prst="rect">
            <a:avLst/>
          </a:prstGeom>
          <a:noFill/>
          <a:ln/>
        </p:spPr>
        <p:txBody>
          <a:bodyPr wrap="square" lIns="0" tIns="0" rIns="0" bIns="0" rtlCol="0" anchor="t"/>
          <a:lstStyle/>
          <a:p>
            <a:pPr indent="0" marL="0">
              <a:buNone/>
            </a:pPr>
            <a:r>
              <a:rPr lang="en-US" sz="1600" b="1" dirty="0">
                <a:solidFill>
                  <a:srgbClr val="1C7C8C"/>
                </a:solidFill>
              </a:rPr>
              <a:t>Physical topology</a:t>
            </a:r>
            <a:endParaRPr lang="en-US" sz="1600" dirty="0"/>
          </a:p>
          <a:p>
            <a:pPr indent="0" marL="0">
              <a:buNone/>
            </a:pPr>
            <a:r>
              <a:rPr lang="en-US" sz="1600" dirty="0">
                <a:solidFill>
                  <a:srgbClr val="0B2E3F"/>
                </a:solidFill>
              </a:rPr>
              <a:t>The real layout of cables and devices.</a:t>
            </a:r>
            <a:endParaRPr lang="en-US" sz="1600" dirty="0"/>
          </a:p>
          <a:p>
            <a:pPr indent="0" marL="0">
              <a:buNone/>
            </a:pPr>
            <a:r>
              <a:rPr lang="en-US" sz="800" dirty="0">
                <a:solidFill>
                  <a:srgbClr val="0B2E3F"/>
                </a:solidFill>
              </a:rPr>
              <a:t> </a:t>
            </a:r>
            <a:endParaRPr lang="en-US" sz="1600" dirty="0"/>
          </a:p>
          <a:p>
            <a:pPr indent="0" marL="0">
              <a:buNone/>
            </a:pPr>
            <a:r>
              <a:rPr lang="en-US" sz="1600" b="1" dirty="0">
                <a:solidFill>
                  <a:srgbClr val="F28C28"/>
                </a:solidFill>
              </a:rPr>
              <a:t>Logical topology</a:t>
            </a:r>
            <a:endParaRPr lang="en-US" sz="1600" dirty="0"/>
          </a:p>
          <a:p>
            <a:pPr indent="0" marL="0">
              <a:buNone/>
            </a:pPr>
            <a:r>
              <a:rPr lang="en-US" sz="1600" dirty="0">
                <a:solidFill>
                  <a:srgbClr val="0B2E3F"/>
                </a:solidFill>
              </a:rPr>
              <a:t>How data actually flows between devices.</a:t>
            </a:r>
            <a:endParaRPr lang="en-US" sz="1600" dirty="0"/>
          </a:p>
        </p:txBody>
      </p:sp>
      <p:sp>
        <p:nvSpPr>
          <p:cNvPr id="6" name="Text 4"/>
          <p:cNvSpPr txBox="1"/>
          <p:nvPr/>
        </p:nvSpPr>
        <p:spPr>
          <a:xfrm>
            <a:off x="4937760" y="1188720"/>
            <a:ext cx="3657600" cy="365760"/>
          </a:xfrm>
          <a:prstGeom prst="rect">
            <a:avLst/>
          </a:prstGeom>
          <a:noFill/>
          <a:ln/>
        </p:spPr>
        <p:txBody>
          <a:bodyPr wrap="square" lIns="0" tIns="0" rIns="0" bIns="0" rtlCol="0" anchor="t"/>
          <a:lstStyle/>
          <a:p>
            <a:pPr indent="0" marL="0">
              <a:buNone/>
            </a:pPr>
            <a:r>
              <a:rPr lang="en-US" sz="1600" b="1" dirty="0">
                <a:solidFill>
                  <a:srgbClr val="1C7C8C"/>
                </a:solidFill>
              </a:rPr>
              <a:t>Six types of topology</a:t>
            </a:r>
            <a:endParaRPr lang="en-US" sz="1600" dirty="0"/>
          </a:p>
        </p:txBody>
      </p:sp>
      <p:sp>
        <p:nvSpPr>
          <p:cNvPr id="7" name="Shape 5"/>
          <p:cNvSpPr/>
          <p:nvPr/>
        </p:nvSpPr>
        <p:spPr>
          <a:xfrm>
            <a:off x="4937760" y="1691640"/>
            <a:ext cx="1783080" cy="822960"/>
          </a:xfrm>
          <a:prstGeom prst="roundRect">
            <a:avLst>
              <a:gd name="adj" fmla="val 11111"/>
            </a:avLst>
          </a:prstGeom>
          <a:solidFill>
            <a:srgbClr val="EEF5F7"/>
          </a:solidFill>
          <a:ln w="12700">
            <a:solidFill>
              <a:srgbClr val="EEF5F7"/>
            </a:solidFill>
            <a:prstDash val="solid"/>
          </a:ln>
        </p:spPr>
      </p:sp>
      <p:sp>
        <p:nvSpPr>
          <p:cNvPr id="8" name="Text 6"/>
          <p:cNvSpPr/>
          <p:nvPr/>
        </p:nvSpPr>
        <p:spPr>
          <a:xfrm>
            <a:off x="5074920" y="1828800"/>
            <a:ext cx="548640" cy="548640"/>
          </a:xfrm>
          <a:prstGeom prst="ellipse">
            <a:avLst/>
          </a:prstGeom>
          <a:solidFill>
            <a:srgbClr val="1C7C8C"/>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Text 7"/>
          <p:cNvSpPr txBox="1"/>
          <p:nvPr/>
        </p:nvSpPr>
        <p:spPr>
          <a:xfrm>
            <a:off x="5760720" y="1691640"/>
            <a:ext cx="914400" cy="822960"/>
          </a:xfrm>
          <a:prstGeom prst="rect">
            <a:avLst/>
          </a:prstGeom>
          <a:noFill/>
          <a:ln/>
        </p:spPr>
        <p:txBody>
          <a:bodyPr wrap="square" lIns="0" tIns="0" rIns="0" bIns="0" rtlCol="0" anchor="ctr"/>
          <a:lstStyle/>
          <a:p>
            <a:pPr indent="0" marL="0">
              <a:buNone/>
            </a:pPr>
            <a:r>
              <a:rPr lang="en-US" sz="1600" b="1" dirty="0">
                <a:solidFill>
                  <a:srgbClr val="0B2E3F"/>
                </a:solidFill>
              </a:rPr>
              <a:t>Bus</a:t>
            </a:r>
            <a:endParaRPr lang="en-US" sz="1600" dirty="0"/>
          </a:p>
        </p:txBody>
      </p:sp>
      <p:sp>
        <p:nvSpPr>
          <p:cNvPr id="10" name="Shape 8"/>
          <p:cNvSpPr/>
          <p:nvPr/>
        </p:nvSpPr>
        <p:spPr>
          <a:xfrm>
            <a:off x="6858000" y="1691640"/>
            <a:ext cx="1783080" cy="822960"/>
          </a:xfrm>
          <a:prstGeom prst="roundRect">
            <a:avLst>
              <a:gd name="adj" fmla="val 11111"/>
            </a:avLst>
          </a:prstGeom>
          <a:solidFill>
            <a:srgbClr val="EEF5F7"/>
          </a:solidFill>
          <a:ln w="12700">
            <a:solidFill>
              <a:srgbClr val="EEF5F7"/>
            </a:solidFill>
            <a:prstDash val="solid"/>
          </a:ln>
        </p:spPr>
      </p:sp>
      <p:sp>
        <p:nvSpPr>
          <p:cNvPr id="11" name="Text 9"/>
          <p:cNvSpPr/>
          <p:nvPr/>
        </p:nvSpPr>
        <p:spPr>
          <a:xfrm>
            <a:off x="6995160" y="1828800"/>
            <a:ext cx="548640" cy="548640"/>
          </a:xfrm>
          <a:prstGeom prst="ellipse">
            <a:avLst/>
          </a:prstGeom>
          <a:solidFill>
            <a:srgbClr val="0B2E3F"/>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7680960" y="1691640"/>
            <a:ext cx="914400" cy="822960"/>
          </a:xfrm>
          <a:prstGeom prst="rect">
            <a:avLst/>
          </a:prstGeom>
          <a:noFill/>
          <a:ln/>
        </p:spPr>
        <p:txBody>
          <a:bodyPr wrap="square" lIns="0" tIns="0" rIns="0" bIns="0" rtlCol="0" anchor="ctr"/>
          <a:lstStyle/>
          <a:p>
            <a:pPr indent="0" marL="0">
              <a:buNone/>
            </a:pPr>
            <a:r>
              <a:rPr lang="en-US" sz="1600" b="1" dirty="0">
                <a:solidFill>
                  <a:srgbClr val="0B2E3F"/>
                </a:solidFill>
              </a:rPr>
              <a:t>Ring</a:t>
            </a:r>
            <a:endParaRPr lang="en-US" sz="1600" dirty="0"/>
          </a:p>
        </p:txBody>
      </p:sp>
      <p:sp>
        <p:nvSpPr>
          <p:cNvPr id="13" name="Shape 11"/>
          <p:cNvSpPr/>
          <p:nvPr/>
        </p:nvSpPr>
        <p:spPr>
          <a:xfrm>
            <a:off x="4937760" y="2651760"/>
            <a:ext cx="1783080" cy="822960"/>
          </a:xfrm>
          <a:prstGeom prst="roundRect">
            <a:avLst>
              <a:gd name="adj" fmla="val 11111"/>
            </a:avLst>
          </a:prstGeom>
          <a:solidFill>
            <a:srgbClr val="EEF5F7"/>
          </a:solidFill>
          <a:ln w="12700">
            <a:solidFill>
              <a:srgbClr val="EEF5F7"/>
            </a:solidFill>
            <a:prstDash val="solid"/>
          </a:ln>
        </p:spPr>
      </p:sp>
      <p:sp>
        <p:nvSpPr>
          <p:cNvPr id="14" name="Text 12"/>
          <p:cNvSpPr/>
          <p:nvPr/>
        </p:nvSpPr>
        <p:spPr>
          <a:xfrm>
            <a:off x="5074920" y="2788920"/>
            <a:ext cx="548640" cy="548640"/>
          </a:xfrm>
          <a:prstGeom prst="ellipse">
            <a:avLst/>
          </a:prstGeom>
          <a:solidFill>
            <a:srgbClr val="1C7C8C"/>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5" name="Text 13"/>
          <p:cNvSpPr txBox="1"/>
          <p:nvPr/>
        </p:nvSpPr>
        <p:spPr>
          <a:xfrm>
            <a:off x="5760720" y="2651760"/>
            <a:ext cx="914400" cy="822960"/>
          </a:xfrm>
          <a:prstGeom prst="rect">
            <a:avLst/>
          </a:prstGeom>
          <a:noFill/>
          <a:ln/>
        </p:spPr>
        <p:txBody>
          <a:bodyPr wrap="square" lIns="0" tIns="0" rIns="0" bIns="0" rtlCol="0" anchor="ctr"/>
          <a:lstStyle/>
          <a:p>
            <a:pPr indent="0" marL="0">
              <a:buNone/>
            </a:pPr>
            <a:r>
              <a:rPr lang="en-US" sz="1600" b="1" dirty="0">
                <a:solidFill>
                  <a:srgbClr val="0B2E3F"/>
                </a:solidFill>
              </a:rPr>
              <a:t>Star</a:t>
            </a:r>
            <a:endParaRPr lang="en-US" sz="1600" dirty="0"/>
          </a:p>
        </p:txBody>
      </p:sp>
      <p:sp>
        <p:nvSpPr>
          <p:cNvPr id="16" name="Shape 14"/>
          <p:cNvSpPr/>
          <p:nvPr/>
        </p:nvSpPr>
        <p:spPr>
          <a:xfrm>
            <a:off x="6858000" y="2651760"/>
            <a:ext cx="1783080" cy="822960"/>
          </a:xfrm>
          <a:prstGeom prst="roundRect">
            <a:avLst>
              <a:gd name="adj" fmla="val 11111"/>
            </a:avLst>
          </a:prstGeom>
          <a:solidFill>
            <a:srgbClr val="EEF5F7"/>
          </a:solidFill>
          <a:ln w="12700">
            <a:solidFill>
              <a:srgbClr val="EEF5F7"/>
            </a:solidFill>
            <a:prstDash val="solid"/>
          </a:ln>
        </p:spPr>
      </p:sp>
      <p:sp>
        <p:nvSpPr>
          <p:cNvPr id="17" name="Text 15"/>
          <p:cNvSpPr/>
          <p:nvPr/>
        </p:nvSpPr>
        <p:spPr>
          <a:xfrm>
            <a:off x="6995160" y="2788920"/>
            <a:ext cx="548640" cy="548640"/>
          </a:xfrm>
          <a:prstGeom prst="ellipse">
            <a:avLst/>
          </a:prstGeom>
          <a:solidFill>
            <a:srgbClr val="0B2E3F"/>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8" name="Text 16"/>
          <p:cNvSpPr txBox="1"/>
          <p:nvPr/>
        </p:nvSpPr>
        <p:spPr>
          <a:xfrm>
            <a:off x="7680960" y="2651760"/>
            <a:ext cx="914400" cy="822960"/>
          </a:xfrm>
          <a:prstGeom prst="rect">
            <a:avLst/>
          </a:prstGeom>
          <a:noFill/>
          <a:ln/>
        </p:spPr>
        <p:txBody>
          <a:bodyPr wrap="square" lIns="0" tIns="0" rIns="0" bIns="0" rtlCol="0" anchor="ctr"/>
          <a:lstStyle/>
          <a:p>
            <a:pPr indent="0" marL="0">
              <a:buNone/>
            </a:pPr>
            <a:r>
              <a:rPr lang="en-US" sz="1600" b="1" dirty="0">
                <a:solidFill>
                  <a:srgbClr val="0B2E3F"/>
                </a:solidFill>
              </a:rPr>
              <a:t>Tree</a:t>
            </a:r>
            <a:endParaRPr lang="en-US" sz="1600" dirty="0"/>
          </a:p>
        </p:txBody>
      </p:sp>
      <p:sp>
        <p:nvSpPr>
          <p:cNvPr id="19" name="Shape 17"/>
          <p:cNvSpPr/>
          <p:nvPr/>
        </p:nvSpPr>
        <p:spPr>
          <a:xfrm>
            <a:off x="4937760" y="3611880"/>
            <a:ext cx="1783080" cy="822960"/>
          </a:xfrm>
          <a:prstGeom prst="roundRect">
            <a:avLst>
              <a:gd name="adj" fmla="val 11111"/>
            </a:avLst>
          </a:prstGeom>
          <a:solidFill>
            <a:srgbClr val="EEF5F7"/>
          </a:solidFill>
          <a:ln w="12700">
            <a:solidFill>
              <a:srgbClr val="EEF5F7"/>
            </a:solidFill>
            <a:prstDash val="solid"/>
          </a:ln>
        </p:spPr>
      </p:sp>
      <p:sp>
        <p:nvSpPr>
          <p:cNvPr id="20" name="Text 18"/>
          <p:cNvSpPr/>
          <p:nvPr/>
        </p:nvSpPr>
        <p:spPr>
          <a:xfrm>
            <a:off x="5074920" y="3749040"/>
            <a:ext cx="548640" cy="548640"/>
          </a:xfrm>
          <a:prstGeom prst="ellipse">
            <a:avLst/>
          </a:prstGeom>
          <a:solidFill>
            <a:srgbClr val="1C7C8C"/>
          </a:solid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1" name="Text 19"/>
          <p:cNvSpPr txBox="1"/>
          <p:nvPr/>
        </p:nvSpPr>
        <p:spPr>
          <a:xfrm>
            <a:off x="5760720" y="3611880"/>
            <a:ext cx="914400" cy="822960"/>
          </a:xfrm>
          <a:prstGeom prst="rect">
            <a:avLst/>
          </a:prstGeom>
          <a:noFill/>
          <a:ln/>
        </p:spPr>
        <p:txBody>
          <a:bodyPr wrap="square" lIns="0" tIns="0" rIns="0" bIns="0" rtlCol="0" anchor="ctr"/>
          <a:lstStyle/>
          <a:p>
            <a:pPr indent="0" marL="0">
              <a:buNone/>
            </a:pPr>
            <a:r>
              <a:rPr lang="en-US" sz="1600" b="1" dirty="0">
                <a:solidFill>
                  <a:srgbClr val="0B2E3F"/>
                </a:solidFill>
              </a:rPr>
              <a:t>Hybrid</a:t>
            </a:r>
            <a:endParaRPr lang="en-US" sz="1600" dirty="0"/>
          </a:p>
        </p:txBody>
      </p:sp>
      <p:sp>
        <p:nvSpPr>
          <p:cNvPr id="22" name="Shape 20"/>
          <p:cNvSpPr/>
          <p:nvPr/>
        </p:nvSpPr>
        <p:spPr>
          <a:xfrm>
            <a:off x="6858000" y="3611880"/>
            <a:ext cx="1783080" cy="822960"/>
          </a:xfrm>
          <a:prstGeom prst="roundRect">
            <a:avLst>
              <a:gd name="adj" fmla="val 11111"/>
            </a:avLst>
          </a:prstGeom>
          <a:solidFill>
            <a:srgbClr val="EEF5F7"/>
          </a:solidFill>
          <a:ln w="12700">
            <a:solidFill>
              <a:srgbClr val="EEF5F7"/>
            </a:solidFill>
            <a:prstDash val="solid"/>
          </a:ln>
        </p:spPr>
      </p:sp>
      <p:sp>
        <p:nvSpPr>
          <p:cNvPr id="23" name="Text 21"/>
          <p:cNvSpPr/>
          <p:nvPr/>
        </p:nvSpPr>
        <p:spPr>
          <a:xfrm>
            <a:off x="6995160" y="3749040"/>
            <a:ext cx="548640" cy="548640"/>
          </a:xfrm>
          <a:prstGeom prst="ellipse">
            <a:avLst/>
          </a:prstGeom>
          <a:solidFill>
            <a:srgbClr val="0B2E3F"/>
          </a:solid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24" name="Text 22"/>
          <p:cNvSpPr txBox="1"/>
          <p:nvPr/>
        </p:nvSpPr>
        <p:spPr>
          <a:xfrm>
            <a:off x="7680960" y="3611880"/>
            <a:ext cx="914400" cy="822960"/>
          </a:xfrm>
          <a:prstGeom prst="rect">
            <a:avLst/>
          </a:prstGeom>
          <a:noFill/>
          <a:ln/>
        </p:spPr>
        <p:txBody>
          <a:bodyPr wrap="square" lIns="0" tIns="0" rIns="0" bIns="0" rtlCol="0" anchor="ctr"/>
          <a:lstStyle/>
          <a:p>
            <a:pPr indent="0" marL="0">
              <a:buNone/>
            </a:pPr>
            <a:r>
              <a:rPr lang="en-US" sz="1600" b="1" dirty="0">
                <a:solidFill>
                  <a:srgbClr val="0B2E3F"/>
                </a:solidFill>
              </a:rPr>
              <a:t>Mesh</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rgbClr val="0B2E3F"/>
                </a:solidFill>
                <a:latin typeface="Cambria" pitchFamily="34" charset="0"/>
                <a:ea typeface="Cambria" pitchFamily="34" charset="-122"/>
                <a:cs typeface="Cambria" pitchFamily="34" charset="-120"/>
              </a:rPr>
              <a:t>Bus topology: how data travels</a:t>
            </a:r>
            <a:endParaRPr lang="en-US" sz="3400" dirty="0"/>
          </a:p>
        </p:txBody>
      </p:sp>
      <p:sp>
        <p:nvSpPr>
          <p:cNvPr id="3" name="Shape 1"/>
          <p:cNvSpPr/>
          <p:nvPr/>
        </p:nvSpPr>
        <p:spPr>
          <a:xfrm>
            <a:off x="1371600" y="2103120"/>
            <a:ext cx="6858000" cy="91"/>
          </a:xfrm>
          <a:prstGeom prst="line">
            <a:avLst/>
          </a:prstGeom>
          <a:noFill/>
          <a:ln w="38100">
            <a:solidFill>
              <a:srgbClr val="0B2E3F"/>
            </a:solidFill>
            <a:prstDash val="solid"/>
          </a:ln>
        </p:spPr>
      </p:sp>
      <p:sp>
        <p:nvSpPr>
          <p:cNvPr id="4" name="Text 2"/>
          <p:cNvSpPr/>
          <p:nvPr/>
        </p:nvSpPr>
        <p:spPr>
          <a:xfrm>
            <a:off x="457200" y="1874520"/>
            <a:ext cx="914400" cy="457200"/>
          </a:xfrm>
          <a:prstGeom prst="roundRect">
            <a:avLst>
              <a:gd name="adj" fmla="val 16000"/>
            </a:avLst>
          </a:prstGeom>
          <a:solidFill>
            <a:srgbClr val="1C7C8C"/>
          </a:solidFill>
          <a:ln/>
        </p:spPr>
        <p:txBody>
          <a:bodyPr wrap="square" lIns="0" tIns="0" rIns="0" bIns="0" rtlCol="0" anchor="ctr"/>
          <a:lstStyle/>
          <a:p>
            <a:pPr algn="ctr" indent="0" marL="0">
              <a:buNone/>
            </a:pPr>
            <a:r>
              <a:rPr lang="en-US" sz="1200" b="1" dirty="0">
                <a:solidFill>
                  <a:srgbClr val="FFFFFF"/>
                </a:solidFill>
              </a:rPr>
              <a:t>Terminator</a:t>
            </a:r>
            <a:endParaRPr lang="en-US" sz="1200" dirty="0"/>
          </a:p>
        </p:txBody>
      </p:sp>
      <p:sp>
        <p:nvSpPr>
          <p:cNvPr id="5" name="Shape 3"/>
          <p:cNvSpPr/>
          <p:nvPr/>
        </p:nvSpPr>
        <p:spPr>
          <a:xfrm>
            <a:off x="8229600" y="2103120"/>
            <a:ext cx="0" cy="365760"/>
          </a:xfrm>
          <a:prstGeom prst="line">
            <a:avLst/>
          </a:prstGeom>
          <a:noFill/>
          <a:ln w="38100">
            <a:solidFill>
              <a:srgbClr val="0B2E3F"/>
            </a:solidFill>
            <a:prstDash val="solid"/>
          </a:ln>
        </p:spPr>
      </p:sp>
      <p:sp>
        <p:nvSpPr>
          <p:cNvPr id="6" name="Text 4"/>
          <p:cNvSpPr txBox="1"/>
          <p:nvPr/>
        </p:nvSpPr>
        <p:spPr>
          <a:xfrm>
            <a:off x="7863840" y="2514600"/>
            <a:ext cx="731520" cy="274320"/>
          </a:xfrm>
          <a:prstGeom prst="rect">
            <a:avLst/>
          </a:prstGeom>
          <a:noFill/>
          <a:ln/>
        </p:spPr>
        <p:txBody>
          <a:bodyPr wrap="square" lIns="0" tIns="0" rIns="0" bIns="0" rtlCol="0" anchor="t"/>
          <a:lstStyle/>
          <a:p>
            <a:pPr algn="ctr" indent="0" marL="0">
              <a:buNone/>
            </a:pPr>
            <a:r>
              <a:rPr lang="en-US" sz="1200" dirty="0">
                <a:solidFill>
                  <a:srgbClr val="4A5B66"/>
                </a:solidFill>
              </a:rPr>
              <a:t>Ground</a:t>
            </a:r>
            <a:endParaRPr lang="en-US" sz="1200" dirty="0"/>
          </a:p>
        </p:txBody>
      </p:sp>
      <p:sp>
        <p:nvSpPr>
          <p:cNvPr id="7" name="Text 5"/>
          <p:cNvSpPr txBox="1"/>
          <p:nvPr/>
        </p:nvSpPr>
        <p:spPr>
          <a:xfrm>
            <a:off x="2286000" y="1554480"/>
            <a:ext cx="1645920" cy="274320"/>
          </a:xfrm>
          <a:prstGeom prst="rect">
            <a:avLst/>
          </a:prstGeom>
          <a:noFill/>
          <a:ln/>
        </p:spPr>
        <p:txBody>
          <a:bodyPr wrap="square" lIns="0" tIns="0" rIns="0" bIns="0" rtlCol="0" anchor="t"/>
          <a:lstStyle/>
          <a:p>
            <a:pPr indent="0" marL="0">
              <a:buNone/>
            </a:pPr>
            <a:r>
              <a:rPr lang="en-US" sz="1400" b="1" dirty="0">
                <a:solidFill>
                  <a:srgbClr val="1C7C8C"/>
                </a:solidFill>
              </a:rPr>
              <a:t>Coaxial cable</a:t>
            </a:r>
            <a:endParaRPr lang="en-US" sz="1400" dirty="0"/>
          </a:p>
        </p:txBody>
      </p:sp>
      <p:sp>
        <p:nvSpPr>
          <p:cNvPr id="8" name="Text 6"/>
          <p:cNvSpPr txBox="1"/>
          <p:nvPr/>
        </p:nvSpPr>
        <p:spPr>
          <a:xfrm>
            <a:off x="4114800" y="1325880"/>
            <a:ext cx="1828800" cy="274320"/>
          </a:xfrm>
          <a:prstGeom prst="rect">
            <a:avLst/>
          </a:prstGeom>
          <a:noFill/>
          <a:ln/>
        </p:spPr>
        <p:txBody>
          <a:bodyPr wrap="square" lIns="0" tIns="0" rIns="0" bIns="0" rtlCol="0" anchor="t"/>
          <a:lstStyle/>
          <a:p>
            <a:pPr algn="ctr" indent="0" marL="0">
              <a:buNone/>
            </a:pPr>
            <a:r>
              <a:rPr lang="en-US" sz="1400" b="1" dirty="0">
                <a:solidFill>
                  <a:srgbClr val="F28C28"/>
                </a:solidFill>
              </a:rPr>
              <a:t>BNC T connector</a:t>
            </a:r>
            <a:endParaRPr lang="en-US" sz="1400" dirty="0"/>
          </a:p>
        </p:txBody>
      </p:sp>
      <p:sp>
        <p:nvSpPr>
          <p:cNvPr id="9" name="Shape 7"/>
          <p:cNvSpPr/>
          <p:nvPr/>
        </p:nvSpPr>
        <p:spPr>
          <a:xfrm>
            <a:off x="5029200" y="1645920"/>
            <a:ext cx="0" cy="411480"/>
          </a:xfrm>
          <a:prstGeom prst="line">
            <a:avLst/>
          </a:prstGeom>
          <a:noFill/>
          <a:ln w="25400">
            <a:solidFill>
              <a:srgbClr val="F28C28"/>
            </a:solidFill>
            <a:prstDash val="solid"/>
          </a:ln>
        </p:spPr>
      </p:sp>
      <p:sp>
        <p:nvSpPr>
          <p:cNvPr id="10" name="Shape 8"/>
          <p:cNvSpPr/>
          <p:nvPr/>
        </p:nvSpPr>
        <p:spPr>
          <a:xfrm>
            <a:off x="2011680" y="2103120"/>
            <a:ext cx="0" cy="822960"/>
          </a:xfrm>
          <a:prstGeom prst="line">
            <a:avLst/>
          </a:prstGeom>
          <a:noFill/>
          <a:ln w="25400">
            <a:solidFill>
              <a:srgbClr val="4A5B66"/>
            </a:solidFill>
            <a:prstDash val="solid"/>
          </a:ln>
        </p:spPr>
      </p:sp>
      <p:sp>
        <p:nvSpPr>
          <p:cNvPr id="11" name="Text 9"/>
          <p:cNvSpPr/>
          <p:nvPr/>
        </p:nvSpPr>
        <p:spPr>
          <a:xfrm>
            <a:off x="1600200" y="2903220"/>
            <a:ext cx="822960" cy="411480"/>
          </a:xfrm>
          <a:prstGeom prst="roundRect">
            <a:avLst>
              <a:gd name="adj" fmla="val 17778"/>
            </a:avLst>
          </a:prstGeom>
          <a:solidFill>
            <a:srgbClr val="F28C28"/>
          </a:solidFill>
          <a:ln/>
        </p:spPr>
        <p:txBody>
          <a:bodyPr wrap="square" lIns="0" tIns="0" rIns="0" bIns="0" rtlCol="0" anchor="ctr"/>
          <a:lstStyle/>
          <a:p>
            <a:pPr algn="ctr" indent="0" marL="0">
              <a:buNone/>
            </a:pPr>
            <a:r>
              <a:rPr lang="en-US" sz="1400" b="1" dirty="0">
                <a:solidFill>
                  <a:srgbClr val="FFFFFF"/>
                </a:solidFill>
              </a:rPr>
              <a:t>PC1</a:t>
            </a:r>
            <a:endParaRPr lang="en-US" sz="1400" dirty="0"/>
          </a:p>
        </p:txBody>
      </p:sp>
      <p:sp>
        <p:nvSpPr>
          <p:cNvPr id="12" name="Text 10"/>
          <p:cNvSpPr txBox="1"/>
          <p:nvPr/>
        </p:nvSpPr>
        <p:spPr>
          <a:xfrm>
            <a:off x="1143000" y="3429000"/>
            <a:ext cx="1737360" cy="274320"/>
          </a:xfrm>
          <a:prstGeom prst="rect">
            <a:avLst/>
          </a:prstGeom>
          <a:noFill/>
          <a:ln/>
        </p:spPr>
        <p:txBody>
          <a:bodyPr wrap="square" lIns="0" tIns="0" rIns="0" bIns="0" rtlCol="0" anchor="t"/>
          <a:lstStyle/>
          <a:p>
            <a:pPr algn="ctr" indent="0" marL="0">
              <a:buNone/>
            </a:pPr>
            <a:r>
              <a:rPr lang="en-US" sz="1400" b="1" dirty="0">
                <a:solidFill>
                  <a:srgbClr val="F28C28"/>
                </a:solidFill>
              </a:rPr>
              <a:t>Sender</a:t>
            </a:r>
            <a:endParaRPr lang="en-US" sz="1400" dirty="0"/>
          </a:p>
        </p:txBody>
      </p:sp>
      <p:sp>
        <p:nvSpPr>
          <p:cNvPr id="13" name="Shape 11"/>
          <p:cNvSpPr/>
          <p:nvPr/>
        </p:nvSpPr>
        <p:spPr>
          <a:xfrm>
            <a:off x="3931920" y="2103120"/>
            <a:ext cx="0" cy="822960"/>
          </a:xfrm>
          <a:prstGeom prst="line">
            <a:avLst/>
          </a:prstGeom>
          <a:noFill/>
          <a:ln w="25400">
            <a:solidFill>
              <a:srgbClr val="4A5B66"/>
            </a:solidFill>
            <a:prstDash val="solid"/>
          </a:ln>
        </p:spPr>
      </p:sp>
      <p:sp>
        <p:nvSpPr>
          <p:cNvPr id="14" name="Text 12"/>
          <p:cNvSpPr/>
          <p:nvPr/>
        </p:nvSpPr>
        <p:spPr>
          <a:xfrm>
            <a:off x="3520440" y="2903220"/>
            <a:ext cx="822960" cy="411480"/>
          </a:xfrm>
          <a:prstGeom prst="roundRect">
            <a:avLst>
              <a:gd name="adj" fmla="val 17778"/>
            </a:avLst>
          </a:prstGeom>
          <a:solidFill>
            <a:srgbClr val="0B2E3F"/>
          </a:solidFill>
          <a:ln/>
        </p:spPr>
        <p:txBody>
          <a:bodyPr wrap="square" lIns="0" tIns="0" rIns="0" bIns="0" rtlCol="0" anchor="ctr"/>
          <a:lstStyle/>
          <a:p>
            <a:pPr algn="ctr" indent="0" marL="0">
              <a:buNone/>
            </a:pPr>
            <a:r>
              <a:rPr lang="en-US" sz="1400" b="1" dirty="0">
                <a:solidFill>
                  <a:srgbClr val="FFFFFF"/>
                </a:solidFill>
              </a:rPr>
              <a:t>PC2</a:t>
            </a:r>
            <a:endParaRPr lang="en-US" sz="1400" dirty="0"/>
          </a:p>
        </p:txBody>
      </p:sp>
      <p:sp>
        <p:nvSpPr>
          <p:cNvPr id="15" name="Text 13"/>
          <p:cNvSpPr txBox="1"/>
          <p:nvPr/>
        </p:nvSpPr>
        <p:spPr>
          <a:xfrm>
            <a:off x="3063240" y="3429000"/>
            <a:ext cx="1737360" cy="274320"/>
          </a:xfrm>
          <a:prstGeom prst="rect">
            <a:avLst/>
          </a:prstGeom>
          <a:noFill/>
          <a:ln/>
        </p:spPr>
        <p:txBody>
          <a:bodyPr wrap="square" lIns="0" tIns="0" rIns="0" bIns="0" rtlCol="0" anchor="t"/>
          <a:lstStyle/>
          <a:p>
            <a:pPr algn="ctr" indent="0" marL="0">
              <a:buNone/>
            </a:pPr>
            <a:r>
              <a:rPr lang="en-US" sz="1400" b="1" dirty="0">
                <a:solidFill>
                  <a:srgbClr val="4A5B66"/>
                </a:solidFill>
              </a:rPr>
              <a:t>Detect &amp; discard</a:t>
            </a:r>
            <a:endParaRPr lang="en-US" sz="1400" dirty="0"/>
          </a:p>
        </p:txBody>
      </p:sp>
      <p:sp>
        <p:nvSpPr>
          <p:cNvPr id="16" name="Shape 14"/>
          <p:cNvSpPr/>
          <p:nvPr/>
        </p:nvSpPr>
        <p:spPr>
          <a:xfrm>
            <a:off x="5852160" y="2103120"/>
            <a:ext cx="0" cy="822960"/>
          </a:xfrm>
          <a:prstGeom prst="line">
            <a:avLst/>
          </a:prstGeom>
          <a:noFill/>
          <a:ln w="25400">
            <a:solidFill>
              <a:srgbClr val="4A5B66"/>
            </a:solidFill>
            <a:prstDash val="solid"/>
          </a:ln>
        </p:spPr>
      </p:sp>
      <p:sp>
        <p:nvSpPr>
          <p:cNvPr id="17" name="Text 15"/>
          <p:cNvSpPr/>
          <p:nvPr/>
        </p:nvSpPr>
        <p:spPr>
          <a:xfrm>
            <a:off x="5440680" y="2903220"/>
            <a:ext cx="822960" cy="411480"/>
          </a:xfrm>
          <a:prstGeom prst="roundRect">
            <a:avLst>
              <a:gd name="adj" fmla="val 17778"/>
            </a:avLst>
          </a:prstGeom>
          <a:solidFill>
            <a:srgbClr val="5B8C5A"/>
          </a:solidFill>
          <a:ln/>
        </p:spPr>
        <p:txBody>
          <a:bodyPr wrap="square" lIns="0" tIns="0" rIns="0" bIns="0" rtlCol="0" anchor="ctr"/>
          <a:lstStyle/>
          <a:p>
            <a:pPr algn="ctr" indent="0" marL="0">
              <a:buNone/>
            </a:pPr>
            <a:r>
              <a:rPr lang="en-US" sz="1400" b="1" dirty="0">
                <a:solidFill>
                  <a:srgbClr val="FFFFFF"/>
                </a:solidFill>
              </a:rPr>
              <a:t>PC3</a:t>
            </a:r>
            <a:endParaRPr lang="en-US" sz="1400" dirty="0"/>
          </a:p>
        </p:txBody>
      </p:sp>
      <p:sp>
        <p:nvSpPr>
          <p:cNvPr id="18" name="Text 16"/>
          <p:cNvSpPr txBox="1"/>
          <p:nvPr/>
        </p:nvSpPr>
        <p:spPr>
          <a:xfrm>
            <a:off x="4983480" y="3429000"/>
            <a:ext cx="1737360" cy="274320"/>
          </a:xfrm>
          <a:prstGeom prst="rect">
            <a:avLst/>
          </a:prstGeom>
          <a:noFill/>
          <a:ln/>
        </p:spPr>
        <p:txBody>
          <a:bodyPr wrap="square" lIns="0" tIns="0" rIns="0" bIns="0" rtlCol="0" anchor="t"/>
          <a:lstStyle/>
          <a:p>
            <a:pPr algn="ctr" indent="0" marL="0">
              <a:buNone/>
            </a:pPr>
            <a:r>
              <a:rPr lang="en-US" sz="1400" b="1" dirty="0">
                <a:solidFill>
                  <a:srgbClr val="5B8C5A"/>
                </a:solidFill>
              </a:rPr>
              <a:t>Receive &amp; reply</a:t>
            </a:r>
            <a:endParaRPr lang="en-US" sz="1400" dirty="0"/>
          </a:p>
        </p:txBody>
      </p:sp>
      <p:sp>
        <p:nvSpPr>
          <p:cNvPr id="19" name="Shape 17"/>
          <p:cNvSpPr/>
          <p:nvPr/>
        </p:nvSpPr>
        <p:spPr>
          <a:xfrm>
            <a:off x="7772400" y="2103120"/>
            <a:ext cx="0" cy="822960"/>
          </a:xfrm>
          <a:prstGeom prst="line">
            <a:avLst/>
          </a:prstGeom>
          <a:noFill/>
          <a:ln w="25400">
            <a:solidFill>
              <a:srgbClr val="4A5B66"/>
            </a:solidFill>
            <a:prstDash val="solid"/>
          </a:ln>
        </p:spPr>
      </p:sp>
      <p:sp>
        <p:nvSpPr>
          <p:cNvPr id="20" name="Text 18"/>
          <p:cNvSpPr/>
          <p:nvPr/>
        </p:nvSpPr>
        <p:spPr>
          <a:xfrm>
            <a:off x="7360920" y="2903220"/>
            <a:ext cx="822960" cy="411480"/>
          </a:xfrm>
          <a:prstGeom prst="roundRect">
            <a:avLst>
              <a:gd name="adj" fmla="val 17778"/>
            </a:avLst>
          </a:prstGeom>
          <a:solidFill>
            <a:srgbClr val="0B2E3F"/>
          </a:solidFill>
          <a:ln/>
        </p:spPr>
        <p:txBody>
          <a:bodyPr wrap="square" lIns="0" tIns="0" rIns="0" bIns="0" rtlCol="0" anchor="ctr"/>
          <a:lstStyle/>
          <a:p>
            <a:pPr algn="ctr" indent="0" marL="0">
              <a:buNone/>
            </a:pPr>
            <a:r>
              <a:rPr lang="en-US" sz="1400" b="1" dirty="0">
                <a:solidFill>
                  <a:srgbClr val="FFFFFF"/>
                </a:solidFill>
              </a:rPr>
              <a:t>PC4</a:t>
            </a:r>
            <a:endParaRPr lang="en-US" sz="1400" dirty="0"/>
          </a:p>
        </p:txBody>
      </p:sp>
      <p:sp>
        <p:nvSpPr>
          <p:cNvPr id="21" name="Text 19"/>
          <p:cNvSpPr txBox="1"/>
          <p:nvPr/>
        </p:nvSpPr>
        <p:spPr>
          <a:xfrm>
            <a:off x="6903720" y="3429000"/>
            <a:ext cx="1737360" cy="274320"/>
          </a:xfrm>
          <a:prstGeom prst="rect">
            <a:avLst/>
          </a:prstGeom>
          <a:noFill/>
          <a:ln/>
        </p:spPr>
        <p:txBody>
          <a:bodyPr wrap="square" lIns="0" tIns="0" rIns="0" bIns="0" rtlCol="0" anchor="t"/>
          <a:lstStyle/>
          <a:p>
            <a:pPr algn="ctr" indent="0" marL="0">
              <a:buNone/>
            </a:pPr>
            <a:r>
              <a:rPr lang="en-US" sz="1400" b="1" dirty="0">
                <a:solidFill>
                  <a:srgbClr val="4A5B66"/>
                </a:solidFill>
              </a:rPr>
              <a:t>Detect &amp; discard</a:t>
            </a:r>
            <a:endParaRPr lang="en-US" sz="1400" dirty="0"/>
          </a:p>
        </p:txBody>
      </p:sp>
      <p:sp>
        <p:nvSpPr>
          <p:cNvPr id="22" name="Shape 20"/>
          <p:cNvSpPr/>
          <p:nvPr/>
        </p:nvSpPr>
        <p:spPr>
          <a:xfrm>
            <a:off x="457200" y="3931920"/>
            <a:ext cx="8229600" cy="731520"/>
          </a:xfrm>
          <a:prstGeom prst="roundRect">
            <a:avLst>
              <a:gd name="adj" fmla="val 12500"/>
            </a:avLst>
          </a:prstGeom>
          <a:solidFill>
            <a:srgbClr val="EEF5F7"/>
          </a:solidFill>
          <a:ln w="12700">
            <a:solidFill>
              <a:srgbClr val="EEF5F7"/>
            </a:solidFill>
            <a:prstDash val="solid"/>
          </a:ln>
        </p:spPr>
      </p:sp>
      <p:sp>
        <p:nvSpPr>
          <p:cNvPr id="23" name="Text 21"/>
          <p:cNvSpPr txBox="1"/>
          <p:nvPr/>
        </p:nvSpPr>
        <p:spPr>
          <a:xfrm>
            <a:off x="640080" y="4005072"/>
            <a:ext cx="7863840" cy="594360"/>
          </a:xfrm>
          <a:prstGeom prst="rect">
            <a:avLst/>
          </a:prstGeom>
          <a:noFill/>
          <a:ln/>
        </p:spPr>
        <p:txBody>
          <a:bodyPr wrap="square" lIns="0" tIns="0" rIns="0" bIns="0" rtlCol="0" anchor="ctr"/>
          <a:lstStyle/>
          <a:p>
            <a:pPr indent="0" marL="0">
              <a:buNone/>
            </a:pPr>
            <a:r>
              <a:rPr lang="en-US" sz="1400" dirty="0">
                <a:solidFill>
                  <a:srgbClr val="0B2E3F"/>
                </a:solidFill>
              </a:rPr>
              <a:t>PC1 sends data to PC3. The signal travels along the whole cable, every PC hears it, PC2 and PC4 discard it, and PC3 accepts it and replies. The terminator stops the signal bouncing back.</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rgbClr val="0B2E3F"/>
                </a:solidFill>
                <a:latin typeface="Cambria" pitchFamily="34" charset="0"/>
                <a:ea typeface="Cambria" pitchFamily="34" charset="-122"/>
                <a:cs typeface="Cambria" pitchFamily="34" charset="-120"/>
              </a:rPr>
              <a:t>Bus topology: parts, pros and cons</a:t>
            </a:r>
            <a:endParaRPr lang="en-US" sz="3400" dirty="0"/>
          </a:p>
        </p:txBody>
      </p:sp>
      <p:sp>
        <p:nvSpPr>
          <p:cNvPr id="3" name="Shape 1"/>
          <p:cNvSpPr/>
          <p:nvPr/>
        </p:nvSpPr>
        <p:spPr>
          <a:xfrm>
            <a:off x="457200" y="1188720"/>
            <a:ext cx="4023360" cy="731520"/>
          </a:xfrm>
          <a:prstGeom prst="roundRect">
            <a:avLst>
              <a:gd name="adj" fmla="val 12500"/>
            </a:avLst>
          </a:prstGeom>
          <a:solidFill>
            <a:srgbClr val="EEF5F7"/>
          </a:solidFill>
          <a:ln w="12700">
            <a:solidFill>
              <a:srgbClr val="EEF5F7"/>
            </a:solidFill>
            <a:prstDash val="solid"/>
          </a:ln>
        </p:spPr>
      </p:sp>
      <p:sp>
        <p:nvSpPr>
          <p:cNvPr id="4" name="Text 2"/>
          <p:cNvSpPr/>
          <p:nvPr/>
        </p:nvSpPr>
        <p:spPr>
          <a:xfrm>
            <a:off x="594360" y="1325880"/>
            <a:ext cx="457200" cy="457200"/>
          </a:xfrm>
          <a:prstGeom prst="ellipse">
            <a:avLst/>
          </a:prstGeom>
          <a:solidFill>
            <a:srgbClr val="1C7C8C"/>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234440" y="1188720"/>
            <a:ext cx="3154680" cy="731520"/>
          </a:xfrm>
          <a:prstGeom prst="rect">
            <a:avLst/>
          </a:prstGeom>
          <a:noFill/>
          <a:ln/>
        </p:spPr>
        <p:txBody>
          <a:bodyPr wrap="square" lIns="0" tIns="0" rIns="0" bIns="0" rtlCol="0" anchor="ctr"/>
          <a:lstStyle/>
          <a:p>
            <a:pPr indent="0" marL="0">
              <a:buNone/>
            </a:pPr>
            <a:r>
              <a:rPr lang="en-US" sz="1600" b="1" dirty="0">
                <a:solidFill>
                  <a:srgbClr val="0B2E3F"/>
                </a:solidFill>
              </a:rPr>
              <a:t>Coaxial cable</a:t>
            </a:r>
            <a:endParaRPr lang="en-US" sz="1600" dirty="0"/>
          </a:p>
          <a:p>
            <a:pPr indent="0" marL="0">
              <a:buNone/>
            </a:pPr>
            <a:r>
              <a:rPr lang="en-US" sz="1400" dirty="0">
                <a:solidFill>
                  <a:srgbClr val="4A5B66"/>
                </a:solidFill>
              </a:rPr>
              <a:t>The shared backbone</a:t>
            </a:r>
            <a:endParaRPr lang="en-US" sz="1600" dirty="0"/>
          </a:p>
        </p:txBody>
      </p:sp>
      <p:sp>
        <p:nvSpPr>
          <p:cNvPr id="6" name="Shape 4"/>
          <p:cNvSpPr/>
          <p:nvPr/>
        </p:nvSpPr>
        <p:spPr>
          <a:xfrm>
            <a:off x="457200" y="2029968"/>
            <a:ext cx="4023360" cy="731520"/>
          </a:xfrm>
          <a:prstGeom prst="roundRect">
            <a:avLst>
              <a:gd name="adj" fmla="val 12500"/>
            </a:avLst>
          </a:prstGeom>
          <a:solidFill>
            <a:srgbClr val="EEF5F7"/>
          </a:solidFill>
          <a:ln w="12700">
            <a:solidFill>
              <a:srgbClr val="EEF5F7"/>
            </a:solidFill>
            <a:prstDash val="solid"/>
          </a:ln>
        </p:spPr>
      </p:sp>
      <p:sp>
        <p:nvSpPr>
          <p:cNvPr id="7" name="Text 5"/>
          <p:cNvSpPr/>
          <p:nvPr/>
        </p:nvSpPr>
        <p:spPr>
          <a:xfrm>
            <a:off x="594360" y="2167128"/>
            <a:ext cx="457200" cy="457200"/>
          </a:xfrm>
          <a:prstGeom prst="ellipse">
            <a:avLst/>
          </a:prstGeom>
          <a:solidFill>
            <a:srgbClr val="F28C28"/>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8" name="Text 6"/>
          <p:cNvSpPr txBox="1"/>
          <p:nvPr/>
        </p:nvSpPr>
        <p:spPr>
          <a:xfrm>
            <a:off x="1234440" y="2029968"/>
            <a:ext cx="3154680" cy="731520"/>
          </a:xfrm>
          <a:prstGeom prst="rect">
            <a:avLst/>
          </a:prstGeom>
          <a:noFill/>
          <a:ln/>
        </p:spPr>
        <p:txBody>
          <a:bodyPr wrap="square" lIns="0" tIns="0" rIns="0" bIns="0" rtlCol="0" anchor="ctr"/>
          <a:lstStyle/>
          <a:p>
            <a:pPr indent="0" marL="0">
              <a:buNone/>
            </a:pPr>
            <a:r>
              <a:rPr lang="en-US" sz="1600" b="1" dirty="0">
                <a:solidFill>
                  <a:srgbClr val="0B2E3F"/>
                </a:solidFill>
              </a:rPr>
              <a:t>BNC T connector</a:t>
            </a:r>
            <a:endParaRPr lang="en-US" sz="1600" dirty="0"/>
          </a:p>
          <a:p>
            <a:pPr indent="0" marL="0">
              <a:buNone/>
            </a:pPr>
            <a:r>
              <a:rPr lang="en-US" sz="1400" dirty="0">
                <a:solidFill>
                  <a:srgbClr val="4A5B66"/>
                </a:solidFill>
              </a:rPr>
              <a:t>Attaches each PC to the cable</a:t>
            </a:r>
            <a:endParaRPr lang="en-US" sz="1600" dirty="0"/>
          </a:p>
        </p:txBody>
      </p:sp>
      <p:sp>
        <p:nvSpPr>
          <p:cNvPr id="9" name="Shape 7"/>
          <p:cNvSpPr/>
          <p:nvPr/>
        </p:nvSpPr>
        <p:spPr>
          <a:xfrm>
            <a:off x="457200" y="2871216"/>
            <a:ext cx="4023360" cy="731520"/>
          </a:xfrm>
          <a:prstGeom prst="roundRect">
            <a:avLst>
              <a:gd name="adj" fmla="val 12500"/>
            </a:avLst>
          </a:prstGeom>
          <a:solidFill>
            <a:srgbClr val="EEF5F7"/>
          </a:solidFill>
          <a:ln w="12700">
            <a:solidFill>
              <a:srgbClr val="EEF5F7"/>
            </a:solidFill>
            <a:prstDash val="solid"/>
          </a:ln>
        </p:spPr>
      </p:sp>
      <p:sp>
        <p:nvSpPr>
          <p:cNvPr id="10" name="Text 8"/>
          <p:cNvSpPr/>
          <p:nvPr/>
        </p:nvSpPr>
        <p:spPr>
          <a:xfrm>
            <a:off x="594360" y="3008376"/>
            <a:ext cx="457200" cy="457200"/>
          </a:xfrm>
          <a:prstGeom prst="ellipse">
            <a:avLst/>
          </a:prstGeom>
          <a:solidFill>
            <a:srgbClr val="0B2E3F"/>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1" name="Text 9"/>
          <p:cNvSpPr txBox="1"/>
          <p:nvPr/>
        </p:nvSpPr>
        <p:spPr>
          <a:xfrm>
            <a:off x="1234440" y="2871216"/>
            <a:ext cx="3154680" cy="731520"/>
          </a:xfrm>
          <a:prstGeom prst="rect">
            <a:avLst/>
          </a:prstGeom>
          <a:noFill/>
          <a:ln/>
        </p:spPr>
        <p:txBody>
          <a:bodyPr wrap="square" lIns="0" tIns="0" rIns="0" bIns="0" rtlCol="0" anchor="ctr"/>
          <a:lstStyle/>
          <a:p>
            <a:pPr indent="0" marL="0">
              <a:buNone/>
            </a:pPr>
            <a:r>
              <a:rPr lang="en-US" sz="1600" b="1" dirty="0">
                <a:solidFill>
                  <a:srgbClr val="0B2E3F"/>
                </a:solidFill>
              </a:rPr>
              <a:t>Terminator</a:t>
            </a:r>
            <a:endParaRPr lang="en-US" sz="1600" dirty="0"/>
          </a:p>
          <a:p>
            <a:pPr indent="0" marL="0">
              <a:buNone/>
            </a:pPr>
            <a:r>
              <a:rPr lang="en-US" sz="1400" dirty="0">
                <a:solidFill>
                  <a:srgbClr val="4A5B66"/>
                </a:solidFill>
              </a:rPr>
              <a:t>Absorbs the signal at the cable end</a:t>
            </a:r>
            <a:endParaRPr lang="en-US" sz="1600" dirty="0"/>
          </a:p>
        </p:txBody>
      </p:sp>
      <p:sp>
        <p:nvSpPr>
          <p:cNvPr id="12" name="Shape 10"/>
          <p:cNvSpPr/>
          <p:nvPr/>
        </p:nvSpPr>
        <p:spPr>
          <a:xfrm>
            <a:off x="457200" y="3712464"/>
            <a:ext cx="4023360" cy="731520"/>
          </a:xfrm>
          <a:prstGeom prst="roundRect">
            <a:avLst>
              <a:gd name="adj" fmla="val 12500"/>
            </a:avLst>
          </a:prstGeom>
          <a:solidFill>
            <a:srgbClr val="EEF5F7"/>
          </a:solidFill>
          <a:ln w="12700">
            <a:solidFill>
              <a:srgbClr val="EEF5F7"/>
            </a:solidFill>
            <a:prstDash val="solid"/>
          </a:ln>
        </p:spPr>
      </p:sp>
      <p:sp>
        <p:nvSpPr>
          <p:cNvPr id="13" name="Text 11"/>
          <p:cNvSpPr/>
          <p:nvPr/>
        </p:nvSpPr>
        <p:spPr>
          <a:xfrm>
            <a:off x="594360" y="3849624"/>
            <a:ext cx="457200" cy="457200"/>
          </a:xfrm>
          <a:prstGeom prst="ellipse">
            <a:avLst/>
          </a:prstGeom>
          <a:solidFill>
            <a:srgbClr val="5B8C5A"/>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4" name="Text 12"/>
          <p:cNvSpPr txBox="1"/>
          <p:nvPr/>
        </p:nvSpPr>
        <p:spPr>
          <a:xfrm>
            <a:off x="1234440" y="3712464"/>
            <a:ext cx="3154680" cy="731520"/>
          </a:xfrm>
          <a:prstGeom prst="rect">
            <a:avLst/>
          </a:prstGeom>
          <a:noFill/>
          <a:ln/>
        </p:spPr>
        <p:txBody>
          <a:bodyPr wrap="square" lIns="0" tIns="0" rIns="0" bIns="0" rtlCol="0" anchor="ctr"/>
          <a:lstStyle/>
          <a:p>
            <a:pPr indent="0" marL="0">
              <a:buNone/>
            </a:pPr>
            <a:r>
              <a:rPr lang="en-US" sz="1600" b="1" dirty="0">
                <a:solidFill>
                  <a:srgbClr val="0B2E3F"/>
                </a:solidFill>
              </a:rPr>
              <a:t>Ground</a:t>
            </a:r>
            <a:endParaRPr lang="en-US" sz="1600" dirty="0"/>
          </a:p>
          <a:p>
            <a:pPr indent="0" marL="0">
              <a:buNone/>
            </a:pPr>
            <a:r>
              <a:rPr lang="en-US" sz="1400" dirty="0">
                <a:solidFill>
                  <a:srgbClr val="4A5B66"/>
                </a:solidFill>
              </a:rPr>
              <a:t>Safely earths the cable</a:t>
            </a:r>
            <a:endParaRPr lang="en-US" sz="1600" dirty="0"/>
          </a:p>
        </p:txBody>
      </p:sp>
      <p:sp>
        <p:nvSpPr>
          <p:cNvPr id="15" name="Text 13"/>
          <p:cNvSpPr txBox="1"/>
          <p:nvPr/>
        </p:nvSpPr>
        <p:spPr>
          <a:xfrm>
            <a:off x="4754880" y="1143000"/>
            <a:ext cx="3931920" cy="1234440"/>
          </a:xfrm>
          <a:prstGeom prst="rect">
            <a:avLst/>
          </a:prstGeom>
          <a:noFill/>
          <a:ln/>
        </p:spPr>
        <p:txBody>
          <a:bodyPr wrap="square" lIns="0" tIns="0" rIns="0" bIns="0" rtlCol="0" anchor="t"/>
          <a:lstStyle/>
          <a:p>
            <a:pPr indent="0" marL="0">
              <a:buNone/>
            </a:pPr>
            <a:r>
              <a:rPr lang="en-US" sz="1400" dirty="0">
                <a:solidFill>
                  <a:srgbClr val="0B2E3F"/>
                </a:solidFill>
              </a:rPr>
              <a:t>All devices share one main cable. Each PC attaches with a BNC T connector, and both ends of the cable are closed off.</a:t>
            </a:r>
            <a:endParaRPr lang="en-US" sz="1400" dirty="0"/>
          </a:p>
        </p:txBody>
      </p:sp>
      <p:sp>
        <p:nvSpPr>
          <p:cNvPr id="16" name="Shape 14"/>
          <p:cNvSpPr/>
          <p:nvPr/>
        </p:nvSpPr>
        <p:spPr>
          <a:xfrm>
            <a:off x="4754880" y="2468880"/>
            <a:ext cx="3931920" cy="1005840"/>
          </a:xfrm>
          <a:prstGeom prst="roundRect">
            <a:avLst>
              <a:gd name="adj" fmla="val 9091"/>
            </a:avLst>
          </a:prstGeom>
          <a:solidFill>
            <a:srgbClr val="EEF5F7"/>
          </a:solidFill>
          <a:ln w="12700">
            <a:solidFill>
              <a:srgbClr val="EEF5F7"/>
            </a:solidFill>
            <a:prstDash val="solid"/>
          </a:ln>
        </p:spPr>
      </p:sp>
      <p:sp>
        <p:nvSpPr>
          <p:cNvPr id="17" name="Text 15"/>
          <p:cNvSpPr txBox="1"/>
          <p:nvPr/>
        </p:nvSpPr>
        <p:spPr>
          <a:xfrm>
            <a:off x="4937760" y="2560320"/>
            <a:ext cx="3611880" cy="822960"/>
          </a:xfrm>
          <a:prstGeom prst="rect">
            <a:avLst/>
          </a:prstGeom>
          <a:noFill/>
          <a:ln/>
        </p:spPr>
        <p:txBody>
          <a:bodyPr wrap="square" lIns="0" tIns="0" rIns="0" bIns="0" rtlCol="0" anchor="t"/>
          <a:lstStyle/>
          <a:p>
            <a:pPr indent="0" marL="0">
              <a:buNone/>
            </a:pPr>
            <a:r>
              <a:rPr lang="en-US" sz="1400" b="1" dirty="0">
                <a:solidFill>
                  <a:srgbClr val="5B8C5A"/>
                </a:solidFill>
              </a:rPr>
              <a:t>Pros</a:t>
            </a:r>
            <a:endParaRPr lang="en-US" sz="1400" dirty="0"/>
          </a:p>
          <a:p>
            <a:pPr marL="342900" indent="-342900">
              <a:buSzPct val="100000"/>
              <a:buChar char="•"/>
            </a:pPr>
            <a:r>
              <a:rPr lang="en-US" sz="1400" dirty="0">
                <a:solidFill>
                  <a:srgbClr val="0B2E3F"/>
                </a:solidFill>
              </a:rPr>
              <a:t>Cheap, uses little cable</a:t>
            </a:r>
            <a:endParaRPr lang="en-US" sz="1400" dirty="0"/>
          </a:p>
          <a:p>
            <a:pPr marL="342900" indent="-342900">
              <a:buSzPct val="100000"/>
              <a:buChar char="•"/>
            </a:pPr>
            <a:r>
              <a:rPr lang="en-US" sz="1400" dirty="0">
                <a:solidFill>
                  <a:srgbClr val="0B2E3F"/>
                </a:solidFill>
              </a:rPr>
              <a:t>Simple to set up</a:t>
            </a:r>
            <a:endParaRPr lang="en-US" sz="1400" dirty="0"/>
          </a:p>
        </p:txBody>
      </p:sp>
      <p:sp>
        <p:nvSpPr>
          <p:cNvPr id="18" name="Shape 16"/>
          <p:cNvSpPr/>
          <p:nvPr/>
        </p:nvSpPr>
        <p:spPr>
          <a:xfrm>
            <a:off x="4754880" y="3611880"/>
            <a:ext cx="3931920" cy="1005840"/>
          </a:xfrm>
          <a:prstGeom prst="roundRect">
            <a:avLst>
              <a:gd name="adj" fmla="val 9091"/>
            </a:avLst>
          </a:prstGeom>
          <a:solidFill>
            <a:srgbClr val="EEF5F7"/>
          </a:solidFill>
          <a:ln w="12700">
            <a:solidFill>
              <a:srgbClr val="EEF5F7"/>
            </a:solidFill>
            <a:prstDash val="solid"/>
          </a:ln>
        </p:spPr>
      </p:sp>
      <p:sp>
        <p:nvSpPr>
          <p:cNvPr id="19" name="Text 17"/>
          <p:cNvSpPr txBox="1"/>
          <p:nvPr/>
        </p:nvSpPr>
        <p:spPr>
          <a:xfrm>
            <a:off x="4937760" y="3703320"/>
            <a:ext cx="3611880" cy="822960"/>
          </a:xfrm>
          <a:prstGeom prst="rect">
            <a:avLst/>
          </a:prstGeom>
          <a:noFill/>
          <a:ln/>
        </p:spPr>
        <p:txBody>
          <a:bodyPr wrap="square" lIns="0" tIns="0" rIns="0" bIns="0" rtlCol="0" anchor="t"/>
          <a:lstStyle/>
          <a:p>
            <a:pPr indent="0" marL="0">
              <a:buNone/>
            </a:pPr>
            <a:r>
              <a:rPr lang="en-US" sz="1400" b="1" dirty="0">
                <a:solidFill>
                  <a:srgbClr val="D9534F"/>
                </a:solidFill>
              </a:rPr>
              <a:t>Cons</a:t>
            </a:r>
            <a:endParaRPr lang="en-US" sz="1400" dirty="0"/>
          </a:p>
          <a:p>
            <a:pPr marL="342900" indent="-342900">
              <a:buSzPct val="100000"/>
              <a:buChar char="•"/>
            </a:pPr>
            <a:r>
              <a:rPr lang="en-US" sz="1400" dirty="0">
                <a:solidFill>
                  <a:srgbClr val="0B2E3F"/>
                </a:solidFill>
              </a:rPr>
              <a:t>One cable break stops all</a:t>
            </a:r>
            <a:endParaRPr lang="en-US" sz="1400" dirty="0"/>
          </a:p>
          <a:p>
            <a:pPr marL="342900" indent="-342900">
              <a:buSzPct val="100000"/>
              <a:buChar char="•"/>
            </a:pPr>
            <a:r>
              <a:rPr lang="en-US" sz="1400" dirty="0">
                <a:solidFill>
                  <a:srgbClr val="0B2E3F"/>
                </a:solidFill>
              </a:rPr>
              <a:t>Slower as PCs are added</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rgbClr val="0B2E3F"/>
                </a:solidFill>
                <a:latin typeface="Cambria" pitchFamily="34" charset="0"/>
                <a:ea typeface="Cambria" pitchFamily="34" charset="-122"/>
                <a:cs typeface="Cambria" pitchFamily="34" charset="-120"/>
              </a:rPr>
              <a:t>Ring topology</a:t>
            </a:r>
            <a:endParaRPr lang="en-US" sz="3400" dirty="0"/>
          </a:p>
        </p:txBody>
      </p:sp>
      <p:sp>
        <p:nvSpPr>
          <p:cNvPr id="3" name="Shape 1"/>
          <p:cNvSpPr/>
          <p:nvPr/>
        </p:nvSpPr>
        <p:spPr>
          <a:xfrm>
            <a:off x="1280160" y="1600200"/>
            <a:ext cx="2377440" cy="2377440"/>
          </a:xfrm>
          <a:prstGeom prst="ellipse">
            <a:avLst/>
          </a:prstGeom>
          <a:solidFill>
            <a:srgbClr val="FFFFFF"/>
          </a:solidFill>
          <a:ln w="50800">
            <a:solidFill>
              <a:srgbClr val="F28C28"/>
            </a:solidFill>
            <a:prstDash val="solid"/>
          </a:ln>
        </p:spPr>
      </p:sp>
      <p:sp>
        <p:nvSpPr>
          <p:cNvPr id="4" name="Text 2"/>
          <p:cNvSpPr txBox="1"/>
          <p:nvPr/>
        </p:nvSpPr>
        <p:spPr>
          <a:xfrm>
            <a:off x="1965960" y="2514600"/>
            <a:ext cx="1005840" cy="548640"/>
          </a:xfrm>
          <a:prstGeom prst="rect">
            <a:avLst/>
          </a:prstGeom>
          <a:noFill/>
          <a:ln/>
        </p:spPr>
        <p:txBody>
          <a:bodyPr wrap="square" lIns="0" tIns="0" rIns="0" bIns="0" rtlCol="0" anchor="ctr"/>
          <a:lstStyle/>
          <a:p>
            <a:pPr algn="ctr" indent="0" marL="0">
              <a:buNone/>
            </a:pPr>
            <a:r>
              <a:rPr lang="en-US" sz="1400" b="1" dirty="0">
                <a:solidFill>
                  <a:srgbClr val="0B2E3F"/>
                </a:solidFill>
              </a:rPr>
              <a:t>Flow of</a:t>
            </a:r>
            <a:endParaRPr lang="en-US" sz="1400" dirty="0"/>
          </a:p>
          <a:p>
            <a:pPr algn="ctr" indent="0" marL="0">
              <a:buNone/>
            </a:pPr>
            <a:r>
              <a:rPr lang="en-US" sz="1400" b="1" dirty="0">
                <a:solidFill>
                  <a:srgbClr val="0B2E3F"/>
                </a:solidFill>
              </a:rPr>
              <a:t>message</a:t>
            </a:r>
            <a:endParaRPr lang="en-US" sz="1400" dirty="0"/>
          </a:p>
        </p:txBody>
      </p:sp>
      <p:sp>
        <p:nvSpPr>
          <p:cNvPr id="5" name="Text 3"/>
          <p:cNvSpPr/>
          <p:nvPr/>
        </p:nvSpPr>
        <p:spPr>
          <a:xfrm>
            <a:off x="1874520" y="1408176"/>
            <a:ext cx="118872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200" b="1" dirty="0">
                <a:solidFill>
                  <a:srgbClr val="FFFFFF"/>
                </a:solidFill>
              </a:rPr>
              <a:t>Computer A</a:t>
            </a:r>
            <a:endParaRPr lang="en-US" sz="1200" dirty="0"/>
          </a:p>
        </p:txBody>
      </p:sp>
      <p:sp>
        <p:nvSpPr>
          <p:cNvPr id="6" name="Text 4"/>
          <p:cNvSpPr/>
          <p:nvPr/>
        </p:nvSpPr>
        <p:spPr>
          <a:xfrm>
            <a:off x="3063240" y="2596896"/>
            <a:ext cx="118872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200" b="1" dirty="0">
                <a:solidFill>
                  <a:srgbClr val="FFFFFF"/>
                </a:solidFill>
              </a:rPr>
              <a:t>Computer B</a:t>
            </a:r>
            <a:endParaRPr lang="en-US" sz="1200" dirty="0"/>
          </a:p>
        </p:txBody>
      </p:sp>
      <p:sp>
        <p:nvSpPr>
          <p:cNvPr id="7" name="Text 5"/>
          <p:cNvSpPr/>
          <p:nvPr/>
        </p:nvSpPr>
        <p:spPr>
          <a:xfrm>
            <a:off x="1874520" y="3785616"/>
            <a:ext cx="118872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200" b="1" dirty="0">
                <a:solidFill>
                  <a:srgbClr val="FFFFFF"/>
                </a:solidFill>
              </a:rPr>
              <a:t>Computer C</a:t>
            </a:r>
            <a:endParaRPr lang="en-US" sz="1200" dirty="0"/>
          </a:p>
        </p:txBody>
      </p:sp>
      <p:sp>
        <p:nvSpPr>
          <p:cNvPr id="8" name="Text 6"/>
          <p:cNvSpPr/>
          <p:nvPr/>
        </p:nvSpPr>
        <p:spPr>
          <a:xfrm>
            <a:off x="685800" y="2596896"/>
            <a:ext cx="118872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200" b="1" dirty="0">
                <a:solidFill>
                  <a:srgbClr val="FFFFFF"/>
                </a:solidFill>
              </a:rPr>
              <a:t>Computer D</a:t>
            </a:r>
            <a:endParaRPr lang="en-US" sz="1200" dirty="0"/>
          </a:p>
        </p:txBody>
      </p:sp>
      <p:sp>
        <p:nvSpPr>
          <p:cNvPr id="9" name="Text 7"/>
          <p:cNvSpPr txBox="1"/>
          <p:nvPr/>
        </p:nvSpPr>
        <p:spPr>
          <a:xfrm>
            <a:off x="2194560" y="3108960"/>
            <a:ext cx="548640" cy="457200"/>
          </a:xfrm>
          <a:prstGeom prst="rect">
            <a:avLst/>
          </a:prstGeom>
          <a:noFill/>
          <a:ln/>
        </p:spPr>
        <p:txBody>
          <a:bodyPr wrap="square" lIns="0" tIns="0" rIns="0" bIns="0" rtlCol="0" anchor="t"/>
          <a:lstStyle/>
          <a:p>
            <a:pPr algn="ctr" indent="0" marL="0">
              <a:buNone/>
            </a:pPr>
            <a:r>
              <a:rPr lang="en-US" sz="2400" dirty="0">
                <a:solidFill>
                  <a:srgbClr val="F28C28"/>
                </a:solidFill>
              </a:rPr>
              <a:t>↻</a:t>
            </a:r>
            <a:endParaRPr lang="en-US" sz="2400" dirty="0"/>
          </a:p>
        </p:txBody>
      </p:sp>
      <p:sp>
        <p:nvSpPr>
          <p:cNvPr id="10" name="Text 8"/>
          <p:cNvSpPr txBox="1"/>
          <p:nvPr/>
        </p:nvSpPr>
        <p:spPr>
          <a:xfrm>
            <a:off x="4754880" y="1143000"/>
            <a:ext cx="3931920" cy="1234440"/>
          </a:xfrm>
          <a:prstGeom prst="rect">
            <a:avLst/>
          </a:prstGeom>
          <a:noFill/>
          <a:ln/>
        </p:spPr>
        <p:txBody>
          <a:bodyPr wrap="square" lIns="0" tIns="0" rIns="0" bIns="0" rtlCol="0" anchor="t"/>
          <a:lstStyle/>
          <a:p>
            <a:pPr indent="0" marL="0">
              <a:buNone/>
            </a:pPr>
            <a:r>
              <a:rPr lang="en-US" sz="1400" dirty="0">
                <a:solidFill>
                  <a:srgbClr val="0B2E3F"/>
                </a:solidFill>
              </a:rPr>
              <a:t>Each computer connects to exactly two neighbours, forming a closed loop. Messages travel around the ring in one direction. A dual ring adds a second ring as backup.</a:t>
            </a:r>
            <a:endParaRPr lang="en-US" sz="1400" dirty="0"/>
          </a:p>
        </p:txBody>
      </p:sp>
      <p:sp>
        <p:nvSpPr>
          <p:cNvPr id="11" name="Shape 9"/>
          <p:cNvSpPr/>
          <p:nvPr/>
        </p:nvSpPr>
        <p:spPr>
          <a:xfrm>
            <a:off x="4754880" y="2468880"/>
            <a:ext cx="3931920" cy="1005840"/>
          </a:xfrm>
          <a:prstGeom prst="roundRect">
            <a:avLst>
              <a:gd name="adj" fmla="val 9091"/>
            </a:avLst>
          </a:prstGeom>
          <a:solidFill>
            <a:srgbClr val="EEF5F7"/>
          </a:solidFill>
          <a:ln w="12700">
            <a:solidFill>
              <a:srgbClr val="EEF5F7"/>
            </a:solidFill>
            <a:prstDash val="solid"/>
          </a:ln>
        </p:spPr>
      </p:sp>
      <p:sp>
        <p:nvSpPr>
          <p:cNvPr id="12" name="Text 10"/>
          <p:cNvSpPr txBox="1"/>
          <p:nvPr/>
        </p:nvSpPr>
        <p:spPr>
          <a:xfrm>
            <a:off x="4937760" y="2560320"/>
            <a:ext cx="3611880" cy="822960"/>
          </a:xfrm>
          <a:prstGeom prst="rect">
            <a:avLst/>
          </a:prstGeom>
          <a:noFill/>
          <a:ln/>
        </p:spPr>
        <p:txBody>
          <a:bodyPr wrap="square" lIns="0" tIns="0" rIns="0" bIns="0" rtlCol="0" anchor="t"/>
          <a:lstStyle/>
          <a:p>
            <a:pPr indent="0" marL="0">
              <a:buNone/>
            </a:pPr>
            <a:r>
              <a:rPr lang="en-US" sz="1400" b="1" dirty="0">
                <a:solidFill>
                  <a:srgbClr val="5B8C5A"/>
                </a:solidFill>
              </a:rPr>
              <a:t>Pros</a:t>
            </a:r>
            <a:endParaRPr lang="en-US" sz="1400" dirty="0"/>
          </a:p>
          <a:p>
            <a:pPr marL="342900" indent="-342900">
              <a:buSzPct val="100000"/>
              <a:buChar char="•"/>
            </a:pPr>
            <a:r>
              <a:rPr lang="en-US" sz="1400" dirty="0">
                <a:solidFill>
                  <a:srgbClr val="0B2E3F"/>
                </a:solidFill>
              </a:rPr>
              <a:t>Orderly, predictable data flow</a:t>
            </a:r>
            <a:endParaRPr lang="en-US" sz="1400" dirty="0"/>
          </a:p>
          <a:p>
            <a:pPr marL="342900" indent="-342900">
              <a:buSzPct val="100000"/>
              <a:buChar char="•"/>
            </a:pPr>
            <a:r>
              <a:rPr lang="en-US" sz="1400" dirty="0">
                <a:solidFill>
                  <a:srgbClr val="0B2E3F"/>
                </a:solidFill>
              </a:rPr>
              <a:t>Dual ring survives one break</a:t>
            </a:r>
            <a:endParaRPr lang="en-US" sz="1400" dirty="0"/>
          </a:p>
        </p:txBody>
      </p:sp>
      <p:sp>
        <p:nvSpPr>
          <p:cNvPr id="13" name="Shape 11"/>
          <p:cNvSpPr/>
          <p:nvPr/>
        </p:nvSpPr>
        <p:spPr>
          <a:xfrm>
            <a:off x="4754880" y="3611880"/>
            <a:ext cx="3931920" cy="1005840"/>
          </a:xfrm>
          <a:prstGeom prst="roundRect">
            <a:avLst>
              <a:gd name="adj" fmla="val 9091"/>
            </a:avLst>
          </a:prstGeom>
          <a:solidFill>
            <a:srgbClr val="EEF5F7"/>
          </a:solidFill>
          <a:ln w="12700">
            <a:solidFill>
              <a:srgbClr val="EEF5F7"/>
            </a:solidFill>
            <a:prstDash val="solid"/>
          </a:ln>
        </p:spPr>
      </p:sp>
      <p:sp>
        <p:nvSpPr>
          <p:cNvPr id="14" name="Text 12"/>
          <p:cNvSpPr txBox="1"/>
          <p:nvPr/>
        </p:nvSpPr>
        <p:spPr>
          <a:xfrm>
            <a:off x="4937760" y="3703320"/>
            <a:ext cx="3611880" cy="822960"/>
          </a:xfrm>
          <a:prstGeom prst="rect">
            <a:avLst/>
          </a:prstGeom>
          <a:noFill/>
          <a:ln/>
        </p:spPr>
        <p:txBody>
          <a:bodyPr wrap="square" lIns="0" tIns="0" rIns="0" bIns="0" rtlCol="0" anchor="t"/>
          <a:lstStyle/>
          <a:p>
            <a:pPr indent="0" marL="0">
              <a:buNone/>
            </a:pPr>
            <a:r>
              <a:rPr lang="en-US" sz="1400" b="1" dirty="0">
                <a:solidFill>
                  <a:srgbClr val="D9534F"/>
                </a:solidFill>
              </a:rPr>
              <a:t>Cons</a:t>
            </a:r>
            <a:endParaRPr lang="en-US" sz="1400" dirty="0"/>
          </a:p>
          <a:p>
            <a:pPr marL="342900" indent="-342900">
              <a:buSzPct val="100000"/>
              <a:buChar char="•"/>
            </a:pPr>
            <a:r>
              <a:rPr lang="en-US" sz="1400" dirty="0">
                <a:solidFill>
                  <a:srgbClr val="0B2E3F"/>
                </a:solidFill>
              </a:rPr>
              <a:t>Single ring: one break can stop it</a:t>
            </a:r>
            <a:endParaRPr lang="en-US" sz="1400" dirty="0"/>
          </a:p>
          <a:p>
            <a:pPr marL="342900" indent="-342900">
              <a:buSzPct val="100000"/>
              <a:buChar char="•"/>
            </a:pPr>
            <a:r>
              <a:rPr lang="en-US" sz="1400" dirty="0">
                <a:solidFill>
                  <a:srgbClr val="0B2E3F"/>
                </a:solidFill>
              </a:rPr>
              <a:t>Hard to add or remove nodes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rgbClr val="0B2E3F"/>
                </a:solidFill>
                <a:latin typeface="Cambria" pitchFamily="34" charset="0"/>
                <a:ea typeface="Cambria" pitchFamily="34" charset="-122"/>
                <a:cs typeface="Cambria" pitchFamily="34" charset="-120"/>
              </a:rPr>
              <a:t>Star topology</a:t>
            </a:r>
            <a:endParaRPr lang="en-US" sz="3400" dirty="0"/>
          </a:p>
        </p:txBody>
      </p:sp>
      <p:sp>
        <p:nvSpPr>
          <p:cNvPr id="3" name="Shape 1"/>
          <p:cNvSpPr/>
          <p:nvPr/>
        </p:nvSpPr>
        <p:spPr>
          <a:xfrm>
            <a:off x="2468880" y="1600200"/>
            <a:ext cx="0" cy="1280160"/>
          </a:xfrm>
          <a:prstGeom prst="line">
            <a:avLst/>
          </a:prstGeom>
          <a:noFill/>
          <a:ln w="25400">
            <a:solidFill>
              <a:srgbClr val="4A5B66"/>
            </a:solidFill>
            <a:prstDash val="solid"/>
          </a:ln>
        </p:spPr>
      </p:sp>
      <p:sp>
        <p:nvSpPr>
          <p:cNvPr id="4" name="Shape 2"/>
          <p:cNvSpPr/>
          <p:nvPr/>
        </p:nvSpPr>
        <p:spPr>
          <a:xfrm flipV="1">
            <a:off x="2468880" y="2484769"/>
            <a:ext cx="1391434" cy="395591"/>
          </a:xfrm>
          <a:prstGeom prst="line">
            <a:avLst/>
          </a:prstGeom>
          <a:noFill/>
          <a:ln w="25400">
            <a:solidFill>
              <a:srgbClr val="4A5B66"/>
            </a:solidFill>
            <a:prstDash val="solid"/>
          </a:ln>
        </p:spPr>
      </p:sp>
      <p:sp>
        <p:nvSpPr>
          <p:cNvPr id="5" name="Shape 3"/>
          <p:cNvSpPr/>
          <p:nvPr/>
        </p:nvSpPr>
        <p:spPr>
          <a:xfrm>
            <a:off x="2468880" y="2880360"/>
            <a:ext cx="859953" cy="1035671"/>
          </a:xfrm>
          <a:prstGeom prst="line">
            <a:avLst/>
          </a:prstGeom>
          <a:noFill/>
          <a:ln w="25400">
            <a:solidFill>
              <a:srgbClr val="4A5B66"/>
            </a:solidFill>
            <a:prstDash val="solid"/>
          </a:ln>
        </p:spPr>
      </p:sp>
      <p:sp>
        <p:nvSpPr>
          <p:cNvPr id="6" name="Shape 4"/>
          <p:cNvSpPr/>
          <p:nvPr/>
        </p:nvSpPr>
        <p:spPr>
          <a:xfrm flipV="1">
            <a:off x="1608927" y="2880360"/>
            <a:ext cx="859953" cy="1035671"/>
          </a:xfrm>
          <a:prstGeom prst="line">
            <a:avLst/>
          </a:prstGeom>
          <a:noFill/>
          <a:ln w="25400">
            <a:solidFill>
              <a:srgbClr val="4A5B66"/>
            </a:solidFill>
            <a:prstDash val="solid"/>
          </a:ln>
        </p:spPr>
      </p:sp>
      <p:sp>
        <p:nvSpPr>
          <p:cNvPr id="7" name="Shape 5"/>
          <p:cNvSpPr/>
          <p:nvPr/>
        </p:nvSpPr>
        <p:spPr>
          <a:xfrm>
            <a:off x="1077446" y="2484769"/>
            <a:ext cx="1391434" cy="395591"/>
          </a:xfrm>
          <a:prstGeom prst="line">
            <a:avLst/>
          </a:prstGeom>
          <a:noFill/>
          <a:ln w="25400">
            <a:solidFill>
              <a:srgbClr val="4A5B66"/>
            </a:solidFill>
            <a:prstDash val="solid"/>
          </a:ln>
        </p:spPr>
      </p:sp>
      <p:sp>
        <p:nvSpPr>
          <p:cNvPr id="8" name="Text 6"/>
          <p:cNvSpPr/>
          <p:nvPr/>
        </p:nvSpPr>
        <p:spPr>
          <a:xfrm>
            <a:off x="1965960" y="1408176"/>
            <a:ext cx="100584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200" b="1" dirty="0">
                <a:solidFill>
                  <a:srgbClr val="FFFFFF"/>
                </a:solidFill>
              </a:rPr>
              <a:t>Computer</a:t>
            </a:r>
            <a:endParaRPr lang="en-US" sz="1200" dirty="0"/>
          </a:p>
        </p:txBody>
      </p:sp>
      <p:sp>
        <p:nvSpPr>
          <p:cNvPr id="9" name="Text 7"/>
          <p:cNvSpPr/>
          <p:nvPr/>
        </p:nvSpPr>
        <p:spPr>
          <a:xfrm>
            <a:off x="3357394" y="2292745"/>
            <a:ext cx="100584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200" b="1" dirty="0">
                <a:solidFill>
                  <a:srgbClr val="FFFFFF"/>
                </a:solidFill>
              </a:rPr>
              <a:t>Computer</a:t>
            </a:r>
            <a:endParaRPr lang="en-US" sz="1200" dirty="0"/>
          </a:p>
        </p:txBody>
      </p:sp>
      <p:sp>
        <p:nvSpPr>
          <p:cNvPr id="10" name="Text 8"/>
          <p:cNvSpPr/>
          <p:nvPr/>
        </p:nvSpPr>
        <p:spPr>
          <a:xfrm>
            <a:off x="2825913" y="3724007"/>
            <a:ext cx="100584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200" b="1" dirty="0">
                <a:solidFill>
                  <a:srgbClr val="FFFFFF"/>
                </a:solidFill>
              </a:rPr>
              <a:t>Computer</a:t>
            </a:r>
            <a:endParaRPr lang="en-US" sz="1200" dirty="0"/>
          </a:p>
        </p:txBody>
      </p:sp>
      <p:sp>
        <p:nvSpPr>
          <p:cNvPr id="11" name="Text 9"/>
          <p:cNvSpPr/>
          <p:nvPr/>
        </p:nvSpPr>
        <p:spPr>
          <a:xfrm>
            <a:off x="1106007" y="3724007"/>
            <a:ext cx="100584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200" b="1" dirty="0">
                <a:solidFill>
                  <a:srgbClr val="FFFFFF"/>
                </a:solidFill>
              </a:rPr>
              <a:t>Computer</a:t>
            </a:r>
            <a:endParaRPr lang="en-US" sz="1200" dirty="0"/>
          </a:p>
        </p:txBody>
      </p:sp>
      <p:sp>
        <p:nvSpPr>
          <p:cNvPr id="12" name="Text 10"/>
          <p:cNvSpPr/>
          <p:nvPr/>
        </p:nvSpPr>
        <p:spPr>
          <a:xfrm>
            <a:off x="574526" y="2292745"/>
            <a:ext cx="1005840" cy="384048"/>
          </a:xfrm>
          <a:prstGeom prst="roundRect">
            <a:avLst>
              <a:gd name="adj" fmla="val 19048"/>
            </a:avLst>
          </a:prstGeom>
          <a:solidFill>
            <a:srgbClr val="F28C28"/>
          </a:solidFill>
          <a:ln/>
        </p:spPr>
        <p:txBody>
          <a:bodyPr wrap="square" lIns="0" tIns="0" rIns="0" bIns="0" rtlCol="0" anchor="ctr"/>
          <a:lstStyle/>
          <a:p>
            <a:pPr algn="ctr" indent="0" marL="0">
              <a:buNone/>
            </a:pPr>
            <a:r>
              <a:rPr lang="en-US" sz="1200" b="1" dirty="0">
                <a:solidFill>
                  <a:srgbClr val="FFFFFF"/>
                </a:solidFill>
              </a:rPr>
              <a:t>Printer</a:t>
            </a:r>
            <a:endParaRPr lang="en-US" sz="1200" dirty="0"/>
          </a:p>
        </p:txBody>
      </p:sp>
      <p:sp>
        <p:nvSpPr>
          <p:cNvPr id="13" name="Text 11"/>
          <p:cNvSpPr/>
          <p:nvPr/>
        </p:nvSpPr>
        <p:spPr>
          <a:xfrm>
            <a:off x="1874520" y="2606040"/>
            <a:ext cx="1188720" cy="548640"/>
          </a:xfrm>
          <a:prstGeom prst="roundRect">
            <a:avLst>
              <a:gd name="adj" fmla="val 13333"/>
            </a:avLst>
          </a:prstGeom>
          <a:solidFill>
            <a:srgbClr val="1C7C8C"/>
          </a:solidFill>
          <a:ln/>
        </p:spPr>
        <p:txBody>
          <a:bodyPr wrap="square" lIns="0" tIns="0" rIns="0" bIns="0" rtlCol="0" anchor="ctr"/>
          <a:lstStyle/>
          <a:p>
            <a:pPr algn="ctr" indent="0" marL="0">
              <a:buNone/>
            </a:pPr>
            <a:r>
              <a:rPr lang="en-US" sz="1300" b="1" dirty="0">
                <a:solidFill>
                  <a:srgbClr val="FFFFFF"/>
                </a:solidFill>
              </a:rPr>
              <a:t>Hub / Switch</a:t>
            </a:r>
            <a:endParaRPr lang="en-US" sz="1300" dirty="0"/>
          </a:p>
        </p:txBody>
      </p:sp>
      <p:sp>
        <p:nvSpPr>
          <p:cNvPr id="14" name="Text 12"/>
          <p:cNvSpPr txBox="1"/>
          <p:nvPr/>
        </p:nvSpPr>
        <p:spPr>
          <a:xfrm>
            <a:off x="4754880" y="1143000"/>
            <a:ext cx="3931920" cy="1234440"/>
          </a:xfrm>
          <a:prstGeom prst="rect">
            <a:avLst/>
          </a:prstGeom>
          <a:noFill/>
          <a:ln/>
        </p:spPr>
        <p:txBody>
          <a:bodyPr wrap="square" lIns="0" tIns="0" rIns="0" bIns="0" rtlCol="0" anchor="t"/>
          <a:lstStyle/>
          <a:p>
            <a:pPr indent="0" marL="0">
              <a:buNone/>
            </a:pPr>
            <a:r>
              <a:rPr lang="en-US" sz="1400" dirty="0">
                <a:solidFill>
                  <a:srgbClr val="0B2E3F"/>
                </a:solidFill>
              </a:rPr>
              <a:t>All devices connect to a central hub or switch. Cable: UTP (Unshielded Twisted Pair) with RJ45 connectors. A hub repeats data to every port; a switch sends it only to the right port.</a:t>
            </a:r>
            <a:endParaRPr lang="en-US" sz="1400" dirty="0"/>
          </a:p>
        </p:txBody>
      </p:sp>
      <p:sp>
        <p:nvSpPr>
          <p:cNvPr id="15" name="Shape 13"/>
          <p:cNvSpPr/>
          <p:nvPr/>
        </p:nvSpPr>
        <p:spPr>
          <a:xfrm>
            <a:off x="4754880" y="2468880"/>
            <a:ext cx="3931920" cy="1005840"/>
          </a:xfrm>
          <a:prstGeom prst="roundRect">
            <a:avLst>
              <a:gd name="adj" fmla="val 9091"/>
            </a:avLst>
          </a:prstGeom>
          <a:solidFill>
            <a:srgbClr val="EEF5F7"/>
          </a:solidFill>
          <a:ln w="12700">
            <a:solidFill>
              <a:srgbClr val="EEF5F7"/>
            </a:solidFill>
            <a:prstDash val="solid"/>
          </a:ln>
        </p:spPr>
      </p:sp>
      <p:sp>
        <p:nvSpPr>
          <p:cNvPr id="16" name="Text 14"/>
          <p:cNvSpPr txBox="1"/>
          <p:nvPr/>
        </p:nvSpPr>
        <p:spPr>
          <a:xfrm>
            <a:off x="4937760" y="2560320"/>
            <a:ext cx="3611880" cy="822960"/>
          </a:xfrm>
          <a:prstGeom prst="rect">
            <a:avLst/>
          </a:prstGeom>
          <a:noFill/>
          <a:ln/>
        </p:spPr>
        <p:txBody>
          <a:bodyPr wrap="square" lIns="0" tIns="0" rIns="0" bIns="0" rtlCol="0" anchor="t"/>
          <a:lstStyle/>
          <a:p>
            <a:pPr indent="0" marL="0">
              <a:buNone/>
            </a:pPr>
            <a:r>
              <a:rPr lang="en-US" sz="1400" b="1" dirty="0">
                <a:solidFill>
                  <a:srgbClr val="5B8C5A"/>
                </a:solidFill>
              </a:rPr>
              <a:t>Pros</a:t>
            </a:r>
            <a:endParaRPr lang="en-US" sz="1400" dirty="0"/>
          </a:p>
          <a:p>
            <a:pPr marL="342900" indent="-342900">
              <a:buSzPct val="100000"/>
              <a:buChar char="•"/>
            </a:pPr>
            <a:r>
              <a:rPr lang="en-US" sz="1400" dirty="0">
                <a:solidFill>
                  <a:srgbClr val="0B2E3F"/>
                </a:solidFill>
              </a:rPr>
              <a:t>Easy to add or remove PCs</a:t>
            </a:r>
            <a:endParaRPr lang="en-US" sz="1400" dirty="0"/>
          </a:p>
          <a:p>
            <a:pPr marL="342900" indent="-342900">
              <a:buSzPct val="100000"/>
              <a:buChar char="•"/>
            </a:pPr>
            <a:r>
              <a:rPr lang="en-US" sz="1400" dirty="0">
                <a:solidFill>
                  <a:srgbClr val="0B2E3F"/>
                </a:solidFill>
              </a:rPr>
              <a:t>A cable fault hits only one PC</a:t>
            </a:r>
            <a:endParaRPr lang="en-US" sz="1400" dirty="0"/>
          </a:p>
        </p:txBody>
      </p:sp>
      <p:sp>
        <p:nvSpPr>
          <p:cNvPr id="17" name="Shape 15"/>
          <p:cNvSpPr/>
          <p:nvPr/>
        </p:nvSpPr>
        <p:spPr>
          <a:xfrm>
            <a:off x="4754880" y="3611880"/>
            <a:ext cx="3931920" cy="1005840"/>
          </a:xfrm>
          <a:prstGeom prst="roundRect">
            <a:avLst>
              <a:gd name="adj" fmla="val 9091"/>
            </a:avLst>
          </a:prstGeom>
          <a:solidFill>
            <a:srgbClr val="EEF5F7"/>
          </a:solidFill>
          <a:ln w="12700">
            <a:solidFill>
              <a:srgbClr val="EEF5F7"/>
            </a:solidFill>
            <a:prstDash val="solid"/>
          </a:ln>
        </p:spPr>
      </p:sp>
      <p:sp>
        <p:nvSpPr>
          <p:cNvPr id="18" name="Text 16"/>
          <p:cNvSpPr txBox="1"/>
          <p:nvPr/>
        </p:nvSpPr>
        <p:spPr>
          <a:xfrm>
            <a:off x="4937760" y="3703320"/>
            <a:ext cx="3611880" cy="822960"/>
          </a:xfrm>
          <a:prstGeom prst="rect">
            <a:avLst/>
          </a:prstGeom>
          <a:noFill/>
          <a:ln/>
        </p:spPr>
        <p:txBody>
          <a:bodyPr wrap="square" lIns="0" tIns="0" rIns="0" bIns="0" rtlCol="0" anchor="t"/>
          <a:lstStyle/>
          <a:p>
            <a:pPr indent="0" marL="0">
              <a:buNone/>
            </a:pPr>
            <a:r>
              <a:rPr lang="en-US" sz="1400" b="1" dirty="0">
                <a:solidFill>
                  <a:srgbClr val="D9534F"/>
                </a:solidFill>
              </a:rPr>
              <a:t>Cons</a:t>
            </a:r>
            <a:endParaRPr lang="en-US" sz="1400" dirty="0"/>
          </a:p>
          <a:p>
            <a:pPr marL="342900" indent="-342900">
              <a:buSzPct val="100000"/>
              <a:buChar char="•"/>
            </a:pPr>
            <a:r>
              <a:rPr lang="en-US" sz="1400" dirty="0">
                <a:solidFill>
                  <a:srgbClr val="0B2E3F"/>
                </a:solidFill>
              </a:rPr>
              <a:t>Hub/switch failure stops all</a:t>
            </a:r>
            <a:endParaRPr lang="en-US" sz="1400" dirty="0"/>
          </a:p>
          <a:p>
            <a:pPr marL="342900" indent="-342900">
              <a:buSzPct val="100000"/>
              <a:buChar char="•"/>
            </a:pPr>
            <a:r>
              <a:rPr lang="en-US" sz="1400" dirty="0">
                <a:solidFill>
                  <a:srgbClr val="0B2E3F"/>
                </a:solidFill>
              </a:rPr>
              <a:t>Needs more cable</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rgbClr val="0B2E3F"/>
                </a:solidFill>
                <a:latin typeface="Cambria" pitchFamily="34" charset="0"/>
                <a:ea typeface="Cambria" pitchFamily="34" charset="-122"/>
                <a:cs typeface="Cambria" pitchFamily="34" charset="-120"/>
              </a:rPr>
              <a:t>Tree topology</a:t>
            </a:r>
            <a:endParaRPr lang="en-US" sz="3400" dirty="0"/>
          </a:p>
        </p:txBody>
      </p:sp>
      <p:sp>
        <p:nvSpPr>
          <p:cNvPr id="3" name="Text 1"/>
          <p:cNvSpPr/>
          <p:nvPr/>
        </p:nvSpPr>
        <p:spPr>
          <a:xfrm>
            <a:off x="1600200" y="1165860"/>
            <a:ext cx="1737360" cy="411480"/>
          </a:xfrm>
          <a:prstGeom prst="roundRect">
            <a:avLst>
              <a:gd name="adj" fmla="val 17778"/>
            </a:avLst>
          </a:prstGeom>
          <a:solidFill>
            <a:srgbClr val="F28C28"/>
          </a:solidFill>
          <a:ln/>
        </p:spPr>
        <p:txBody>
          <a:bodyPr wrap="square" lIns="0" tIns="0" rIns="0" bIns="0" rtlCol="0" anchor="ctr"/>
          <a:lstStyle/>
          <a:p>
            <a:pPr algn="ctr" indent="0" marL="0">
              <a:buNone/>
            </a:pPr>
            <a:r>
              <a:rPr lang="en-US" sz="1200" b="1" dirty="0">
                <a:solidFill>
                  <a:srgbClr val="FFFFFF"/>
                </a:solidFill>
              </a:rPr>
              <a:t>Backbone / Server</a:t>
            </a:r>
            <a:endParaRPr lang="en-US" sz="1200" dirty="0"/>
          </a:p>
        </p:txBody>
      </p:sp>
      <p:sp>
        <p:nvSpPr>
          <p:cNvPr id="4" name="Shape 2"/>
          <p:cNvSpPr/>
          <p:nvPr/>
        </p:nvSpPr>
        <p:spPr>
          <a:xfrm>
            <a:off x="1097280" y="1965960"/>
            <a:ext cx="2743200" cy="91"/>
          </a:xfrm>
          <a:prstGeom prst="line">
            <a:avLst/>
          </a:prstGeom>
          <a:noFill/>
          <a:ln w="25400">
            <a:solidFill>
              <a:srgbClr val="4A5B66"/>
            </a:solidFill>
            <a:prstDash val="solid"/>
          </a:ln>
        </p:spPr>
      </p:sp>
      <p:sp>
        <p:nvSpPr>
          <p:cNvPr id="5" name="Shape 3"/>
          <p:cNvSpPr/>
          <p:nvPr/>
        </p:nvSpPr>
        <p:spPr>
          <a:xfrm>
            <a:off x="2468880" y="1572768"/>
            <a:ext cx="0" cy="393192"/>
          </a:xfrm>
          <a:prstGeom prst="line">
            <a:avLst/>
          </a:prstGeom>
          <a:noFill/>
          <a:ln w="25400">
            <a:solidFill>
              <a:srgbClr val="4A5B66"/>
            </a:solidFill>
            <a:prstDash val="solid"/>
          </a:ln>
        </p:spPr>
      </p:sp>
      <p:sp>
        <p:nvSpPr>
          <p:cNvPr id="6" name="Shape 4"/>
          <p:cNvSpPr/>
          <p:nvPr/>
        </p:nvSpPr>
        <p:spPr>
          <a:xfrm>
            <a:off x="1097280" y="1965960"/>
            <a:ext cx="0" cy="320040"/>
          </a:xfrm>
          <a:prstGeom prst="line">
            <a:avLst/>
          </a:prstGeom>
          <a:noFill/>
          <a:ln w="25400">
            <a:solidFill>
              <a:srgbClr val="4A5B66"/>
            </a:solidFill>
            <a:prstDash val="solid"/>
          </a:ln>
        </p:spPr>
      </p:sp>
      <p:sp>
        <p:nvSpPr>
          <p:cNvPr id="7" name="Text 5"/>
          <p:cNvSpPr/>
          <p:nvPr/>
        </p:nvSpPr>
        <p:spPr>
          <a:xfrm>
            <a:off x="731520" y="2308860"/>
            <a:ext cx="731520" cy="411480"/>
          </a:xfrm>
          <a:prstGeom prst="roundRect">
            <a:avLst>
              <a:gd name="adj" fmla="val 17778"/>
            </a:avLst>
          </a:prstGeom>
          <a:solidFill>
            <a:srgbClr val="1C7C8C"/>
          </a:solidFill>
          <a:ln/>
        </p:spPr>
        <p:txBody>
          <a:bodyPr wrap="square" lIns="0" tIns="0" rIns="0" bIns="0" rtlCol="0" anchor="ctr"/>
          <a:lstStyle/>
          <a:p>
            <a:pPr algn="ctr" indent="0" marL="0">
              <a:buNone/>
            </a:pPr>
            <a:r>
              <a:rPr lang="en-US" sz="1300" b="1" dirty="0">
                <a:solidFill>
                  <a:srgbClr val="FFFFFF"/>
                </a:solidFill>
              </a:rPr>
              <a:t>S1</a:t>
            </a:r>
            <a:endParaRPr lang="en-US" sz="1300" dirty="0"/>
          </a:p>
        </p:txBody>
      </p:sp>
      <p:sp>
        <p:nvSpPr>
          <p:cNvPr id="8" name="Shape 6"/>
          <p:cNvSpPr/>
          <p:nvPr/>
        </p:nvSpPr>
        <p:spPr>
          <a:xfrm flipV="1">
            <a:off x="777240" y="2743200"/>
            <a:ext cx="320040" cy="640080"/>
          </a:xfrm>
          <a:prstGeom prst="line">
            <a:avLst/>
          </a:prstGeom>
          <a:noFill/>
          <a:ln w="19050">
            <a:solidFill>
              <a:srgbClr val="4A5B66"/>
            </a:solidFill>
            <a:prstDash val="solid"/>
          </a:ln>
        </p:spPr>
      </p:sp>
      <p:sp>
        <p:nvSpPr>
          <p:cNvPr id="9" name="Text 7"/>
          <p:cNvSpPr/>
          <p:nvPr/>
        </p:nvSpPr>
        <p:spPr>
          <a:xfrm>
            <a:off x="548640" y="3419856"/>
            <a:ext cx="45720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300" b="1" dirty="0">
                <a:solidFill>
                  <a:srgbClr val="FFFFFF"/>
                </a:solidFill>
              </a:rPr>
              <a:t>A</a:t>
            </a:r>
            <a:endParaRPr lang="en-US" sz="1300" dirty="0"/>
          </a:p>
        </p:txBody>
      </p:sp>
      <p:sp>
        <p:nvSpPr>
          <p:cNvPr id="10" name="Shape 8"/>
          <p:cNvSpPr/>
          <p:nvPr/>
        </p:nvSpPr>
        <p:spPr>
          <a:xfrm>
            <a:off x="1097280" y="2743200"/>
            <a:ext cx="320040" cy="640080"/>
          </a:xfrm>
          <a:prstGeom prst="line">
            <a:avLst/>
          </a:prstGeom>
          <a:noFill/>
          <a:ln w="19050">
            <a:solidFill>
              <a:srgbClr val="4A5B66"/>
            </a:solidFill>
            <a:prstDash val="solid"/>
          </a:ln>
        </p:spPr>
      </p:sp>
      <p:sp>
        <p:nvSpPr>
          <p:cNvPr id="11" name="Text 9"/>
          <p:cNvSpPr/>
          <p:nvPr/>
        </p:nvSpPr>
        <p:spPr>
          <a:xfrm>
            <a:off x="1188720" y="3419856"/>
            <a:ext cx="45720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300" b="1" dirty="0">
                <a:solidFill>
                  <a:srgbClr val="FFFFFF"/>
                </a:solidFill>
              </a:rPr>
              <a:t>B</a:t>
            </a:r>
            <a:endParaRPr lang="en-US" sz="1300" dirty="0"/>
          </a:p>
        </p:txBody>
      </p:sp>
      <p:sp>
        <p:nvSpPr>
          <p:cNvPr id="12" name="Shape 10"/>
          <p:cNvSpPr/>
          <p:nvPr/>
        </p:nvSpPr>
        <p:spPr>
          <a:xfrm>
            <a:off x="2468880" y="1965960"/>
            <a:ext cx="0" cy="320040"/>
          </a:xfrm>
          <a:prstGeom prst="line">
            <a:avLst/>
          </a:prstGeom>
          <a:noFill/>
          <a:ln w="25400">
            <a:solidFill>
              <a:srgbClr val="4A5B66"/>
            </a:solidFill>
            <a:prstDash val="solid"/>
          </a:ln>
        </p:spPr>
      </p:sp>
      <p:sp>
        <p:nvSpPr>
          <p:cNvPr id="13" name="Text 11"/>
          <p:cNvSpPr/>
          <p:nvPr/>
        </p:nvSpPr>
        <p:spPr>
          <a:xfrm>
            <a:off x="2103120" y="2308860"/>
            <a:ext cx="731520" cy="411480"/>
          </a:xfrm>
          <a:prstGeom prst="roundRect">
            <a:avLst>
              <a:gd name="adj" fmla="val 17778"/>
            </a:avLst>
          </a:prstGeom>
          <a:solidFill>
            <a:srgbClr val="1C7C8C"/>
          </a:solidFill>
          <a:ln/>
        </p:spPr>
        <p:txBody>
          <a:bodyPr wrap="square" lIns="0" tIns="0" rIns="0" bIns="0" rtlCol="0" anchor="ctr"/>
          <a:lstStyle/>
          <a:p>
            <a:pPr algn="ctr" indent="0" marL="0">
              <a:buNone/>
            </a:pPr>
            <a:r>
              <a:rPr lang="en-US" sz="1300" b="1" dirty="0">
                <a:solidFill>
                  <a:srgbClr val="FFFFFF"/>
                </a:solidFill>
              </a:rPr>
              <a:t>S2</a:t>
            </a:r>
            <a:endParaRPr lang="en-US" sz="1300" dirty="0"/>
          </a:p>
        </p:txBody>
      </p:sp>
      <p:sp>
        <p:nvSpPr>
          <p:cNvPr id="14" name="Shape 12"/>
          <p:cNvSpPr/>
          <p:nvPr/>
        </p:nvSpPr>
        <p:spPr>
          <a:xfrm flipV="1">
            <a:off x="2148840" y="2743200"/>
            <a:ext cx="320040" cy="640080"/>
          </a:xfrm>
          <a:prstGeom prst="line">
            <a:avLst/>
          </a:prstGeom>
          <a:noFill/>
          <a:ln w="19050">
            <a:solidFill>
              <a:srgbClr val="4A5B66"/>
            </a:solidFill>
            <a:prstDash val="solid"/>
          </a:ln>
        </p:spPr>
      </p:sp>
      <p:sp>
        <p:nvSpPr>
          <p:cNvPr id="15" name="Text 13"/>
          <p:cNvSpPr/>
          <p:nvPr/>
        </p:nvSpPr>
        <p:spPr>
          <a:xfrm>
            <a:off x="1920240" y="3419856"/>
            <a:ext cx="45720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300" b="1" dirty="0">
                <a:solidFill>
                  <a:srgbClr val="FFFFFF"/>
                </a:solidFill>
              </a:rPr>
              <a:t>C</a:t>
            </a:r>
            <a:endParaRPr lang="en-US" sz="1300" dirty="0"/>
          </a:p>
        </p:txBody>
      </p:sp>
      <p:sp>
        <p:nvSpPr>
          <p:cNvPr id="16" name="Shape 14"/>
          <p:cNvSpPr/>
          <p:nvPr/>
        </p:nvSpPr>
        <p:spPr>
          <a:xfrm>
            <a:off x="2468880" y="2743200"/>
            <a:ext cx="320040" cy="640080"/>
          </a:xfrm>
          <a:prstGeom prst="line">
            <a:avLst/>
          </a:prstGeom>
          <a:noFill/>
          <a:ln w="19050">
            <a:solidFill>
              <a:srgbClr val="4A5B66"/>
            </a:solidFill>
            <a:prstDash val="solid"/>
          </a:ln>
        </p:spPr>
      </p:sp>
      <p:sp>
        <p:nvSpPr>
          <p:cNvPr id="17" name="Text 15"/>
          <p:cNvSpPr/>
          <p:nvPr/>
        </p:nvSpPr>
        <p:spPr>
          <a:xfrm>
            <a:off x="2560320" y="3419856"/>
            <a:ext cx="45720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300" b="1" dirty="0">
                <a:solidFill>
                  <a:srgbClr val="FFFFFF"/>
                </a:solidFill>
              </a:rPr>
              <a:t>D</a:t>
            </a:r>
            <a:endParaRPr lang="en-US" sz="1300" dirty="0"/>
          </a:p>
        </p:txBody>
      </p:sp>
      <p:sp>
        <p:nvSpPr>
          <p:cNvPr id="18" name="Shape 16"/>
          <p:cNvSpPr/>
          <p:nvPr/>
        </p:nvSpPr>
        <p:spPr>
          <a:xfrm>
            <a:off x="3840480" y="1965960"/>
            <a:ext cx="0" cy="320040"/>
          </a:xfrm>
          <a:prstGeom prst="line">
            <a:avLst/>
          </a:prstGeom>
          <a:noFill/>
          <a:ln w="25400">
            <a:solidFill>
              <a:srgbClr val="4A5B66"/>
            </a:solidFill>
            <a:prstDash val="solid"/>
          </a:ln>
        </p:spPr>
      </p:sp>
      <p:sp>
        <p:nvSpPr>
          <p:cNvPr id="19" name="Text 17"/>
          <p:cNvSpPr/>
          <p:nvPr/>
        </p:nvSpPr>
        <p:spPr>
          <a:xfrm>
            <a:off x="3474720" y="2308860"/>
            <a:ext cx="731520" cy="411480"/>
          </a:xfrm>
          <a:prstGeom prst="roundRect">
            <a:avLst>
              <a:gd name="adj" fmla="val 17778"/>
            </a:avLst>
          </a:prstGeom>
          <a:solidFill>
            <a:srgbClr val="1C7C8C"/>
          </a:solidFill>
          <a:ln/>
        </p:spPr>
        <p:txBody>
          <a:bodyPr wrap="square" lIns="0" tIns="0" rIns="0" bIns="0" rtlCol="0" anchor="ctr"/>
          <a:lstStyle/>
          <a:p>
            <a:pPr algn="ctr" indent="0" marL="0">
              <a:buNone/>
            </a:pPr>
            <a:r>
              <a:rPr lang="en-US" sz="1300" b="1" dirty="0">
                <a:solidFill>
                  <a:srgbClr val="FFFFFF"/>
                </a:solidFill>
              </a:rPr>
              <a:t>S3</a:t>
            </a:r>
            <a:endParaRPr lang="en-US" sz="1300" dirty="0"/>
          </a:p>
        </p:txBody>
      </p:sp>
      <p:sp>
        <p:nvSpPr>
          <p:cNvPr id="20" name="Shape 18"/>
          <p:cNvSpPr/>
          <p:nvPr/>
        </p:nvSpPr>
        <p:spPr>
          <a:xfrm flipV="1">
            <a:off x="3520440" y="2743200"/>
            <a:ext cx="320040" cy="640080"/>
          </a:xfrm>
          <a:prstGeom prst="line">
            <a:avLst/>
          </a:prstGeom>
          <a:noFill/>
          <a:ln w="19050">
            <a:solidFill>
              <a:srgbClr val="4A5B66"/>
            </a:solidFill>
            <a:prstDash val="solid"/>
          </a:ln>
        </p:spPr>
      </p:sp>
      <p:sp>
        <p:nvSpPr>
          <p:cNvPr id="21" name="Text 19"/>
          <p:cNvSpPr/>
          <p:nvPr/>
        </p:nvSpPr>
        <p:spPr>
          <a:xfrm>
            <a:off x="3291840" y="3419856"/>
            <a:ext cx="45720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300" b="1" dirty="0">
                <a:solidFill>
                  <a:srgbClr val="FFFFFF"/>
                </a:solidFill>
              </a:rPr>
              <a:t>E</a:t>
            </a:r>
            <a:endParaRPr lang="en-US" sz="1300" dirty="0"/>
          </a:p>
        </p:txBody>
      </p:sp>
      <p:sp>
        <p:nvSpPr>
          <p:cNvPr id="22" name="Shape 20"/>
          <p:cNvSpPr/>
          <p:nvPr/>
        </p:nvSpPr>
        <p:spPr>
          <a:xfrm>
            <a:off x="3840480" y="2743200"/>
            <a:ext cx="320040" cy="640080"/>
          </a:xfrm>
          <a:prstGeom prst="line">
            <a:avLst/>
          </a:prstGeom>
          <a:noFill/>
          <a:ln w="19050">
            <a:solidFill>
              <a:srgbClr val="4A5B66"/>
            </a:solidFill>
            <a:prstDash val="solid"/>
          </a:ln>
        </p:spPr>
      </p:sp>
      <p:sp>
        <p:nvSpPr>
          <p:cNvPr id="23" name="Text 21"/>
          <p:cNvSpPr/>
          <p:nvPr/>
        </p:nvSpPr>
        <p:spPr>
          <a:xfrm>
            <a:off x="3931920" y="3419856"/>
            <a:ext cx="457200" cy="384048"/>
          </a:xfrm>
          <a:prstGeom prst="roundRect">
            <a:avLst>
              <a:gd name="adj" fmla="val 19048"/>
            </a:avLst>
          </a:prstGeom>
          <a:solidFill>
            <a:srgbClr val="0B2E3F"/>
          </a:solidFill>
          <a:ln/>
        </p:spPr>
        <p:txBody>
          <a:bodyPr wrap="square" lIns="0" tIns="0" rIns="0" bIns="0" rtlCol="0" anchor="ctr"/>
          <a:lstStyle/>
          <a:p>
            <a:pPr algn="ctr" indent="0" marL="0">
              <a:buNone/>
            </a:pPr>
            <a:r>
              <a:rPr lang="en-US" sz="1300" b="1" dirty="0">
                <a:solidFill>
                  <a:srgbClr val="FFFFFF"/>
                </a:solidFill>
              </a:rPr>
              <a:t>F</a:t>
            </a:r>
            <a:endParaRPr lang="en-US" sz="1300" dirty="0"/>
          </a:p>
        </p:txBody>
      </p:sp>
      <p:sp>
        <p:nvSpPr>
          <p:cNvPr id="24" name="Text 22"/>
          <p:cNvSpPr txBox="1"/>
          <p:nvPr/>
        </p:nvSpPr>
        <p:spPr>
          <a:xfrm>
            <a:off x="2011680" y="4023360"/>
            <a:ext cx="914400" cy="274320"/>
          </a:xfrm>
          <a:prstGeom prst="rect">
            <a:avLst/>
          </a:prstGeom>
          <a:noFill/>
          <a:ln/>
        </p:spPr>
        <p:txBody>
          <a:bodyPr wrap="square" lIns="0" tIns="0" rIns="0" bIns="0" rtlCol="0" anchor="t"/>
          <a:lstStyle/>
          <a:p>
            <a:pPr algn="ctr" indent="0" marL="0">
              <a:buNone/>
            </a:pPr>
            <a:r>
              <a:rPr lang="en-US" sz="1200" dirty="0">
                <a:solidFill>
                  <a:srgbClr val="4A5B66"/>
                </a:solidFill>
              </a:rPr>
              <a:t>Nodes</a:t>
            </a:r>
            <a:endParaRPr lang="en-US" sz="1200" dirty="0"/>
          </a:p>
        </p:txBody>
      </p:sp>
      <p:sp>
        <p:nvSpPr>
          <p:cNvPr id="25" name="Text 23"/>
          <p:cNvSpPr txBox="1"/>
          <p:nvPr/>
        </p:nvSpPr>
        <p:spPr>
          <a:xfrm>
            <a:off x="4754880" y="1143000"/>
            <a:ext cx="3931920" cy="1234440"/>
          </a:xfrm>
          <a:prstGeom prst="rect">
            <a:avLst/>
          </a:prstGeom>
          <a:noFill/>
          <a:ln/>
        </p:spPr>
        <p:txBody>
          <a:bodyPr wrap="square" lIns="0" tIns="0" rIns="0" bIns="0" rtlCol="0" anchor="t"/>
          <a:lstStyle/>
          <a:p>
            <a:pPr indent="0" marL="0">
              <a:buNone/>
            </a:pPr>
            <a:r>
              <a:rPr lang="en-US" sz="1400" dirty="0">
                <a:solidFill>
                  <a:srgbClr val="0B2E3F"/>
                </a:solidFill>
              </a:rPr>
              <a:t>A hierarchy of star networks joined by a backbone cable. Switches (S1, S2, S3) each serve a group of nodes, and a server sits on the backbone. Think of it as levels, like a tree.</a:t>
            </a:r>
            <a:endParaRPr lang="en-US" sz="1400" dirty="0"/>
          </a:p>
        </p:txBody>
      </p:sp>
      <p:sp>
        <p:nvSpPr>
          <p:cNvPr id="26" name="Shape 24"/>
          <p:cNvSpPr/>
          <p:nvPr/>
        </p:nvSpPr>
        <p:spPr>
          <a:xfrm>
            <a:off x="4754880" y="2468880"/>
            <a:ext cx="3931920" cy="1005840"/>
          </a:xfrm>
          <a:prstGeom prst="roundRect">
            <a:avLst>
              <a:gd name="adj" fmla="val 9091"/>
            </a:avLst>
          </a:prstGeom>
          <a:solidFill>
            <a:srgbClr val="EEF5F7"/>
          </a:solidFill>
          <a:ln w="12700">
            <a:solidFill>
              <a:srgbClr val="EEF5F7"/>
            </a:solidFill>
            <a:prstDash val="solid"/>
          </a:ln>
        </p:spPr>
      </p:sp>
      <p:sp>
        <p:nvSpPr>
          <p:cNvPr id="27" name="Text 25"/>
          <p:cNvSpPr txBox="1"/>
          <p:nvPr/>
        </p:nvSpPr>
        <p:spPr>
          <a:xfrm>
            <a:off x="4937760" y="2560320"/>
            <a:ext cx="3611880" cy="822960"/>
          </a:xfrm>
          <a:prstGeom prst="rect">
            <a:avLst/>
          </a:prstGeom>
          <a:noFill/>
          <a:ln/>
        </p:spPr>
        <p:txBody>
          <a:bodyPr wrap="square" lIns="0" tIns="0" rIns="0" bIns="0" rtlCol="0" anchor="t"/>
          <a:lstStyle/>
          <a:p>
            <a:pPr indent="0" marL="0">
              <a:buNone/>
            </a:pPr>
            <a:r>
              <a:rPr lang="en-US" sz="1400" b="1" dirty="0">
                <a:solidFill>
                  <a:srgbClr val="5B8C5A"/>
                </a:solidFill>
              </a:rPr>
              <a:t>Pros</a:t>
            </a:r>
            <a:endParaRPr lang="en-US" sz="1400" dirty="0"/>
          </a:p>
          <a:p>
            <a:pPr marL="342900" indent="-342900">
              <a:buSzPct val="100000"/>
              <a:buChar char="•"/>
            </a:pPr>
            <a:r>
              <a:rPr lang="en-US" sz="1400" dirty="0">
                <a:solidFill>
                  <a:srgbClr val="0B2E3F"/>
                </a:solidFill>
              </a:rPr>
              <a:t>Scales to many nodes</a:t>
            </a:r>
            <a:endParaRPr lang="en-US" sz="1400" dirty="0"/>
          </a:p>
          <a:p>
            <a:pPr marL="342900" indent="-342900">
              <a:buSzPct val="100000"/>
              <a:buChar char="•"/>
            </a:pPr>
            <a:r>
              <a:rPr lang="en-US" sz="1400" dirty="0">
                <a:solidFill>
                  <a:srgbClr val="0B2E3F"/>
                </a:solidFill>
              </a:rPr>
              <a:t>Faults stay inside one branch</a:t>
            </a:r>
            <a:endParaRPr lang="en-US" sz="1400" dirty="0"/>
          </a:p>
        </p:txBody>
      </p:sp>
      <p:sp>
        <p:nvSpPr>
          <p:cNvPr id="28" name="Shape 26"/>
          <p:cNvSpPr/>
          <p:nvPr/>
        </p:nvSpPr>
        <p:spPr>
          <a:xfrm>
            <a:off x="4754880" y="3611880"/>
            <a:ext cx="3931920" cy="1005840"/>
          </a:xfrm>
          <a:prstGeom prst="roundRect">
            <a:avLst>
              <a:gd name="adj" fmla="val 9091"/>
            </a:avLst>
          </a:prstGeom>
          <a:solidFill>
            <a:srgbClr val="EEF5F7"/>
          </a:solidFill>
          <a:ln w="12700">
            <a:solidFill>
              <a:srgbClr val="EEF5F7"/>
            </a:solidFill>
            <a:prstDash val="solid"/>
          </a:ln>
        </p:spPr>
      </p:sp>
      <p:sp>
        <p:nvSpPr>
          <p:cNvPr id="29" name="Text 27"/>
          <p:cNvSpPr txBox="1"/>
          <p:nvPr/>
        </p:nvSpPr>
        <p:spPr>
          <a:xfrm>
            <a:off x="4937760" y="3703320"/>
            <a:ext cx="3611880" cy="822960"/>
          </a:xfrm>
          <a:prstGeom prst="rect">
            <a:avLst/>
          </a:prstGeom>
          <a:noFill/>
          <a:ln/>
        </p:spPr>
        <p:txBody>
          <a:bodyPr wrap="square" lIns="0" tIns="0" rIns="0" bIns="0" rtlCol="0" anchor="t"/>
          <a:lstStyle/>
          <a:p>
            <a:pPr indent="0" marL="0">
              <a:buNone/>
            </a:pPr>
            <a:r>
              <a:rPr lang="en-US" sz="1400" b="1" dirty="0">
                <a:solidFill>
                  <a:srgbClr val="D9534F"/>
                </a:solidFill>
              </a:rPr>
              <a:t>Cons</a:t>
            </a:r>
            <a:endParaRPr lang="en-US" sz="1400" dirty="0"/>
          </a:p>
          <a:p>
            <a:pPr marL="342900" indent="-342900">
              <a:buSzPct val="100000"/>
              <a:buChar char="•"/>
            </a:pPr>
            <a:r>
              <a:rPr lang="en-US" sz="1400" dirty="0">
                <a:solidFill>
                  <a:srgbClr val="0B2E3F"/>
                </a:solidFill>
              </a:rPr>
              <a:t>Backbone failure splits network</a:t>
            </a:r>
            <a:endParaRPr lang="en-US" sz="1400" dirty="0"/>
          </a:p>
          <a:p>
            <a:pPr marL="342900" indent="-342900">
              <a:buSzPct val="100000"/>
              <a:buChar char="•"/>
            </a:pPr>
            <a:r>
              <a:rPr lang="en-US" sz="1400" dirty="0">
                <a:solidFill>
                  <a:srgbClr val="0B2E3F"/>
                </a:solidFill>
              </a:rPr>
              <a:t>Needs a lot of cabling</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rgbClr val="0B2E3F"/>
                </a:solidFill>
                <a:latin typeface="Cambria" pitchFamily="34" charset="0"/>
                <a:ea typeface="Cambria" pitchFamily="34" charset="-122"/>
                <a:cs typeface="Cambria" pitchFamily="34" charset="-120"/>
              </a:rPr>
              <a:t>Hybrid topology</a:t>
            </a:r>
            <a:endParaRPr lang="en-US" sz="3400" dirty="0"/>
          </a:p>
        </p:txBody>
      </p:sp>
      <p:sp>
        <p:nvSpPr>
          <p:cNvPr id="3" name="Shape 1"/>
          <p:cNvSpPr/>
          <p:nvPr/>
        </p:nvSpPr>
        <p:spPr>
          <a:xfrm>
            <a:off x="1325880" y="2011680"/>
            <a:ext cx="2194560" cy="91"/>
          </a:xfrm>
          <a:prstGeom prst="line">
            <a:avLst/>
          </a:prstGeom>
          <a:noFill/>
          <a:ln w="25400">
            <a:solidFill>
              <a:srgbClr val="4A5B66"/>
            </a:solidFill>
            <a:prstDash val="solid"/>
          </a:ln>
        </p:spPr>
      </p:sp>
      <p:sp>
        <p:nvSpPr>
          <p:cNvPr id="4" name="Shape 2"/>
          <p:cNvSpPr/>
          <p:nvPr/>
        </p:nvSpPr>
        <p:spPr>
          <a:xfrm>
            <a:off x="1325880" y="2011680"/>
            <a:ext cx="1143000" cy="1600200"/>
          </a:xfrm>
          <a:prstGeom prst="line">
            <a:avLst/>
          </a:prstGeom>
          <a:noFill/>
          <a:ln w="25400">
            <a:solidFill>
              <a:srgbClr val="4A5B66"/>
            </a:solidFill>
            <a:prstDash val="solid"/>
          </a:ln>
        </p:spPr>
      </p:sp>
      <p:sp>
        <p:nvSpPr>
          <p:cNvPr id="5" name="Shape 3"/>
          <p:cNvSpPr/>
          <p:nvPr/>
        </p:nvSpPr>
        <p:spPr>
          <a:xfrm flipV="1">
            <a:off x="2468880" y="2011680"/>
            <a:ext cx="1051560" cy="1600200"/>
          </a:xfrm>
          <a:prstGeom prst="line">
            <a:avLst/>
          </a:prstGeom>
          <a:noFill/>
          <a:ln w="25400">
            <a:solidFill>
              <a:srgbClr val="4A5B66"/>
            </a:solidFill>
            <a:prstDash val="solid"/>
          </a:ln>
        </p:spPr>
      </p:sp>
      <p:sp>
        <p:nvSpPr>
          <p:cNvPr id="6" name="Text 4"/>
          <p:cNvSpPr/>
          <p:nvPr/>
        </p:nvSpPr>
        <p:spPr>
          <a:xfrm>
            <a:off x="548640" y="1371600"/>
            <a:ext cx="1554480" cy="1280160"/>
          </a:xfrm>
          <a:prstGeom prst="roundRect">
            <a:avLst>
              <a:gd name="adj" fmla="val 7143"/>
            </a:avLst>
          </a:prstGeom>
          <a:solidFill>
            <a:srgbClr val="1C7C8C"/>
          </a:solidFill>
          <a:ln/>
        </p:spPr>
        <p:txBody>
          <a:bodyPr wrap="square" lIns="0" tIns="0" rIns="0" bIns="0" rtlCol="0" anchor="ctr"/>
          <a:lstStyle/>
          <a:p>
            <a:pPr algn="ctr" indent="0" marL="0">
              <a:buNone/>
            </a:pPr>
            <a:r>
              <a:rPr lang="en-US" sz="1400" b="1" dirty="0">
                <a:solidFill>
                  <a:srgbClr val="FFFFFF"/>
                </a:solidFill>
              </a:rPr>
              <a:t>Ring network</a:t>
            </a:r>
            <a:endParaRPr lang="en-US" sz="1400" dirty="0"/>
          </a:p>
        </p:txBody>
      </p:sp>
      <p:sp>
        <p:nvSpPr>
          <p:cNvPr id="7" name="Text 5"/>
          <p:cNvSpPr/>
          <p:nvPr/>
        </p:nvSpPr>
        <p:spPr>
          <a:xfrm>
            <a:off x="2743200" y="1371600"/>
            <a:ext cx="1554480" cy="1280160"/>
          </a:xfrm>
          <a:prstGeom prst="roundRect">
            <a:avLst>
              <a:gd name="adj" fmla="val 7143"/>
            </a:avLst>
          </a:prstGeom>
          <a:solidFill>
            <a:srgbClr val="F28C28"/>
          </a:solidFill>
          <a:ln/>
        </p:spPr>
        <p:txBody>
          <a:bodyPr wrap="square" lIns="0" tIns="0" rIns="0" bIns="0" rtlCol="0" anchor="ctr"/>
          <a:lstStyle/>
          <a:p>
            <a:pPr algn="ctr" indent="0" marL="0">
              <a:buNone/>
            </a:pPr>
            <a:r>
              <a:rPr lang="en-US" sz="1400" b="1" dirty="0">
                <a:solidFill>
                  <a:srgbClr val="FFFFFF"/>
                </a:solidFill>
              </a:rPr>
              <a:t>Star network</a:t>
            </a:r>
            <a:endParaRPr lang="en-US" sz="1400" dirty="0"/>
          </a:p>
        </p:txBody>
      </p:sp>
      <p:sp>
        <p:nvSpPr>
          <p:cNvPr id="8" name="Text 6"/>
          <p:cNvSpPr/>
          <p:nvPr/>
        </p:nvSpPr>
        <p:spPr>
          <a:xfrm>
            <a:off x="1645920" y="3200400"/>
            <a:ext cx="1554480" cy="1280160"/>
          </a:xfrm>
          <a:prstGeom prst="roundRect">
            <a:avLst>
              <a:gd name="adj" fmla="val 7143"/>
            </a:avLst>
          </a:prstGeom>
          <a:solidFill>
            <a:srgbClr val="0B2E3F"/>
          </a:solidFill>
          <a:ln/>
        </p:spPr>
        <p:txBody>
          <a:bodyPr wrap="square" lIns="0" tIns="0" rIns="0" bIns="0" rtlCol="0" anchor="ctr"/>
          <a:lstStyle/>
          <a:p>
            <a:pPr algn="ctr" indent="0" marL="0">
              <a:buNone/>
            </a:pPr>
            <a:r>
              <a:rPr lang="en-US" sz="1400" b="1" dirty="0">
                <a:solidFill>
                  <a:srgbClr val="FFFFFF"/>
                </a:solidFill>
              </a:rPr>
              <a:t>Bus network</a:t>
            </a:r>
            <a:endParaRPr lang="en-US" sz="1400" dirty="0"/>
          </a:p>
        </p:txBody>
      </p:sp>
      <p:sp>
        <p:nvSpPr>
          <p:cNvPr id="9" name="Text 7"/>
          <p:cNvSpPr txBox="1"/>
          <p:nvPr/>
        </p:nvSpPr>
        <p:spPr>
          <a:xfrm>
            <a:off x="1645920" y="4572000"/>
            <a:ext cx="1645920" cy="274320"/>
          </a:xfrm>
          <a:prstGeom prst="rect">
            <a:avLst/>
          </a:prstGeom>
          <a:noFill/>
          <a:ln/>
        </p:spPr>
        <p:txBody>
          <a:bodyPr wrap="square" lIns="0" tIns="0" rIns="0" bIns="0" rtlCol="0" anchor="t"/>
          <a:lstStyle/>
          <a:p>
            <a:pPr algn="ctr" indent="0" marL="0">
              <a:buNone/>
            </a:pPr>
            <a:r>
              <a:rPr lang="en-US" sz="1200" dirty="0">
                <a:solidFill>
                  <a:srgbClr val="4A5B66"/>
                </a:solidFill>
              </a:rPr>
              <a:t>Hybrid network</a:t>
            </a:r>
            <a:endParaRPr lang="en-US" sz="1200" dirty="0"/>
          </a:p>
        </p:txBody>
      </p:sp>
      <p:sp>
        <p:nvSpPr>
          <p:cNvPr id="10" name="Text 8"/>
          <p:cNvSpPr txBox="1"/>
          <p:nvPr/>
        </p:nvSpPr>
        <p:spPr>
          <a:xfrm>
            <a:off x="4754880" y="1143000"/>
            <a:ext cx="3931920" cy="1234440"/>
          </a:xfrm>
          <a:prstGeom prst="rect">
            <a:avLst/>
          </a:prstGeom>
          <a:noFill/>
          <a:ln/>
        </p:spPr>
        <p:txBody>
          <a:bodyPr wrap="square" lIns="0" tIns="0" rIns="0" bIns="0" rtlCol="0" anchor="t"/>
          <a:lstStyle/>
          <a:p>
            <a:pPr indent="0" marL="0">
              <a:buNone/>
            </a:pPr>
            <a:r>
              <a:rPr lang="en-US" sz="1400" dirty="0">
                <a:solidFill>
                  <a:srgbClr val="0B2E3F"/>
                </a:solidFill>
              </a:rPr>
              <a:t>A mix of two or more topologies joined together, here a ring, a star and a bus. Used in large networks such as ATM and bank networks.</a:t>
            </a:r>
            <a:endParaRPr lang="en-US" sz="1400" dirty="0"/>
          </a:p>
        </p:txBody>
      </p:sp>
      <p:sp>
        <p:nvSpPr>
          <p:cNvPr id="11" name="Shape 9"/>
          <p:cNvSpPr/>
          <p:nvPr/>
        </p:nvSpPr>
        <p:spPr>
          <a:xfrm>
            <a:off x="4754880" y="2468880"/>
            <a:ext cx="3931920" cy="1005840"/>
          </a:xfrm>
          <a:prstGeom prst="roundRect">
            <a:avLst>
              <a:gd name="adj" fmla="val 9091"/>
            </a:avLst>
          </a:prstGeom>
          <a:solidFill>
            <a:srgbClr val="EEF5F7"/>
          </a:solidFill>
          <a:ln w="12700">
            <a:solidFill>
              <a:srgbClr val="EEF5F7"/>
            </a:solidFill>
            <a:prstDash val="solid"/>
          </a:ln>
        </p:spPr>
      </p:sp>
      <p:sp>
        <p:nvSpPr>
          <p:cNvPr id="12" name="Text 10"/>
          <p:cNvSpPr txBox="1"/>
          <p:nvPr/>
        </p:nvSpPr>
        <p:spPr>
          <a:xfrm>
            <a:off x="4937760" y="2560320"/>
            <a:ext cx="3611880" cy="822960"/>
          </a:xfrm>
          <a:prstGeom prst="rect">
            <a:avLst/>
          </a:prstGeom>
          <a:noFill/>
          <a:ln/>
        </p:spPr>
        <p:txBody>
          <a:bodyPr wrap="square" lIns="0" tIns="0" rIns="0" bIns="0" rtlCol="0" anchor="t"/>
          <a:lstStyle/>
          <a:p>
            <a:pPr indent="0" marL="0">
              <a:buNone/>
            </a:pPr>
            <a:r>
              <a:rPr lang="en-US" sz="1400" b="1" dirty="0">
                <a:solidFill>
                  <a:srgbClr val="5B8C5A"/>
                </a:solidFill>
              </a:rPr>
              <a:t>Pros</a:t>
            </a:r>
            <a:endParaRPr lang="en-US" sz="1400" dirty="0"/>
          </a:p>
          <a:p>
            <a:pPr marL="342900" indent="-342900">
              <a:buSzPct val="100000"/>
              <a:buChar char="•"/>
            </a:pPr>
            <a:r>
              <a:rPr lang="en-US" sz="1400" dirty="0">
                <a:solidFill>
                  <a:srgbClr val="0B2E3F"/>
                </a:solidFill>
              </a:rPr>
              <a:t>Flexible and scalable</a:t>
            </a:r>
            <a:endParaRPr lang="en-US" sz="1400" dirty="0"/>
          </a:p>
          <a:p>
            <a:pPr marL="342900" indent="-342900">
              <a:buSzPct val="100000"/>
              <a:buChar char="•"/>
            </a:pPr>
            <a:r>
              <a:rPr lang="en-US" sz="1400" dirty="0">
                <a:solidFill>
                  <a:srgbClr val="0B2E3F"/>
                </a:solidFill>
              </a:rPr>
              <a:t>Combines the strengths of each</a:t>
            </a:r>
            <a:endParaRPr lang="en-US" sz="1400" dirty="0"/>
          </a:p>
        </p:txBody>
      </p:sp>
      <p:sp>
        <p:nvSpPr>
          <p:cNvPr id="13" name="Shape 11"/>
          <p:cNvSpPr/>
          <p:nvPr/>
        </p:nvSpPr>
        <p:spPr>
          <a:xfrm>
            <a:off x="4754880" y="3611880"/>
            <a:ext cx="3931920" cy="1005840"/>
          </a:xfrm>
          <a:prstGeom prst="roundRect">
            <a:avLst>
              <a:gd name="adj" fmla="val 9091"/>
            </a:avLst>
          </a:prstGeom>
          <a:solidFill>
            <a:srgbClr val="EEF5F7"/>
          </a:solidFill>
          <a:ln w="12700">
            <a:solidFill>
              <a:srgbClr val="EEF5F7"/>
            </a:solidFill>
            <a:prstDash val="solid"/>
          </a:ln>
        </p:spPr>
      </p:sp>
      <p:sp>
        <p:nvSpPr>
          <p:cNvPr id="14" name="Text 12"/>
          <p:cNvSpPr txBox="1"/>
          <p:nvPr/>
        </p:nvSpPr>
        <p:spPr>
          <a:xfrm>
            <a:off x="4937760" y="3703320"/>
            <a:ext cx="3611880" cy="822960"/>
          </a:xfrm>
          <a:prstGeom prst="rect">
            <a:avLst/>
          </a:prstGeom>
          <a:noFill/>
          <a:ln/>
        </p:spPr>
        <p:txBody>
          <a:bodyPr wrap="square" lIns="0" tIns="0" rIns="0" bIns="0" rtlCol="0" anchor="t"/>
          <a:lstStyle/>
          <a:p>
            <a:pPr indent="0" marL="0">
              <a:buNone/>
            </a:pPr>
            <a:r>
              <a:rPr lang="en-US" sz="1400" b="1" dirty="0">
                <a:solidFill>
                  <a:srgbClr val="D9534F"/>
                </a:solidFill>
              </a:rPr>
              <a:t>Cons</a:t>
            </a:r>
            <a:endParaRPr lang="en-US" sz="1400" dirty="0"/>
          </a:p>
          <a:p>
            <a:pPr marL="342900" indent="-342900">
              <a:buSzPct val="100000"/>
              <a:buChar char="•"/>
            </a:pPr>
            <a:r>
              <a:rPr lang="en-US" sz="1400" dirty="0">
                <a:solidFill>
                  <a:srgbClr val="0B2E3F"/>
                </a:solidFill>
              </a:rPr>
              <a:t>Complex to design</a:t>
            </a:r>
            <a:endParaRPr lang="en-US" sz="1400" dirty="0"/>
          </a:p>
          <a:p>
            <a:pPr marL="342900" indent="-342900">
              <a:buSzPct val="100000"/>
              <a:buChar char="•"/>
            </a:pPr>
            <a:r>
              <a:rPr lang="en-US" sz="1400" dirty="0">
                <a:solidFill>
                  <a:srgbClr val="0B2E3F"/>
                </a:solidFill>
              </a:rPr>
              <a:t>Costly to build</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rgbClr val="0B2E3F"/>
                </a:solidFill>
                <a:latin typeface="Cambria" pitchFamily="34" charset="0"/>
                <a:ea typeface="Cambria" pitchFamily="34" charset="-122"/>
                <a:cs typeface="Cambria" pitchFamily="34" charset="-120"/>
              </a:rPr>
              <a:t>Mesh topology</a:t>
            </a:r>
            <a:endParaRPr lang="en-US" sz="3400" dirty="0"/>
          </a:p>
        </p:txBody>
      </p:sp>
      <p:sp>
        <p:nvSpPr>
          <p:cNvPr id="3" name="Shape 1"/>
          <p:cNvSpPr/>
          <p:nvPr/>
        </p:nvSpPr>
        <p:spPr>
          <a:xfrm>
            <a:off x="2468880" y="1645920"/>
            <a:ext cx="1304469" cy="884569"/>
          </a:xfrm>
          <a:prstGeom prst="line">
            <a:avLst/>
          </a:prstGeom>
          <a:noFill/>
          <a:ln w="15875">
            <a:solidFill>
              <a:srgbClr val="8FA9B3"/>
            </a:solidFill>
            <a:prstDash val="solid"/>
          </a:ln>
        </p:spPr>
      </p:sp>
      <p:sp>
        <p:nvSpPr>
          <p:cNvPr id="4" name="Shape 2"/>
          <p:cNvSpPr/>
          <p:nvPr/>
        </p:nvSpPr>
        <p:spPr>
          <a:xfrm>
            <a:off x="2468880" y="1645920"/>
            <a:ext cx="806206" cy="2315831"/>
          </a:xfrm>
          <a:prstGeom prst="line">
            <a:avLst/>
          </a:prstGeom>
          <a:noFill/>
          <a:ln w="15875">
            <a:solidFill>
              <a:srgbClr val="8FA9B3"/>
            </a:solidFill>
            <a:prstDash val="solid"/>
          </a:ln>
        </p:spPr>
      </p:sp>
      <p:sp>
        <p:nvSpPr>
          <p:cNvPr id="5" name="Shape 3"/>
          <p:cNvSpPr/>
          <p:nvPr/>
        </p:nvSpPr>
        <p:spPr>
          <a:xfrm flipV="1">
            <a:off x="1662674" y="1645920"/>
            <a:ext cx="806206" cy="2315831"/>
          </a:xfrm>
          <a:prstGeom prst="line">
            <a:avLst/>
          </a:prstGeom>
          <a:noFill/>
          <a:ln w="15875">
            <a:solidFill>
              <a:srgbClr val="8FA9B3"/>
            </a:solidFill>
            <a:prstDash val="solid"/>
          </a:ln>
        </p:spPr>
      </p:sp>
      <p:sp>
        <p:nvSpPr>
          <p:cNvPr id="6" name="Shape 4"/>
          <p:cNvSpPr/>
          <p:nvPr/>
        </p:nvSpPr>
        <p:spPr>
          <a:xfrm flipV="1">
            <a:off x="1164411" y="1645920"/>
            <a:ext cx="1304469" cy="884569"/>
          </a:xfrm>
          <a:prstGeom prst="line">
            <a:avLst/>
          </a:prstGeom>
          <a:noFill/>
          <a:ln w="15875">
            <a:solidFill>
              <a:srgbClr val="8FA9B3"/>
            </a:solidFill>
            <a:prstDash val="solid"/>
          </a:ln>
        </p:spPr>
      </p:sp>
      <p:sp>
        <p:nvSpPr>
          <p:cNvPr id="7" name="Shape 5"/>
          <p:cNvSpPr/>
          <p:nvPr/>
        </p:nvSpPr>
        <p:spPr>
          <a:xfrm flipV="1">
            <a:off x="3275086" y="2530489"/>
            <a:ext cx="498263" cy="1431262"/>
          </a:xfrm>
          <a:prstGeom prst="line">
            <a:avLst/>
          </a:prstGeom>
          <a:noFill/>
          <a:ln w="15875">
            <a:solidFill>
              <a:srgbClr val="8FA9B3"/>
            </a:solidFill>
            <a:prstDash val="solid"/>
          </a:ln>
        </p:spPr>
      </p:sp>
      <p:sp>
        <p:nvSpPr>
          <p:cNvPr id="8" name="Shape 6"/>
          <p:cNvSpPr/>
          <p:nvPr/>
        </p:nvSpPr>
        <p:spPr>
          <a:xfrm flipV="1">
            <a:off x="1662674" y="2530489"/>
            <a:ext cx="2110675" cy="1431262"/>
          </a:xfrm>
          <a:prstGeom prst="line">
            <a:avLst/>
          </a:prstGeom>
          <a:noFill/>
          <a:ln w="15875">
            <a:solidFill>
              <a:srgbClr val="8FA9B3"/>
            </a:solidFill>
            <a:prstDash val="solid"/>
          </a:ln>
        </p:spPr>
      </p:sp>
      <p:sp>
        <p:nvSpPr>
          <p:cNvPr id="9" name="Shape 7"/>
          <p:cNvSpPr/>
          <p:nvPr/>
        </p:nvSpPr>
        <p:spPr>
          <a:xfrm>
            <a:off x="1164411" y="2530489"/>
            <a:ext cx="2608938" cy="0"/>
          </a:xfrm>
          <a:prstGeom prst="line">
            <a:avLst/>
          </a:prstGeom>
          <a:noFill/>
          <a:ln w="15875">
            <a:solidFill>
              <a:srgbClr val="8FA9B3"/>
            </a:solidFill>
            <a:prstDash val="solid"/>
          </a:ln>
        </p:spPr>
      </p:sp>
      <p:sp>
        <p:nvSpPr>
          <p:cNvPr id="10" name="Shape 8"/>
          <p:cNvSpPr/>
          <p:nvPr/>
        </p:nvSpPr>
        <p:spPr>
          <a:xfrm>
            <a:off x="1662674" y="3961751"/>
            <a:ext cx="1612413" cy="91"/>
          </a:xfrm>
          <a:prstGeom prst="line">
            <a:avLst/>
          </a:prstGeom>
          <a:noFill/>
          <a:ln w="15875">
            <a:solidFill>
              <a:srgbClr val="8FA9B3"/>
            </a:solidFill>
            <a:prstDash val="solid"/>
          </a:ln>
        </p:spPr>
      </p:sp>
      <p:sp>
        <p:nvSpPr>
          <p:cNvPr id="11" name="Shape 9"/>
          <p:cNvSpPr/>
          <p:nvPr/>
        </p:nvSpPr>
        <p:spPr>
          <a:xfrm>
            <a:off x="1164411" y="2530489"/>
            <a:ext cx="2110675" cy="1431262"/>
          </a:xfrm>
          <a:prstGeom prst="line">
            <a:avLst/>
          </a:prstGeom>
          <a:noFill/>
          <a:ln w="15875">
            <a:solidFill>
              <a:srgbClr val="8FA9B3"/>
            </a:solidFill>
            <a:prstDash val="solid"/>
          </a:ln>
        </p:spPr>
      </p:sp>
      <p:sp>
        <p:nvSpPr>
          <p:cNvPr id="12" name="Shape 10"/>
          <p:cNvSpPr/>
          <p:nvPr/>
        </p:nvSpPr>
        <p:spPr>
          <a:xfrm>
            <a:off x="1164411" y="2530489"/>
            <a:ext cx="498263" cy="1431262"/>
          </a:xfrm>
          <a:prstGeom prst="line">
            <a:avLst/>
          </a:prstGeom>
          <a:noFill/>
          <a:ln w="15875">
            <a:solidFill>
              <a:srgbClr val="8FA9B3"/>
            </a:solidFill>
            <a:prstDash val="solid"/>
          </a:ln>
        </p:spPr>
      </p:sp>
      <p:sp>
        <p:nvSpPr>
          <p:cNvPr id="13" name="Text 11"/>
          <p:cNvSpPr/>
          <p:nvPr/>
        </p:nvSpPr>
        <p:spPr>
          <a:xfrm>
            <a:off x="2148840" y="1463040"/>
            <a:ext cx="640080" cy="365760"/>
          </a:xfrm>
          <a:prstGeom prst="roundRect">
            <a:avLst>
              <a:gd name="adj" fmla="val 20000"/>
            </a:avLst>
          </a:prstGeom>
          <a:solidFill>
            <a:srgbClr val="0B2E3F"/>
          </a:solidFill>
          <a:ln/>
        </p:spPr>
        <p:txBody>
          <a:bodyPr wrap="square" lIns="0" tIns="0" rIns="0" bIns="0" rtlCol="0" anchor="ctr"/>
          <a:lstStyle/>
          <a:p>
            <a:pPr algn="ctr" indent="0" marL="0">
              <a:buNone/>
            </a:pPr>
            <a:r>
              <a:rPr lang="en-US" sz="1300" b="1" dirty="0">
                <a:solidFill>
                  <a:srgbClr val="FFFFFF"/>
                </a:solidFill>
              </a:rPr>
              <a:t>PC</a:t>
            </a:r>
            <a:endParaRPr lang="en-US" sz="1300" dirty="0"/>
          </a:p>
        </p:txBody>
      </p:sp>
      <p:sp>
        <p:nvSpPr>
          <p:cNvPr id="14" name="Text 12"/>
          <p:cNvSpPr/>
          <p:nvPr/>
        </p:nvSpPr>
        <p:spPr>
          <a:xfrm>
            <a:off x="3453309" y="2347609"/>
            <a:ext cx="640080" cy="365760"/>
          </a:xfrm>
          <a:prstGeom prst="roundRect">
            <a:avLst>
              <a:gd name="adj" fmla="val 20000"/>
            </a:avLst>
          </a:prstGeom>
          <a:solidFill>
            <a:srgbClr val="0B2E3F"/>
          </a:solidFill>
          <a:ln/>
        </p:spPr>
        <p:txBody>
          <a:bodyPr wrap="square" lIns="0" tIns="0" rIns="0" bIns="0" rtlCol="0" anchor="ctr"/>
          <a:lstStyle/>
          <a:p>
            <a:pPr algn="ctr" indent="0" marL="0">
              <a:buNone/>
            </a:pPr>
            <a:r>
              <a:rPr lang="en-US" sz="1300" b="1" dirty="0">
                <a:solidFill>
                  <a:srgbClr val="FFFFFF"/>
                </a:solidFill>
              </a:rPr>
              <a:t>PC</a:t>
            </a:r>
            <a:endParaRPr lang="en-US" sz="1300" dirty="0"/>
          </a:p>
        </p:txBody>
      </p:sp>
      <p:sp>
        <p:nvSpPr>
          <p:cNvPr id="15" name="Text 13"/>
          <p:cNvSpPr/>
          <p:nvPr/>
        </p:nvSpPr>
        <p:spPr>
          <a:xfrm>
            <a:off x="2955046" y="3778871"/>
            <a:ext cx="640080" cy="365760"/>
          </a:xfrm>
          <a:prstGeom prst="roundRect">
            <a:avLst>
              <a:gd name="adj" fmla="val 20000"/>
            </a:avLst>
          </a:prstGeom>
          <a:solidFill>
            <a:srgbClr val="0B2E3F"/>
          </a:solidFill>
          <a:ln/>
        </p:spPr>
        <p:txBody>
          <a:bodyPr wrap="square" lIns="0" tIns="0" rIns="0" bIns="0" rtlCol="0" anchor="ctr"/>
          <a:lstStyle/>
          <a:p>
            <a:pPr algn="ctr" indent="0" marL="0">
              <a:buNone/>
            </a:pPr>
            <a:r>
              <a:rPr lang="en-US" sz="1300" b="1" dirty="0">
                <a:solidFill>
                  <a:srgbClr val="FFFFFF"/>
                </a:solidFill>
              </a:rPr>
              <a:t>PC</a:t>
            </a:r>
            <a:endParaRPr lang="en-US" sz="1300" dirty="0"/>
          </a:p>
        </p:txBody>
      </p:sp>
      <p:sp>
        <p:nvSpPr>
          <p:cNvPr id="16" name="Text 14"/>
          <p:cNvSpPr/>
          <p:nvPr/>
        </p:nvSpPr>
        <p:spPr>
          <a:xfrm>
            <a:off x="1342634" y="3778871"/>
            <a:ext cx="640080" cy="365760"/>
          </a:xfrm>
          <a:prstGeom prst="roundRect">
            <a:avLst>
              <a:gd name="adj" fmla="val 20000"/>
            </a:avLst>
          </a:prstGeom>
          <a:solidFill>
            <a:srgbClr val="0B2E3F"/>
          </a:solidFill>
          <a:ln/>
        </p:spPr>
        <p:txBody>
          <a:bodyPr wrap="square" lIns="0" tIns="0" rIns="0" bIns="0" rtlCol="0" anchor="ctr"/>
          <a:lstStyle/>
          <a:p>
            <a:pPr algn="ctr" indent="0" marL="0">
              <a:buNone/>
            </a:pPr>
            <a:r>
              <a:rPr lang="en-US" sz="1300" b="1" dirty="0">
                <a:solidFill>
                  <a:srgbClr val="FFFFFF"/>
                </a:solidFill>
              </a:rPr>
              <a:t>PC</a:t>
            </a:r>
            <a:endParaRPr lang="en-US" sz="1300" dirty="0"/>
          </a:p>
        </p:txBody>
      </p:sp>
      <p:sp>
        <p:nvSpPr>
          <p:cNvPr id="17" name="Text 15"/>
          <p:cNvSpPr/>
          <p:nvPr/>
        </p:nvSpPr>
        <p:spPr>
          <a:xfrm>
            <a:off x="844371" y="2347609"/>
            <a:ext cx="640080" cy="365760"/>
          </a:xfrm>
          <a:prstGeom prst="roundRect">
            <a:avLst>
              <a:gd name="adj" fmla="val 20000"/>
            </a:avLst>
          </a:prstGeom>
          <a:solidFill>
            <a:srgbClr val="0B2E3F"/>
          </a:solidFill>
          <a:ln/>
        </p:spPr>
        <p:txBody>
          <a:bodyPr wrap="square" lIns="0" tIns="0" rIns="0" bIns="0" rtlCol="0" anchor="ctr"/>
          <a:lstStyle/>
          <a:p>
            <a:pPr algn="ctr" indent="0" marL="0">
              <a:buNone/>
            </a:pPr>
            <a:r>
              <a:rPr lang="en-US" sz="1300" b="1" dirty="0">
                <a:solidFill>
                  <a:srgbClr val="FFFFFF"/>
                </a:solidFill>
              </a:rPr>
              <a:t>PC</a:t>
            </a:r>
            <a:endParaRPr lang="en-US" sz="1300" dirty="0"/>
          </a:p>
        </p:txBody>
      </p:sp>
      <p:sp>
        <p:nvSpPr>
          <p:cNvPr id="18" name="Text 16"/>
          <p:cNvSpPr txBox="1"/>
          <p:nvPr/>
        </p:nvSpPr>
        <p:spPr>
          <a:xfrm>
            <a:off x="4754880" y="1143000"/>
            <a:ext cx="3931920" cy="1234440"/>
          </a:xfrm>
          <a:prstGeom prst="rect">
            <a:avLst/>
          </a:prstGeom>
          <a:noFill/>
          <a:ln/>
        </p:spPr>
        <p:txBody>
          <a:bodyPr wrap="square" lIns="0" tIns="0" rIns="0" bIns="0" rtlCol="0" anchor="t"/>
          <a:lstStyle/>
          <a:p>
            <a:pPr indent="0" marL="0">
              <a:buNone/>
            </a:pPr>
            <a:r>
              <a:rPr lang="en-US" sz="1400" dirty="0">
                <a:solidFill>
                  <a:srgbClr val="0B2E3F"/>
                </a:solidFill>
              </a:rPr>
              <a:t>Every host is directly connected to every other host. With n hosts you need n(n-1)/2 links: 5 hosts need 10. Used in mission-critical networks like airports and bank ATMs.</a:t>
            </a:r>
            <a:endParaRPr lang="en-US" sz="1400" dirty="0"/>
          </a:p>
        </p:txBody>
      </p:sp>
      <p:sp>
        <p:nvSpPr>
          <p:cNvPr id="19" name="Shape 17"/>
          <p:cNvSpPr/>
          <p:nvPr/>
        </p:nvSpPr>
        <p:spPr>
          <a:xfrm>
            <a:off x="4754880" y="2468880"/>
            <a:ext cx="3931920" cy="1005840"/>
          </a:xfrm>
          <a:prstGeom prst="roundRect">
            <a:avLst>
              <a:gd name="adj" fmla="val 9091"/>
            </a:avLst>
          </a:prstGeom>
          <a:solidFill>
            <a:srgbClr val="EEF5F7"/>
          </a:solidFill>
          <a:ln w="12700">
            <a:solidFill>
              <a:srgbClr val="EEF5F7"/>
            </a:solidFill>
            <a:prstDash val="solid"/>
          </a:ln>
        </p:spPr>
      </p:sp>
      <p:sp>
        <p:nvSpPr>
          <p:cNvPr id="20" name="Text 18"/>
          <p:cNvSpPr txBox="1"/>
          <p:nvPr/>
        </p:nvSpPr>
        <p:spPr>
          <a:xfrm>
            <a:off x="4937760" y="2560320"/>
            <a:ext cx="3611880" cy="822960"/>
          </a:xfrm>
          <a:prstGeom prst="rect">
            <a:avLst/>
          </a:prstGeom>
          <a:noFill/>
          <a:ln/>
        </p:spPr>
        <p:txBody>
          <a:bodyPr wrap="square" lIns="0" tIns="0" rIns="0" bIns="0" rtlCol="0" anchor="t"/>
          <a:lstStyle/>
          <a:p>
            <a:pPr indent="0" marL="0">
              <a:buNone/>
            </a:pPr>
            <a:r>
              <a:rPr lang="en-US" sz="1400" b="1" dirty="0">
                <a:solidFill>
                  <a:srgbClr val="5B8C5A"/>
                </a:solidFill>
              </a:rPr>
              <a:t>Pros</a:t>
            </a:r>
            <a:endParaRPr lang="en-US" sz="1400" dirty="0"/>
          </a:p>
          <a:p>
            <a:pPr marL="342900" indent="-342900">
              <a:buSzPct val="100000"/>
              <a:buChar char="•"/>
            </a:pPr>
            <a:r>
              <a:rPr lang="en-US" sz="1400" dirty="0">
                <a:solidFill>
                  <a:srgbClr val="0B2E3F"/>
                </a:solidFill>
              </a:rPr>
              <a:t>Very reliable, many paths</a:t>
            </a:r>
            <a:endParaRPr lang="en-US" sz="1400" dirty="0"/>
          </a:p>
          <a:p>
            <a:pPr marL="342900" indent="-342900">
              <a:buSzPct val="100000"/>
              <a:buChar char="•"/>
            </a:pPr>
            <a:r>
              <a:rPr lang="en-US" sz="1400" dirty="0">
                <a:solidFill>
                  <a:srgbClr val="0B2E3F"/>
                </a:solidFill>
              </a:rPr>
              <a:t>No single point of failure</a:t>
            </a:r>
            <a:endParaRPr lang="en-US" sz="1400" dirty="0"/>
          </a:p>
        </p:txBody>
      </p:sp>
      <p:sp>
        <p:nvSpPr>
          <p:cNvPr id="21" name="Shape 19"/>
          <p:cNvSpPr/>
          <p:nvPr/>
        </p:nvSpPr>
        <p:spPr>
          <a:xfrm>
            <a:off x="4754880" y="3611880"/>
            <a:ext cx="3931920" cy="1005840"/>
          </a:xfrm>
          <a:prstGeom prst="roundRect">
            <a:avLst>
              <a:gd name="adj" fmla="val 9091"/>
            </a:avLst>
          </a:prstGeom>
          <a:solidFill>
            <a:srgbClr val="EEF5F7"/>
          </a:solidFill>
          <a:ln w="12700">
            <a:solidFill>
              <a:srgbClr val="EEF5F7"/>
            </a:solidFill>
            <a:prstDash val="solid"/>
          </a:ln>
        </p:spPr>
      </p:sp>
      <p:sp>
        <p:nvSpPr>
          <p:cNvPr id="22" name="Text 20"/>
          <p:cNvSpPr txBox="1"/>
          <p:nvPr/>
        </p:nvSpPr>
        <p:spPr>
          <a:xfrm>
            <a:off x="4937760" y="3703320"/>
            <a:ext cx="3611880" cy="822960"/>
          </a:xfrm>
          <a:prstGeom prst="rect">
            <a:avLst/>
          </a:prstGeom>
          <a:noFill/>
          <a:ln/>
        </p:spPr>
        <p:txBody>
          <a:bodyPr wrap="square" lIns="0" tIns="0" rIns="0" bIns="0" rtlCol="0" anchor="t"/>
          <a:lstStyle/>
          <a:p>
            <a:pPr indent="0" marL="0">
              <a:buNone/>
            </a:pPr>
            <a:r>
              <a:rPr lang="en-US" sz="1400" b="1" dirty="0">
                <a:solidFill>
                  <a:srgbClr val="D9534F"/>
                </a:solidFill>
              </a:rPr>
              <a:t>Cons</a:t>
            </a:r>
            <a:endParaRPr lang="en-US" sz="1400" dirty="0"/>
          </a:p>
          <a:p>
            <a:pPr marL="342900" indent="-342900">
              <a:buSzPct val="100000"/>
              <a:buChar char="•"/>
            </a:pPr>
            <a:r>
              <a:rPr lang="en-US" sz="1400" dirty="0">
                <a:solidFill>
                  <a:srgbClr val="0B2E3F"/>
                </a:solidFill>
              </a:rPr>
              <a:t>Many cables and ports</a:t>
            </a:r>
            <a:endParaRPr lang="en-US" sz="1400" dirty="0"/>
          </a:p>
          <a:p>
            <a:pPr marL="342900" indent="-342900">
              <a:buSzPct val="100000"/>
              <a:buChar char="•"/>
            </a:pPr>
            <a:r>
              <a:rPr lang="en-US" sz="1400" dirty="0">
                <a:solidFill>
                  <a:srgbClr val="0B2E3F"/>
                </a:solidFill>
              </a:rPr>
              <a:t>Most costly to build</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indent="0" marL="0">
              <a:buNone/>
            </a:pPr>
            <a:r>
              <a:rPr lang="en-US" sz="3400" b="1" dirty="0">
                <a:solidFill>
                  <a:srgbClr val="0B2E3F"/>
                </a:solidFill>
                <a:latin typeface="Cambria" pitchFamily="34" charset="0"/>
                <a:ea typeface="Cambria" pitchFamily="34" charset="-122"/>
                <a:cs typeface="Cambria" pitchFamily="34" charset="-120"/>
              </a:rPr>
              <a:t>Comparing the topologies</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371600"/>
                <a:gridCol w="2926080"/>
                <a:gridCol w="3931920"/>
              </a:tblGrid>
              <a:tr h="493776">
                <a:tc>
                  <a:txBody>
                    <a:bodyPr/>
                    <a:lstStyle/>
                    <a:p>
                      <a:pPr algn="ctr" indent="0" marL="0">
                        <a:buNone/>
                      </a:pPr>
                      <a:r>
                        <a:rPr lang="en-US" sz="1600" b="1" dirty="0">
                          <a:solidFill>
                            <a:srgbClr val="FFFFFF"/>
                          </a:solidFill>
                        </a:rPr>
                        <a:t>Topology</a:t>
                      </a:r>
                      <a:endParaRPr lang="en-US" sz="16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solidFill>
                      <a:srgbClr val="1C7C8C"/>
                    </a:solidFill>
                  </a:tcPr>
                </a:tc>
                <a:tc>
                  <a:txBody>
                    <a:bodyPr/>
                    <a:lstStyle/>
                    <a:p>
                      <a:pPr algn="ctr" indent="0" marL="0">
                        <a:buNone/>
                      </a:pPr>
                      <a:r>
                        <a:rPr lang="en-US" sz="1600" b="1" dirty="0">
                          <a:solidFill>
                            <a:srgbClr val="FFFFFF"/>
                          </a:solidFill>
                        </a:rPr>
                        <a:t>Connected through</a:t>
                      </a:r>
                      <a:endParaRPr lang="en-US" sz="16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solidFill>
                      <a:srgbClr val="1C7C8C"/>
                    </a:solidFill>
                  </a:tcPr>
                </a:tc>
                <a:tc>
                  <a:txBody>
                    <a:bodyPr/>
                    <a:lstStyle/>
                    <a:p>
                      <a:pPr algn="ctr" indent="0" marL="0">
                        <a:buNone/>
                      </a:pPr>
                      <a:r>
                        <a:rPr lang="en-US" sz="1600" b="1" dirty="0">
                          <a:solidFill>
                            <a:srgbClr val="FFFFFF"/>
                          </a:solidFill>
                        </a:rPr>
                        <a:t>Main weakness</a:t>
                      </a:r>
                      <a:endParaRPr lang="en-US" sz="16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solidFill>
                      <a:srgbClr val="F28C28"/>
                    </a:solidFill>
                  </a:tcPr>
                </a:tc>
              </a:tr>
              <a:tr h="493776">
                <a:tc>
                  <a:txBody>
                    <a:bodyPr/>
                    <a:lstStyle/>
                    <a:p>
                      <a:pPr indent="0" marL="0">
                        <a:buNone/>
                      </a:pPr>
                      <a:r>
                        <a:rPr lang="en-US" sz="1400" b="1" dirty="0">
                          <a:solidFill>
                            <a:srgbClr val="0B2E3F"/>
                          </a:solidFill>
                        </a:rPr>
                        <a:t>Bus</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solidFill>
                      <a:srgbClr val="EEF5F7"/>
                    </a:solidFill>
                  </a:tcPr>
                </a:tc>
                <a:tc>
                  <a:txBody>
                    <a:bodyPr/>
                    <a:lstStyle/>
                    <a:p>
                      <a:pPr indent="0" marL="0">
                        <a:buNone/>
                      </a:pPr>
                      <a:r>
                        <a:rPr lang="en-US" sz="1400" dirty="0">
                          <a:solidFill>
                            <a:srgbClr val="0B2E3F"/>
                          </a:solidFill>
                        </a:rPr>
                        <a:t>One shared cable</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c>
                  <a:txBody>
                    <a:bodyPr/>
                    <a:lstStyle/>
                    <a:p>
                      <a:pPr indent="0" marL="0">
                        <a:buNone/>
                      </a:pPr>
                      <a:r>
                        <a:rPr lang="en-US" sz="1400" dirty="0">
                          <a:solidFill>
                            <a:srgbClr val="0B2E3F"/>
                          </a:solidFill>
                        </a:rPr>
                        <a:t>Cable break stops everyone</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r>
              <a:tr h="493776">
                <a:tc>
                  <a:txBody>
                    <a:bodyPr/>
                    <a:lstStyle/>
                    <a:p>
                      <a:pPr indent="0" marL="0">
                        <a:buNone/>
                      </a:pPr>
                      <a:r>
                        <a:rPr lang="en-US" sz="1400" b="1" dirty="0">
                          <a:solidFill>
                            <a:srgbClr val="0B2E3F"/>
                          </a:solidFill>
                        </a:rPr>
                        <a:t>Ring</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solidFill>
                      <a:srgbClr val="EEF5F7"/>
                    </a:solidFill>
                  </a:tcPr>
                </a:tc>
                <a:tc>
                  <a:txBody>
                    <a:bodyPr/>
                    <a:lstStyle/>
                    <a:p>
                      <a:pPr indent="0" marL="0">
                        <a:buNone/>
                      </a:pPr>
                      <a:r>
                        <a:rPr lang="en-US" sz="1400" dirty="0">
                          <a:solidFill>
                            <a:srgbClr val="0B2E3F"/>
                          </a:solidFill>
                        </a:rPr>
                        <a:t>A closed loop</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c>
                  <a:txBody>
                    <a:bodyPr/>
                    <a:lstStyle/>
                    <a:p>
                      <a:pPr indent="0" marL="0">
                        <a:buNone/>
                      </a:pPr>
                      <a:r>
                        <a:rPr lang="en-US" sz="1400" dirty="0">
                          <a:solidFill>
                            <a:srgbClr val="0B2E3F"/>
                          </a:solidFill>
                        </a:rPr>
                        <a:t>One break can stop a single ring</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r>
              <a:tr h="493776">
                <a:tc>
                  <a:txBody>
                    <a:bodyPr/>
                    <a:lstStyle/>
                    <a:p>
                      <a:pPr indent="0" marL="0">
                        <a:buNone/>
                      </a:pPr>
                      <a:r>
                        <a:rPr lang="en-US" sz="1400" b="1" dirty="0">
                          <a:solidFill>
                            <a:srgbClr val="0B2E3F"/>
                          </a:solidFill>
                        </a:rPr>
                        <a:t>Star</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solidFill>
                      <a:srgbClr val="EEF5F7"/>
                    </a:solidFill>
                  </a:tcPr>
                </a:tc>
                <a:tc>
                  <a:txBody>
                    <a:bodyPr/>
                    <a:lstStyle/>
                    <a:p>
                      <a:pPr indent="0" marL="0">
                        <a:buNone/>
                      </a:pPr>
                      <a:r>
                        <a:rPr lang="en-US" sz="1400" dirty="0">
                          <a:solidFill>
                            <a:srgbClr val="0B2E3F"/>
                          </a:solidFill>
                        </a:rPr>
                        <a:t>Central hub or switch</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c>
                  <a:txBody>
                    <a:bodyPr/>
                    <a:lstStyle/>
                    <a:p>
                      <a:pPr indent="0" marL="0">
                        <a:buNone/>
                      </a:pPr>
                      <a:r>
                        <a:rPr lang="en-US" sz="1400" dirty="0">
                          <a:solidFill>
                            <a:srgbClr val="0B2E3F"/>
                          </a:solidFill>
                        </a:rPr>
                        <a:t>Central device is a single point of failure</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r>
              <a:tr h="493776">
                <a:tc>
                  <a:txBody>
                    <a:bodyPr/>
                    <a:lstStyle/>
                    <a:p>
                      <a:pPr indent="0" marL="0">
                        <a:buNone/>
                      </a:pPr>
                      <a:r>
                        <a:rPr lang="en-US" sz="1400" b="1" dirty="0">
                          <a:solidFill>
                            <a:srgbClr val="0B2E3F"/>
                          </a:solidFill>
                        </a:rPr>
                        <a:t>Tree</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solidFill>
                      <a:srgbClr val="EEF5F7"/>
                    </a:solidFill>
                  </a:tcPr>
                </a:tc>
                <a:tc>
                  <a:txBody>
                    <a:bodyPr/>
                    <a:lstStyle/>
                    <a:p>
                      <a:pPr indent="0" marL="0">
                        <a:buNone/>
                      </a:pPr>
                      <a:r>
                        <a:rPr lang="en-US" sz="1400" dirty="0">
                          <a:solidFill>
                            <a:srgbClr val="0B2E3F"/>
                          </a:solidFill>
                        </a:rPr>
                        <a:t>Stars joined by a backbone</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c>
                  <a:txBody>
                    <a:bodyPr/>
                    <a:lstStyle/>
                    <a:p>
                      <a:pPr indent="0" marL="0">
                        <a:buNone/>
                      </a:pPr>
                      <a:r>
                        <a:rPr lang="en-US" sz="1400" dirty="0">
                          <a:solidFill>
                            <a:srgbClr val="0B2E3F"/>
                          </a:solidFill>
                        </a:rPr>
                        <a:t>Backbone failure splits the network</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r>
              <a:tr h="493776">
                <a:tc>
                  <a:txBody>
                    <a:bodyPr/>
                    <a:lstStyle/>
                    <a:p>
                      <a:pPr indent="0" marL="0">
                        <a:buNone/>
                      </a:pPr>
                      <a:r>
                        <a:rPr lang="en-US" sz="1400" b="1" dirty="0">
                          <a:solidFill>
                            <a:srgbClr val="0B2E3F"/>
                          </a:solidFill>
                        </a:rPr>
                        <a:t>Hybrid</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solidFill>
                      <a:srgbClr val="EEF5F7"/>
                    </a:solidFill>
                  </a:tcPr>
                </a:tc>
                <a:tc>
                  <a:txBody>
                    <a:bodyPr/>
                    <a:lstStyle/>
                    <a:p>
                      <a:pPr indent="0" marL="0">
                        <a:buNone/>
                      </a:pPr>
                      <a:r>
                        <a:rPr lang="en-US" sz="1400" dirty="0">
                          <a:solidFill>
                            <a:srgbClr val="0B2E3F"/>
                          </a:solidFill>
                        </a:rPr>
                        <a:t>Mix of topologies</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c>
                  <a:txBody>
                    <a:bodyPr/>
                    <a:lstStyle/>
                    <a:p>
                      <a:pPr indent="0" marL="0">
                        <a:buNone/>
                      </a:pPr>
                      <a:r>
                        <a:rPr lang="en-US" sz="1400" dirty="0">
                          <a:solidFill>
                            <a:srgbClr val="0B2E3F"/>
                          </a:solidFill>
                        </a:rPr>
                        <a:t>Complex and costly</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r>
              <a:tr h="493776">
                <a:tc>
                  <a:txBody>
                    <a:bodyPr/>
                    <a:lstStyle/>
                    <a:p>
                      <a:pPr indent="0" marL="0">
                        <a:buNone/>
                      </a:pPr>
                      <a:r>
                        <a:rPr lang="en-US" sz="1400" b="1" dirty="0">
                          <a:solidFill>
                            <a:srgbClr val="0B2E3F"/>
                          </a:solidFill>
                        </a:rPr>
                        <a:t>Mesh</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solidFill>
                      <a:srgbClr val="EEF5F7"/>
                    </a:solidFill>
                  </a:tcPr>
                </a:tc>
                <a:tc>
                  <a:txBody>
                    <a:bodyPr/>
                    <a:lstStyle/>
                    <a:p>
                      <a:pPr indent="0" marL="0">
                        <a:buNone/>
                      </a:pPr>
                      <a:r>
                        <a:rPr lang="en-US" sz="1400" dirty="0">
                          <a:solidFill>
                            <a:srgbClr val="0B2E3F"/>
                          </a:solidFill>
                        </a:rPr>
                        <a:t>Every host linked to every other</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c>
                  <a:txBody>
                    <a:bodyPr/>
                    <a:lstStyle/>
                    <a:p>
                      <a:pPr indent="0" marL="0">
                        <a:buNone/>
                      </a:pPr>
                      <a:r>
                        <a:rPr lang="en-US" sz="1400" dirty="0">
                          <a:solidFill>
                            <a:srgbClr val="0B2E3F"/>
                          </a:solidFill>
                        </a:rPr>
                        <a:t>Most cables, highest cost</a:t>
                      </a:r>
                      <a:endParaRPr lang="en-US" sz="1400" dirty="0"/>
                    </a:p>
                  </a:txBody>
                  <a:tcPr marL="91440" marR="91440" marT="45720" marB="45720" anchor="ctr">
                    <a:lnL w="12700" cap="flat" cmpd="sng" algn="ctr">
                      <a:solidFill>
                        <a:srgbClr val="D5E2E6"/>
                      </a:solidFill>
                      <a:prstDash val="solid"/>
                      <a:round/>
                      <a:headEnd type="none" w="med" len="med"/>
                      <a:tailEnd type="none" w="med" len="med"/>
                    </a:lnL>
                    <a:lnR w="12700" cap="flat" cmpd="sng" algn="ctr">
                      <a:solidFill>
                        <a:srgbClr val="D5E2E6"/>
                      </a:solidFill>
                      <a:prstDash val="solid"/>
                      <a:round/>
                      <a:headEnd type="none" w="med" len="med"/>
                      <a:tailEnd type="none" w="med" len="med"/>
                    </a:lnR>
                    <a:lnT w="12700" cap="flat" cmpd="sng" algn="ctr">
                      <a:solidFill>
                        <a:srgbClr val="D5E2E6"/>
                      </a:solidFill>
                      <a:prstDash val="solid"/>
                      <a:round/>
                      <a:headEnd type="none" w="med" len="med"/>
                      <a:tailEnd type="none" w="med" len="med"/>
                    </a:lnT>
                    <a:lnB w="12700" cap="flat" cmpd="sng" algn="ctr">
                      <a:solidFill>
                        <a:srgbClr val="D5E2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B6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57200"/>
            <a:ext cx="786384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Key takeaways</a:t>
            </a:r>
            <a:endParaRPr lang="en-US" sz="3800" dirty="0"/>
          </a:p>
        </p:txBody>
      </p:sp>
      <p:sp>
        <p:nvSpPr>
          <p:cNvPr id="3" name="Text 1"/>
          <p:cNvSpPr/>
          <p:nvPr/>
        </p:nvSpPr>
        <p:spPr>
          <a:xfrm>
            <a:off x="640080" y="1463040"/>
            <a:ext cx="502920" cy="502920"/>
          </a:xfrm>
          <a:prstGeom prst="ellipse">
            <a:avLst/>
          </a:prstGeom>
          <a:solidFill>
            <a:srgbClr val="F28C28"/>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4" name="Text 2"/>
          <p:cNvSpPr txBox="1"/>
          <p:nvPr/>
        </p:nvSpPr>
        <p:spPr>
          <a:xfrm>
            <a:off x="1371600" y="1463040"/>
            <a:ext cx="7315200" cy="548640"/>
          </a:xfrm>
          <a:prstGeom prst="rect">
            <a:avLst/>
          </a:prstGeom>
          <a:noFill/>
          <a:ln/>
        </p:spPr>
        <p:txBody>
          <a:bodyPr wrap="square" lIns="0" tIns="0" rIns="0" bIns="0" rtlCol="0" anchor="ctr"/>
          <a:lstStyle/>
          <a:p>
            <a:pPr indent="0" marL="0">
              <a:buNone/>
            </a:pPr>
            <a:r>
              <a:rPr lang="en-US" sz="1800" b="1" dirty="0">
                <a:solidFill>
                  <a:srgbClr val="FFFFFF"/>
                </a:solidFill>
              </a:rPr>
              <a:t>Topology  </a:t>
            </a:r>
            <a:pPr indent="0" marL="0">
              <a:buNone/>
            </a:pPr>
            <a:r>
              <a:rPr lang="en-US" sz="1600" dirty="0">
                <a:solidFill>
                  <a:srgbClr val="CFE6EB"/>
                </a:solidFill>
              </a:rPr>
              <a:t>The arrangement of devices in a network</a:t>
            </a:r>
            <a:endParaRPr lang="en-US" sz="1800" dirty="0"/>
          </a:p>
        </p:txBody>
      </p:sp>
      <p:sp>
        <p:nvSpPr>
          <p:cNvPr id="5" name="Text 3"/>
          <p:cNvSpPr/>
          <p:nvPr/>
        </p:nvSpPr>
        <p:spPr>
          <a:xfrm>
            <a:off x="640080" y="2240280"/>
            <a:ext cx="502920" cy="502920"/>
          </a:xfrm>
          <a:prstGeom prst="ellipse">
            <a:avLst/>
          </a:prstGeom>
          <a:solidFill>
            <a:srgbClr val="F28C28"/>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6" name="Text 4"/>
          <p:cNvSpPr txBox="1"/>
          <p:nvPr/>
        </p:nvSpPr>
        <p:spPr>
          <a:xfrm>
            <a:off x="1371600" y="2240280"/>
            <a:ext cx="7315200" cy="548640"/>
          </a:xfrm>
          <a:prstGeom prst="rect">
            <a:avLst/>
          </a:prstGeom>
          <a:noFill/>
          <a:ln/>
        </p:spPr>
        <p:txBody>
          <a:bodyPr wrap="square" lIns="0" tIns="0" rIns="0" bIns="0" rtlCol="0" anchor="ctr"/>
          <a:lstStyle/>
          <a:p>
            <a:pPr indent="0" marL="0">
              <a:buNone/>
            </a:pPr>
            <a:r>
              <a:rPr lang="en-US" sz="1800" b="1" dirty="0">
                <a:solidFill>
                  <a:srgbClr val="FFFFFF"/>
                </a:solidFill>
              </a:rPr>
              <a:t>Bus &amp; Ring  </a:t>
            </a:r>
            <a:pPr indent="0" marL="0">
              <a:buNone/>
            </a:pPr>
            <a:r>
              <a:rPr lang="en-US" sz="1600" dirty="0">
                <a:solidFill>
                  <a:srgbClr val="CFE6EB"/>
                </a:solidFill>
              </a:rPr>
              <a:t>Cheap and simple, but a break can hurt</a:t>
            </a:r>
            <a:endParaRPr lang="en-US" sz="1800" dirty="0"/>
          </a:p>
        </p:txBody>
      </p:sp>
      <p:sp>
        <p:nvSpPr>
          <p:cNvPr id="7" name="Text 5"/>
          <p:cNvSpPr/>
          <p:nvPr/>
        </p:nvSpPr>
        <p:spPr>
          <a:xfrm>
            <a:off x="640080" y="3017520"/>
            <a:ext cx="502920" cy="502920"/>
          </a:xfrm>
          <a:prstGeom prst="ellipse">
            <a:avLst/>
          </a:prstGeom>
          <a:solidFill>
            <a:srgbClr val="F28C28"/>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8" name="Text 6"/>
          <p:cNvSpPr txBox="1"/>
          <p:nvPr/>
        </p:nvSpPr>
        <p:spPr>
          <a:xfrm>
            <a:off x="1371600" y="3017520"/>
            <a:ext cx="7315200" cy="548640"/>
          </a:xfrm>
          <a:prstGeom prst="rect">
            <a:avLst/>
          </a:prstGeom>
          <a:noFill/>
          <a:ln/>
        </p:spPr>
        <p:txBody>
          <a:bodyPr wrap="square" lIns="0" tIns="0" rIns="0" bIns="0" rtlCol="0" anchor="ctr"/>
          <a:lstStyle/>
          <a:p>
            <a:pPr indent="0" marL="0">
              <a:buNone/>
            </a:pPr>
            <a:r>
              <a:rPr lang="en-US" sz="1800" b="1" dirty="0">
                <a:solidFill>
                  <a:srgbClr val="FFFFFF"/>
                </a:solidFill>
              </a:rPr>
              <a:t>Star &amp; Tree  </a:t>
            </a:r>
            <a:pPr indent="0" marL="0">
              <a:buNone/>
            </a:pPr>
            <a:r>
              <a:rPr lang="en-US" sz="1600" dirty="0">
                <a:solidFill>
                  <a:srgbClr val="CFE6EB"/>
                </a:solidFill>
              </a:rPr>
              <a:t>Most common, easy to manage</a:t>
            </a:r>
            <a:endParaRPr lang="en-US" sz="1800" dirty="0"/>
          </a:p>
        </p:txBody>
      </p:sp>
      <p:sp>
        <p:nvSpPr>
          <p:cNvPr id="9" name="Text 7"/>
          <p:cNvSpPr/>
          <p:nvPr/>
        </p:nvSpPr>
        <p:spPr>
          <a:xfrm>
            <a:off x="640080" y="3794760"/>
            <a:ext cx="502920" cy="502920"/>
          </a:xfrm>
          <a:prstGeom prst="ellipse">
            <a:avLst/>
          </a:prstGeom>
          <a:solidFill>
            <a:srgbClr val="F28C28"/>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0" name="Text 8"/>
          <p:cNvSpPr txBox="1"/>
          <p:nvPr/>
        </p:nvSpPr>
        <p:spPr>
          <a:xfrm>
            <a:off x="1371600" y="3794760"/>
            <a:ext cx="7315200" cy="548640"/>
          </a:xfrm>
          <a:prstGeom prst="rect">
            <a:avLst/>
          </a:prstGeom>
          <a:noFill/>
          <a:ln/>
        </p:spPr>
        <p:txBody>
          <a:bodyPr wrap="square" lIns="0" tIns="0" rIns="0" bIns="0" rtlCol="0" anchor="ctr"/>
          <a:lstStyle/>
          <a:p>
            <a:pPr indent="0" marL="0">
              <a:buNone/>
            </a:pPr>
            <a:r>
              <a:rPr lang="en-US" sz="1800" b="1" dirty="0">
                <a:solidFill>
                  <a:srgbClr val="FFFFFF"/>
                </a:solidFill>
              </a:rPr>
              <a:t>Hybrid &amp; Mesh  </a:t>
            </a:r>
            <a:pPr indent="0" marL="0">
              <a:buNone/>
            </a:pPr>
            <a:r>
              <a:rPr lang="en-US" sz="1600" dirty="0">
                <a:solidFill>
                  <a:srgbClr val="CFE6EB"/>
                </a:solidFill>
              </a:rPr>
              <a:t>Flexible or highly reliable, but costly</a:t>
            </a:r>
            <a:endParaRPr lang="en-US" sz="1800" dirty="0"/>
          </a:p>
        </p:txBody>
      </p:sp>
    </p:spTree>
  </p:cSld>
  <p:clrMapOvr>
    <a:masterClrMapping/>
  </p:clrMapOvr>
</p:sld>
</file>

<file path=ppt/theme/theme1.xml><?xml version="1.0" encoding="utf-8"?>
<a:theme xmlns:a="http://schemas.openxmlformats.org/drawingml/2006/main" name="Topology">
  <a:themeElements>
    <a:clrScheme name="Topology">
      <a:dk1>
        <a:srgbClr val="0B2E3F"/>
      </a:dk1>
      <a:lt1>
        <a:srgbClr val="FFFFFF"/>
      </a:lt1>
      <a:dk2>
        <a:srgbClr val="1C7C8C"/>
      </a:dk2>
      <a:lt2>
        <a:srgbClr val="EEF5F7"/>
      </a:lt2>
      <a:accent1>
        <a:srgbClr val="1C7C8C"/>
      </a:accent1>
      <a:accent2>
        <a:srgbClr val="F28C28"/>
      </a:accent2>
      <a:accent3>
        <a:srgbClr val="0B2E3F"/>
      </a:accent3>
      <a:accent4>
        <a:srgbClr val="6FB7C4"/>
      </a:accent4>
      <a:accent5>
        <a:srgbClr val="D9534F"/>
      </a:accent5>
      <a:accent6>
        <a:srgbClr val="5B8C5A"/>
      </a:accent6>
      <a:hlink>
        <a:srgbClr val="1C7C8C"/>
      </a:hlink>
      <a:folHlink>
        <a:srgbClr val="6FB7C4"/>
      </a:folHlink>
    </a:clrScheme>
    <a:fontScheme name="Topolog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2026-10-26T02:25:54Z</dcterms:created>
  <dcterms:modified xsi:type="dcterms:W3CDTF">2026-10-26T02:25:54Z</dcterms:modified>
</cp:coreProperties>
</file>